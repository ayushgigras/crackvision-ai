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6559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aims to develop a low-cost portable system that can capture concrete cracks using a camera and automatically detect and measure their width, length and orientation. Instead of relying completely on manual visual measurement, our system combines controlled imaging, computer vision and physical calibration to produce digital inspection records.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not simply detecting whether a crack exists. The real challenge is measuring it consistently and maintaining a digital history of how it changes over time. Cracks wider than about 3mm, or buildings past the age thresholds cities set for mandatory audits, are exactly where consistent measurement matters </a:t>
            </a:r>
            <a:r>
              <a:rPr lang="en-US"/>
              <a:t>most - </a:t>
            </a:r>
            <a:r>
              <a:rPr lang="en-US" dirty="0"/>
              <a:t>yet today it still depends on a person with a tape and a notebook.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manual tools are affordable but require human measurement. Commercial digital gauges provide automation but can be expensive. Smartphone-based approaches provide portability, but engineering accuracy depends strongly on imaging and calibration. Our project targets the middle ground: a low-cost physical device with controlled imaging and computer-vision-based measurement.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not just a crack detection app. It is a complete inspection system consisting of a physical imaging device, a computer vision measurement engine and a digital reporting platform.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important design decision is that we are not simply pointing a camera at the wall. We want to control the imaging conditions. The LED provides consistent illumination, the spacer maintains approximately fixed camera distance, and the reference marker provides physical scale for calibration.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has three major layers: hardware, vision processing and digital reporting. The camera captures a controlled image. The vision engine segments the crack and extracts its geometric properties. Finally, calibration converts pixel measurements into physical millimeter values, which are stored and displayed digitally.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surfaces are not clean backgrounds. They contain texture, stains, shadows and irregularities. Therefore, a simple threshold is not sufficient. Our proposed pipeline uses Hessian-based ridge enhancement to highlight line-like crack structures, followed by adaptive thresholding and morphology to obtain a cleaner crack mask.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segmentation, we convert the crack into a skeleton representing its centerline. Distance transform gives us the local distance from the centerline to the boundary, allowing us to estimate crack width. The skeleton path gives crack length, while PCA gives the dominant crack orientation.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Calibration is critical because a pixel does not have a fixed physical size in every imaging condition. By using a known reference marker and controlling camera geometry, we estimate the pixel-to-millimeter scale before calculating the crack dimensions.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claiming that crack measurement itself is new. Existing manual gauges, digital instruments and smartphone applications already address parts of the problem. Our differentiation is the combination of controlled imaging, physical calibration, automated multi-parameter measurement and digital traceability in a low-cost prototype.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don't want to demonstrate only that the system produces a number. We need to demonstrate that the number is close to a reliable reference measurement. Therefore, we will test different crack widths and imaging conditions and calculate measurement error and repeatability.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goal is to move concrete crack inspection from manual observation to measurable, repeatable and digitally traceable inspection. Thank you.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7B531-C7AE-E9D8-C4A6-0989DB0718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6DA40B-496A-823A-1DEB-E0A38F05A6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6D4F73-E596-C658-18B5-9325F7102064}"/>
              </a:ext>
            </a:extLst>
          </p:cNvPr>
          <p:cNvSpPr>
            <a:spLocks noGrp="1"/>
          </p:cNvSpPr>
          <p:nvPr>
            <p:ph type="body" idx="1"/>
          </p:nvPr>
        </p:nvSpPr>
        <p:spPr/>
        <p:txBody>
          <a:bodyPr/>
          <a:lstStyle/>
          <a:p>
            <a:r>
              <a:rPr lang="en-US" dirty="0"/>
              <a:t>Our goal is to move concrete crack inspection from manual observation to measurable, repeatable and digitally traceable inspection. Thank you.</a:t>
            </a:r>
          </a:p>
        </p:txBody>
      </p:sp>
      <p:sp>
        <p:nvSpPr>
          <p:cNvPr id="4" name="Slide Number Placeholder 3">
            <a:extLst>
              <a:ext uri="{FF2B5EF4-FFF2-40B4-BE49-F238E27FC236}">
                <a16:creationId xmlns:a16="http://schemas.microsoft.com/office/drawing/2014/main" id="{E7B341E8-294E-33A6-34A0-6D5F3BE67824}"/>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6958265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72A"/>
        </a:solidFill>
        <a:effectLst/>
      </p:bgPr>
    </p:bg>
    <p:spTree>
      <p:nvGrpSpPr>
        <p:cNvPr id="1" name=""/>
        <p:cNvGrpSpPr/>
        <p:nvPr/>
      </p:nvGrpSpPr>
      <p:grpSpPr>
        <a:xfrm>
          <a:off x="0" y="0"/>
          <a:ext cx="0" cy="0"/>
          <a:chOff x="0" y="0"/>
          <a:chExt cx="0" cy="0"/>
        </a:xfrm>
      </p:grpSpPr>
      <p:sp>
        <p:nvSpPr>
          <p:cNvPr id="2" name="Shape 0"/>
          <p:cNvSpPr/>
          <p:nvPr/>
        </p:nvSpPr>
        <p:spPr>
          <a:xfrm>
            <a:off x="0" y="365760"/>
            <a:ext cx="12188952" cy="0"/>
          </a:xfrm>
          <a:prstGeom prst="line">
            <a:avLst/>
          </a:prstGeom>
          <a:noFill/>
          <a:ln w="12700">
            <a:solidFill>
              <a:srgbClr val="2E3336"/>
            </a:solidFill>
            <a:prstDash val="solid"/>
          </a:ln>
        </p:spPr>
      </p:sp>
      <p:sp>
        <p:nvSpPr>
          <p:cNvPr id="3" name="Shape 1"/>
          <p:cNvSpPr/>
          <p:nvPr/>
        </p:nvSpPr>
        <p:spPr>
          <a:xfrm>
            <a:off x="0" y="1325880"/>
            <a:ext cx="12188952" cy="0"/>
          </a:xfrm>
          <a:prstGeom prst="line">
            <a:avLst/>
          </a:prstGeom>
          <a:noFill/>
          <a:ln w="12700">
            <a:solidFill>
              <a:srgbClr val="2E3336"/>
            </a:solidFill>
            <a:prstDash val="solid"/>
          </a:ln>
        </p:spPr>
      </p:sp>
      <p:sp>
        <p:nvSpPr>
          <p:cNvPr id="4" name="Shape 2"/>
          <p:cNvSpPr/>
          <p:nvPr/>
        </p:nvSpPr>
        <p:spPr>
          <a:xfrm>
            <a:off x="0" y="2286000"/>
            <a:ext cx="12188952" cy="0"/>
          </a:xfrm>
          <a:prstGeom prst="line">
            <a:avLst/>
          </a:prstGeom>
          <a:noFill/>
          <a:ln w="12700">
            <a:solidFill>
              <a:srgbClr val="2E3336"/>
            </a:solidFill>
            <a:prstDash val="solid"/>
          </a:ln>
        </p:spPr>
      </p:sp>
      <p:sp>
        <p:nvSpPr>
          <p:cNvPr id="5" name="Shape 3"/>
          <p:cNvSpPr/>
          <p:nvPr/>
        </p:nvSpPr>
        <p:spPr>
          <a:xfrm>
            <a:off x="0" y="3246120"/>
            <a:ext cx="12188952" cy="0"/>
          </a:xfrm>
          <a:prstGeom prst="line">
            <a:avLst/>
          </a:prstGeom>
          <a:noFill/>
          <a:ln w="12700">
            <a:solidFill>
              <a:srgbClr val="2E3336"/>
            </a:solidFill>
            <a:prstDash val="solid"/>
          </a:ln>
        </p:spPr>
      </p:sp>
      <p:sp>
        <p:nvSpPr>
          <p:cNvPr id="6" name="Shape 4"/>
          <p:cNvSpPr/>
          <p:nvPr/>
        </p:nvSpPr>
        <p:spPr>
          <a:xfrm>
            <a:off x="0" y="4206240"/>
            <a:ext cx="12188952" cy="0"/>
          </a:xfrm>
          <a:prstGeom prst="line">
            <a:avLst/>
          </a:prstGeom>
          <a:noFill/>
          <a:ln w="12700">
            <a:solidFill>
              <a:srgbClr val="2E3336"/>
            </a:solidFill>
            <a:prstDash val="solid"/>
          </a:ln>
        </p:spPr>
      </p:sp>
      <p:sp>
        <p:nvSpPr>
          <p:cNvPr id="7" name="Shape 5"/>
          <p:cNvSpPr/>
          <p:nvPr/>
        </p:nvSpPr>
        <p:spPr>
          <a:xfrm>
            <a:off x="0" y="5166360"/>
            <a:ext cx="12188952" cy="0"/>
          </a:xfrm>
          <a:prstGeom prst="line">
            <a:avLst/>
          </a:prstGeom>
          <a:noFill/>
          <a:ln w="12700">
            <a:solidFill>
              <a:srgbClr val="2E3336"/>
            </a:solidFill>
            <a:prstDash val="solid"/>
          </a:ln>
        </p:spPr>
      </p:sp>
      <p:sp>
        <p:nvSpPr>
          <p:cNvPr id="8" name="Shape 6"/>
          <p:cNvSpPr/>
          <p:nvPr/>
        </p:nvSpPr>
        <p:spPr>
          <a:xfrm>
            <a:off x="0" y="6126480"/>
            <a:ext cx="12188952" cy="0"/>
          </a:xfrm>
          <a:prstGeom prst="line">
            <a:avLst/>
          </a:prstGeom>
          <a:noFill/>
          <a:ln w="12700">
            <a:solidFill>
              <a:srgbClr val="2E3336"/>
            </a:solidFill>
            <a:prstDash val="solid"/>
          </a:ln>
        </p:spPr>
      </p:sp>
      <p:sp>
        <p:nvSpPr>
          <p:cNvPr id="9" name="Text 7"/>
          <p:cNvSpPr txBox="1"/>
          <p:nvPr/>
        </p:nvSpPr>
        <p:spPr>
          <a:xfrm>
            <a:off x="767061" y="467811"/>
            <a:ext cx="7315200" cy="365760"/>
          </a:xfrm>
          <a:prstGeom prst="rect">
            <a:avLst/>
          </a:prstGeom>
          <a:noFill/>
          <a:ln/>
        </p:spPr>
        <p:txBody>
          <a:bodyPr wrap="square" rtlCol="0" anchor="ctr"/>
          <a:lstStyle/>
          <a:p>
            <a:pPr marL="0" indent="0">
              <a:buNone/>
            </a:pPr>
            <a:r>
              <a:rPr lang="en-US" sz="1300" b="1" kern="0" spc="200" dirty="0">
                <a:solidFill>
                  <a:srgbClr val="F2661F"/>
                </a:solidFill>
                <a:latin typeface="Calibri" pitchFamily="34" charset="0"/>
                <a:ea typeface="Calibri" pitchFamily="34" charset="-122"/>
                <a:cs typeface="Calibri" pitchFamily="34" charset="-120"/>
              </a:rPr>
              <a:t>STRUCTURAL INSPECTION · COMPUTER VISION</a:t>
            </a:r>
            <a:endParaRPr lang="en-US" sz="1300" dirty="0"/>
          </a:p>
        </p:txBody>
      </p:sp>
      <p:sp>
        <p:nvSpPr>
          <p:cNvPr id="10" name="Text 8"/>
          <p:cNvSpPr txBox="1"/>
          <p:nvPr/>
        </p:nvSpPr>
        <p:spPr>
          <a:xfrm>
            <a:off x="822959" y="1097280"/>
            <a:ext cx="7622299" cy="1737360"/>
          </a:xfrm>
          <a:prstGeom prst="rect">
            <a:avLst/>
          </a:prstGeom>
          <a:noFill/>
          <a:ln/>
        </p:spPr>
        <p:txBody>
          <a:bodyPr wrap="square" lIns="0" tIns="0" rIns="0" bIns="0" rtlCol="0" anchor="ctr"/>
          <a:lstStyle/>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Computer Vision Based Structural</a:t>
            </a:r>
            <a:r>
              <a:rPr lang="en-US" sz="3800" dirty="0"/>
              <a:t> </a:t>
            </a:r>
            <a:r>
              <a:rPr lang="en-US" sz="3800" b="1" dirty="0">
                <a:solidFill>
                  <a:srgbClr val="FFFFFF"/>
                </a:solidFill>
                <a:latin typeface="Cambria" pitchFamily="34" charset="0"/>
                <a:ea typeface="Cambria" pitchFamily="34" charset="-122"/>
                <a:cs typeface="Cambria" pitchFamily="34" charset="-120"/>
              </a:rPr>
              <a:t>Concrete Crack Measurement Gauge (CRACKGAUGE)</a:t>
            </a:r>
            <a:endParaRPr lang="en-US" sz="3800" dirty="0"/>
          </a:p>
        </p:txBody>
      </p:sp>
      <p:sp>
        <p:nvSpPr>
          <p:cNvPr id="11" name="Text 9"/>
          <p:cNvSpPr txBox="1"/>
          <p:nvPr/>
        </p:nvSpPr>
        <p:spPr>
          <a:xfrm>
            <a:off x="767061" y="3017519"/>
            <a:ext cx="7315200" cy="457200"/>
          </a:xfrm>
          <a:prstGeom prst="rect">
            <a:avLst/>
          </a:prstGeom>
          <a:noFill/>
          <a:ln/>
        </p:spPr>
        <p:txBody>
          <a:bodyPr wrap="square" rtlCol="0" anchor="ctr"/>
          <a:lstStyle/>
          <a:p>
            <a:pPr marL="0" indent="0">
              <a:buNone/>
            </a:pPr>
            <a:r>
              <a:rPr lang="en-US" sz="1700" i="1" dirty="0">
                <a:solidFill>
                  <a:srgbClr val="E7E6E1"/>
                </a:solidFill>
                <a:latin typeface="Calibri" pitchFamily="34" charset="0"/>
                <a:ea typeface="Calibri" pitchFamily="34" charset="-122"/>
                <a:cs typeface="Calibri" pitchFamily="34" charset="-120"/>
              </a:rPr>
              <a:t>From Manual Inspection to Digital Crack Measurement</a:t>
            </a:r>
            <a:endParaRPr lang="en-US" sz="1700" dirty="0"/>
          </a:p>
        </p:txBody>
      </p:sp>
      <p:sp>
        <p:nvSpPr>
          <p:cNvPr id="12" name="Shape 10"/>
          <p:cNvSpPr/>
          <p:nvPr/>
        </p:nvSpPr>
        <p:spPr>
          <a:xfrm>
            <a:off x="822960" y="3429000"/>
            <a:ext cx="1353312" cy="365760"/>
          </a:xfrm>
          <a:prstGeom prst="roundRect">
            <a:avLst>
              <a:gd name="adj" fmla="val 20000"/>
            </a:avLst>
          </a:prstGeom>
          <a:solidFill>
            <a:srgbClr val="2E3336"/>
          </a:solidFill>
          <a:ln/>
        </p:spPr>
      </p:sp>
      <p:sp>
        <p:nvSpPr>
          <p:cNvPr id="13" name="Text 11"/>
          <p:cNvSpPr txBox="1"/>
          <p:nvPr/>
        </p:nvSpPr>
        <p:spPr>
          <a:xfrm>
            <a:off x="822960" y="3429000"/>
            <a:ext cx="1353312" cy="365760"/>
          </a:xfrm>
          <a:prstGeom prst="rect">
            <a:avLst/>
          </a:prstGeom>
          <a:noFill/>
          <a:ln/>
        </p:spPr>
        <p:txBody>
          <a:bodyPr wrap="square" lIns="0" tIns="0" rIns="0" bIns="0" rtlCol="0" anchor="ctr"/>
          <a:lstStyle/>
          <a:p>
            <a:pPr marL="0" indent="0" algn="ctr">
              <a:buNone/>
            </a:pPr>
            <a:r>
              <a:rPr lang="en-US" sz="1100" b="1" dirty="0">
                <a:solidFill>
                  <a:srgbClr val="E7E6E1"/>
                </a:solidFill>
                <a:latin typeface="Calibri" pitchFamily="34" charset="0"/>
                <a:ea typeface="Calibri" pitchFamily="34" charset="-122"/>
                <a:cs typeface="Calibri" pitchFamily="34" charset="-120"/>
              </a:rPr>
              <a:t>Raspberry Pi</a:t>
            </a:r>
            <a:endParaRPr lang="en-US" sz="1100" dirty="0"/>
          </a:p>
        </p:txBody>
      </p:sp>
      <p:sp>
        <p:nvSpPr>
          <p:cNvPr id="14" name="Shape 12"/>
          <p:cNvSpPr/>
          <p:nvPr/>
        </p:nvSpPr>
        <p:spPr>
          <a:xfrm>
            <a:off x="2340864" y="3429000"/>
            <a:ext cx="1627632" cy="365760"/>
          </a:xfrm>
          <a:prstGeom prst="roundRect">
            <a:avLst>
              <a:gd name="adj" fmla="val 20000"/>
            </a:avLst>
          </a:prstGeom>
          <a:solidFill>
            <a:srgbClr val="2E3336"/>
          </a:solidFill>
          <a:ln/>
        </p:spPr>
      </p:sp>
      <p:sp>
        <p:nvSpPr>
          <p:cNvPr id="15" name="Text 13"/>
          <p:cNvSpPr txBox="1"/>
          <p:nvPr/>
        </p:nvSpPr>
        <p:spPr>
          <a:xfrm>
            <a:off x="2340864" y="3429000"/>
            <a:ext cx="1627632" cy="365760"/>
          </a:xfrm>
          <a:prstGeom prst="rect">
            <a:avLst/>
          </a:prstGeom>
          <a:noFill/>
          <a:ln/>
        </p:spPr>
        <p:txBody>
          <a:bodyPr wrap="square" lIns="0" tIns="0" rIns="0" bIns="0" rtlCol="0" anchor="ctr"/>
          <a:lstStyle/>
          <a:p>
            <a:pPr marL="0" indent="0" algn="ctr">
              <a:buNone/>
            </a:pPr>
            <a:r>
              <a:rPr lang="en-US" sz="1100" b="1" dirty="0">
                <a:solidFill>
                  <a:srgbClr val="E7E6E1"/>
                </a:solidFill>
                <a:latin typeface="Calibri" pitchFamily="34" charset="0"/>
                <a:ea typeface="Calibri" pitchFamily="34" charset="-122"/>
                <a:cs typeface="Calibri" pitchFamily="34" charset="-120"/>
              </a:rPr>
              <a:t>Computer Vision</a:t>
            </a:r>
            <a:endParaRPr lang="en-US" sz="1100" dirty="0"/>
          </a:p>
        </p:txBody>
      </p:sp>
      <p:sp>
        <p:nvSpPr>
          <p:cNvPr id="16" name="Shape 14"/>
          <p:cNvSpPr/>
          <p:nvPr/>
        </p:nvSpPr>
        <p:spPr>
          <a:xfrm>
            <a:off x="4133088" y="3429000"/>
            <a:ext cx="804672" cy="365760"/>
          </a:xfrm>
          <a:prstGeom prst="roundRect">
            <a:avLst>
              <a:gd name="adj" fmla="val 20000"/>
            </a:avLst>
          </a:prstGeom>
          <a:solidFill>
            <a:srgbClr val="2E3336"/>
          </a:solidFill>
          <a:ln/>
        </p:spPr>
      </p:sp>
      <p:sp>
        <p:nvSpPr>
          <p:cNvPr id="17" name="Text 15"/>
          <p:cNvSpPr txBox="1"/>
          <p:nvPr/>
        </p:nvSpPr>
        <p:spPr>
          <a:xfrm>
            <a:off x="4133088" y="3429000"/>
            <a:ext cx="804672" cy="365760"/>
          </a:xfrm>
          <a:prstGeom prst="rect">
            <a:avLst/>
          </a:prstGeom>
          <a:noFill/>
          <a:ln/>
        </p:spPr>
        <p:txBody>
          <a:bodyPr wrap="square" lIns="0" tIns="0" rIns="0" bIns="0" rtlCol="0" anchor="ctr"/>
          <a:lstStyle/>
          <a:p>
            <a:pPr marL="0" indent="0" algn="ctr">
              <a:buNone/>
            </a:pPr>
            <a:r>
              <a:rPr lang="en-US" sz="1100" b="1" dirty="0">
                <a:solidFill>
                  <a:srgbClr val="E7E6E1"/>
                </a:solidFill>
                <a:latin typeface="Calibri" pitchFamily="34" charset="0"/>
                <a:ea typeface="Calibri" pitchFamily="34" charset="-122"/>
                <a:cs typeface="Calibri" pitchFamily="34" charset="-120"/>
              </a:rPr>
              <a:t>OpenCV</a:t>
            </a:r>
            <a:endParaRPr lang="en-US" sz="1100" dirty="0"/>
          </a:p>
        </p:txBody>
      </p:sp>
      <p:sp>
        <p:nvSpPr>
          <p:cNvPr id="18" name="Shape 16"/>
          <p:cNvSpPr/>
          <p:nvPr/>
        </p:nvSpPr>
        <p:spPr>
          <a:xfrm>
            <a:off x="5102352" y="3429000"/>
            <a:ext cx="1719072" cy="365760"/>
          </a:xfrm>
          <a:prstGeom prst="roundRect">
            <a:avLst>
              <a:gd name="adj" fmla="val 20000"/>
            </a:avLst>
          </a:prstGeom>
          <a:solidFill>
            <a:srgbClr val="2E3336"/>
          </a:solidFill>
          <a:ln/>
        </p:spPr>
      </p:sp>
      <p:sp>
        <p:nvSpPr>
          <p:cNvPr id="19" name="Text 17"/>
          <p:cNvSpPr txBox="1"/>
          <p:nvPr/>
        </p:nvSpPr>
        <p:spPr>
          <a:xfrm>
            <a:off x="5102352" y="3429000"/>
            <a:ext cx="1719072" cy="365760"/>
          </a:xfrm>
          <a:prstGeom prst="rect">
            <a:avLst/>
          </a:prstGeom>
          <a:noFill/>
          <a:ln/>
        </p:spPr>
        <p:txBody>
          <a:bodyPr wrap="square" lIns="0" tIns="0" rIns="0" bIns="0" rtlCol="0" anchor="ctr"/>
          <a:lstStyle/>
          <a:p>
            <a:pPr marL="0" indent="0" algn="ctr">
              <a:buNone/>
            </a:pPr>
            <a:r>
              <a:rPr lang="en-US" sz="1100" b="1" dirty="0">
                <a:solidFill>
                  <a:srgbClr val="E7E6E1"/>
                </a:solidFill>
                <a:latin typeface="Calibri" pitchFamily="34" charset="0"/>
                <a:ea typeface="Calibri" pitchFamily="34" charset="-122"/>
                <a:cs typeface="Calibri" pitchFamily="34" charset="-120"/>
              </a:rPr>
              <a:t>Image Processing</a:t>
            </a:r>
            <a:endParaRPr lang="en-US" sz="1100" dirty="0"/>
          </a:p>
        </p:txBody>
      </p:sp>
      <p:sp>
        <p:nvSpPr>
          <p:cNvPr id="20" name="Shape 18"/>
          <p:cNvSpPr/>
          <p:nvPr/>
        </p:nvSpPr>
        <p:spPr>
          <a:xfrm>
            <a:off x="6986016" y="3429000"/>
            <a:ext cx="1810512" cy="365760"/>
          </a:xfrm>
          <a:prstGeom prst="roundRect">
            <a:avLst>
              <a:gd name="adj" fmla="val 20000"/>
            </a:avLst>
          </a:prstGeom>
          <a:solidFill>
            <a:srgbClr val="2E3336"/>
          </a:solidFill>
          <a:ln/>
        </p:spPr>
      </p:sp>
      <p:sp>
        <p:nvSpPr>
          <p:cNvPr id="21" name="Text 19"/>
          <p:cNvSpPr txBox="1"/>
          <p:nvPr/>
        </p:nvSpPr>
        <p:spPr>
          <a:xfrm>
            <a:off x="6986016" y="3429000"/>
            <a:ext cx="1810512" cy="365760"/>
          </a:xfrm>
          <a:prstGeom prst="rect">
            <a:avLst/>
          </a:prstGeom>
          <a:noFill/>
          <a:ln/>
        </p:spPr>
        <p:txBody>
          <a:bodyPr wrap="square" lIns="0" tIns="0" rIns="0" bIns="0" rtlCol="0" anchor="ctr"/>
          <a:lstStyle/>
          <a:p>
            <a:pPr marL="0" indent="0" algn="ctr">
              <a:buNone/>
            </a:pPr>
            <a:r>
              <a:rPr lang="en-US" sz="1100" b="1" dirty="0">
                <a:solidFill>
                  <a:srgbClr val="E7E6E1"/>
                </a:solidFill>
                <a:latin typeface="Calibri" pitchFamily="34" charset="0"/>
                <a:ea typeface="Calibri" pitchFamily="34" charset="-122"/>
                <a:cs typeface="Calibri" pitchFamily="34" charset="-120"/>
              </a:rPr>
              <a:t>Digital Reporting</a:t>
            </a:r>
            <a:endParaRPr lang="en-US" sz="1100" dirty="0"/>
          </a:p>
        </p:txBody>
      </p:sp>
      <p:sp>
        <p:nvSpPr>
          <p:cNvPr id="22" name="Text 20"/>
          <p:cNvSpPr txBox="1"/>
          <p:nvPr/>
        </p:nvSpPr>
        <p:spPr>
          <a:xfrm>
            <a:off x="822960" y="4160520"/>
            <a:ext cx="2743200" cy="274320"/>
          </a:xfrm>
          <a:prstGeom prst="rect">
            <a:avLst/>
          </a:prstGeom>
          <a:noFill/>
          <a:ln/>
        </p:spPr>
        <p:txBody>
          <a:bodyPr wrap="square" rtlCol="0" anchor="ctr"/>
          <a:lstStyle/>
          <a:p>
            <a:pPr marL="0" indent="0">
              <a:buNone/>
            </a:pPr>
            <a:r>
              <a:rPr lang="en-US" sz="1100" b="1" kern="0" spc="200" dirty="0">
                <a:solidFill>
                  <a:srgbClr val="F2661F"/>
                </a:solidFill>
                <a:latin typeface="Calibri" pitchFamily="34" charset="0"/>
                <a:ea typeface="Calibri" pitchFamily="34" charset="-122"/>
                <a:cs typeface="Calibri" pitchFamily="34" charset="-120"/>
              </a:rPr>
              <a:t>TEAM  MEMBERS</a:t>
            </a:r>
            <a:endParaRPr lang="en-US" sz="1100" dirty="0"/>
          </a:p>
        </p:txBody>
      </p:sp>
      <p:sp>
        <p:nvSpPr>
          <p:cNvPr id="23" name="Text 21"/>
          <p:cNvSpPr txBox="1"/>
          <p:nvPr/>
        </p:nvSpPr>
        <p:spPr>
          <a:xfrm>
            <a:off x="822960" y="4480560"/>
            <a:ext cx="3657600" cy="320040"/>
          </a:xfrm>
          <a:prstGeom prst="rect">
            <a:avLst/>
          </a:prstGeom>
          <a:noFill/>
          <a:ln/>
        </p:spPr>
        <p:txBody>
          <a:bodyPr wrap="square" rtlCol="0" anchor="ctr"/>
          <a:lstStyle/>
          <a:p>
            <a:r>
              <a:rPr lang="en-US" sz="1400" dirty="0">
                <a:solidFill>
                  <a:schemeClr val="bg1"/>
                </a:solidFill>
              </a:rPr>
              <a:t>Manish Saini</a:t>
            </a:r>
            <a:endParaRPr lang="en-IN" sz="1400" dirty="0">
              <a:solidFill>
                <a:schemeClr val="bg1"/>
              </a:solidFill>
              <a:effectLst/>
            </a:endParaRPr>
          </a:p>
        </p:txBody>
      </p:sp>
      <p:sp>
        <p:nvSpPr>
          <p:cNvPr id="24" name="Text 22"/>
          <p:cNvSpPr txBox="1"/>
          <p:nvPr/>
        </p:nvSpPr>
        <p:spPr>
          <a:xfrm>
            <a:off x="822960" y="4846320"/>
            <a:ext cx="3657600" cy="32004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Ayush Gigras</a:t>
            </a:r>
            <a:endParaRPr lang="en-US" sz="1400" dirty="0"/>
          </a:p>
        </p:txBody>
      </p:sp>
      <p:sp>
        <p:nvSpPr>
          <p:cNvPr id="25" name="Text 23"/>
          <p:cNvSpPr txBox="1"/>
          <p:nvPr/>
        </p:nvSpPr>
        <p:spPr>
          <a:xfrm>
            <a:off x="822960" y="5212080"/>
            <a:ext cx="3657600" cy="320040"/>
          </a:xfrm>
          <a:prstGeom prst="rect">
            <a:avLst/>
          </a:prstGeom>
          <a:noFill/>
          <a:ln/>
        </p:spPr>
        <p:txBody>
          <a:bodyPr wrap="square" rtlCol="0" anchor="ctr"/>
          <a:lstStyle/>
          <a:p>
            <a:r>
              <a:rPr lang="en-US" sz="1400" dirty="0">
                <a:solidFill>
                  <a:schemeClr val="bg1"/>
                </a:solidFill>
              </a:rPr>
              <a:t>Sachin Chauhan</a:t>
            </a:r>
            <a:endParaRPr lang="en-IN" sz="1400" dirty="0">
              <a:solidFill>
                <a:schemeClr val="bg1"/>
              </a:solidFill>
              <a:effectLst/>
            </a:endParaRPr>
          </a:p>
        </p:txBody>
      </p:sp>
      <p:sp>
        <p:nvSpPr>
          <p:cNvPr id="26" name="Text 24"/>
          <p:cNvSpPr txBox="1"/>
          <p:nvPr/>
        </p:nvSpPr>
        <p:spPr>
          <a:xfrm>
            <a:off x="822960" y="5715000"/>
            <a:ext cx="3657600" cy="274320"/>
          </a:xfrm>
          <a:prstGeom prst="rect">
            <a:avLst/>
          </a:prstGeom>
          <a:noFill/>
          <a:ln/>
        </p:spPr>
        <p:txBody>
          <a:bodyPr wrap="square" rtlCol="0" anchor="ctr"/>
          <a:lstStyle/>
          <a:p>
            <a:pPr marL="0" indent="0">
              <a:buNone/>
            </a:pPr>
            <a:r>
              <a:rPr lang="en-US" sz="1100" i="1" dirty="0">
                <a:solidFill>
                  <a:srgbClr val="8C8C86"/>
                </a:solidFill>
                <a:latin typeface="Calibri" pitchFamily="34" charset="0"/>
                <a:ea typeface="Calibri" pitchFamily="34" charset="-122"/>
                <a:cs typeface="Calibri" pitchFamily="34" charset="-120"/>
              </a:rPr>
              <a:t>Mentor: Anuska Shukla</a:t>
            </a:r>
            <a:endParaRPr lang="en-US" sz="1100" dirty="0"/>
          </a:p>
        </p:txBody>
      </p:sp>
      <p:sp>
        <p:nvSpPr>
          <p:cNvPr id="27" name="Shape 25"/>
          <p:cNvSpPr/>
          <p:nvPr/>
        </p:nvSpPr>
        <p:spPr>
          <a:xfrm>
            <a:off x="8778240" y="777240"/>
            <a:ext cx="2834640" cy="621792"/>
          </a:xfrm>
          <a:prstGeom prst="roundRect">
            <a:avLst>
              <a:gd name="adj" fmla="val 8824"/>
            </a:avLst>
          </a:prstGeom>
          <a:solidFill>
            <a:srgbClr val="2E3336"/>
          </a:solidFill>
          <a:ln w="12700">
            <a:solidFill>
              <a:srgbClr val="3A4043"/>
            </a:solidFill>
            <a:prstDash val="solid"/>
          </a:ln>
        </p:spPr>
      </p:sp>
      <p:sp>
        <p:nvSpPr>
          <p:cNvPr id="28" name="Text 26"/>
          <p:cNvSpPr txBox="1"/>
          <p:nvPr/>
        </p:nvSpPr>
        <p:spPr>
          <a:xfrm>
            <a:off x="8915400" y="777240"/>
            <a:ext cx="2560320" cy="621792"/>
          </a:xfrm>
          <a:prstGeom prst="rect">
            <a:avLst/>
          </a:prstGeom>
          <a:noFill/>
          <a:ln/>
        </p:spPr>
        <p:txBody>
          <a:bodyPr wrap="square" lIns="0" tIns="0" rIns="0" bIns="0" rtlCol="0" anchor="ctr"/>
          <a:lstStyle/>
          <a:p>
            <a:pPr marL="0" indent="0" algn="ctr">
              <a:buNone/>
            </a:pPr>
            <a:r>
              <a:rPr lang="en-US" sz="1250" b="1" dirty="0">
                <a:solidFill>
                  <a:srgbClr val="E7E6E1"/>
                </a:solidFill>
                <a:latin typeface="Calibri" pitchFamily="34" charset="0"/>
                <a:ea typeface="Calibri" pitchFamily="34" charset="-122"/>
                <a:cs typeface="Calibri" pitchFamily="34" charset="-120"/>
              </a:rPr>
              <a:t>Concrete Wall</a:t>
            </a:r>
            <a:endParaRPr lang="en-US" sz="1250" dirty="0"/>
          </a:p>
        </p:txBody>
      </p:sp>
      <p:sp>
        <p:nvSpPr>
          <p:cNvPr id="29" name="Shape 27"/>
          <p:cNvSpPr/>
          <p:nvPr/>
        </p:nvSpPr>
        <p:spPr>
          <a:xfrm>
            <a:off x="10195560" y="1399032"/>
            <a:ext cx="0" cy="457200"/>
          </a:xfrm>
          <a:prstGeom prst="line">
            <a:avLst/>
          </a:prstGeom>
          <a:noFill/>
          <a:ln w="25400">
            <a:solidFill>
              <a:srgbClr val="F2661F"/>
            </a:solidFill>
            <a:prstDash val="solid"/>
            <a:tailEnd type="triangle"/>
          </a:ln>
        </p:spPr>
      </p:sp>
      <p:sp>
        <p:nvSpPr>
          <p:cNvPr id="30" name="Shape 28"/>
          <p:cNvSpPr/>
          <p:nvPr/>
        </p:nvSpPr>
        <p:spPr>
          <a:xfrm>
            <a:off x="8778240" y="1856232"/>
            <a:ext cx="2834640" cy="621792"/>
          </a:xfrm>
          <a:prstGeom prst="roundRect">
            <a:avLst>
              <a:gd name="adj" fmla="val 8824"/>
            </a:avLst>
          </a:prstGeom>
          <a:solidFill>
            <a:srgbClr val="2E3336"/>
          </a:solidFill>
          <a:ln w="12700">
            <a:solidFill>
              <a:srgbClr val="3A4043"/>
            </a:solidFill>
            <a:prstDash val="solid"/>
          </a:ln>
        </p:spPr>
      </p:sp>
      <p:sp>
        <p:nvSpPr>
          <p:cNvPr id="31" name="Text 29"/>
          <p:cNvSpPr txBox="1"/>
          <p:nvPr/>
        </p:nvSpPr>
        <p:spPr>
          <a:xfrm>
            <a:off x="8915400" y="1856232"/>
            <a:ext cx="2560320" cy="621792"/>
          </a:xfrm>
          <a:prstGeom prst="rect">
            <a:avLst/>
          </a:prstGeom>
          <a:noFill/>
          <a:ln/>
        </p:spPr>
        <p:txBody>
          <a:bodyPr wrap="square" lIns="0" tIns="0" rIns="0" bIns="0" rtlCol="0" anchor="ctr"/>
          <a:lstStyle/>
          <a:p>
            <a:pPr marL="0" indent="0" algn="ctr">
              <a:buNone/>
            </a:pPr>
            <a:r>
              <a:rPr lang="en-US" sz="1250" b="1" dirty="0">
                <a:solidFill>
                  <a:srgbClr val="E7E6E1"/>
                </a:solidFill>
                <a:latin typeface="Calibri" pitchFamily="34" charset="0"/>
                <a:ea typeface="Calibri" pitchFamily="34" charset="-122"/>
                <a:cs typeface="Calibri" pitchFamily="34" charset="-120"/>
              </a:rPr>
              <a:t>Camera Device</a:t>
            </a:r>
            <a:endParaRPr lang="en-US" sz="1250" dirty="0"/>
          </a:p>
        </p:txBody>
      </p:sp>
      <p:sp>
        <p:nvSpPr>
          <p:cNvPr id="32" name="Shape 30"/>
          <p:cNvSpPr/>
          <p:nvPr/>
        </p:nvSpPr>
        <p:spPr>
          <a:xfrm>
            <a:off x="10195560" y="2478024"/>
            <a:ext cx="0" cy="457200"/>
          </a:xfrm>
          <a:prstGeom prst="line">
            <a:avLst/>
          </a:prstGeom>
          <a:noFill/>
          <a:ln w="25400">
            <a:solidFill>
              <a:srgbClr val="F2661F"/>
            </a:solidFill>
            <a:prstDash val="solid"/>
            <a:tailEnd type="triangle"/>
          </a:ln>
        </p:spPr>
      </p:sp>
      <p:sp>
        <p:nvSpPr>
          <p:cNvPr id="33" name="Shape 31"/>
          <p:cNvSpPr/>
          <p:nvPr/>
        </p:nvSpPr>
        <p:spPr>
          <a:xfrm>
            <a:off x="8778240" y="2935224"/>
            <a:ext cx="2834640" cy="621792"/>
          </a:xfrm>
          <a:prstGeom prst="roundRect">
            <a:avLst>
              <a:gd name="adj" fmla="val 8824"/>
            </a:avLst>
          </a:prstGeom>
          <a:solidFill>
            <a:srgbClr val="2E3336"/>
          </a:solidFill>
          <a:ln w="12700">
            <a:solidFill>
              <a:srgbClr val="3A4043"/>
            </a:solidFill>
            <a:prstDash val="solid"/>
          </a:ln>
        </p:spPr>
      </p:sp>
      <p:sp>
        <p:nvSpPr>
          <p:cNvPr id="34" name="Text 32"/>
          <p:cNvSpPr txBox="1"/>
          <p:nvPr/>
        </p:nvSpPr>
        <p:spPr>
          <a:xfrm>
            <a:off x="8915400" y="2935224"/>
            <a:ext cx="2560320" cy="621792"/>
          </a:xfrm>
          <a:prstGeom prst="rect">
            <a:avLst/>
          </a:prstGeom>
          <a:noFill/>
          <a:ln/>
        </p:spPr>
        <p:txBody>
          <a:bodyPr wrap="square" lIns="0" tIns="0" rIns="0" bIns="0" rtlCol="0" anchor="ctr"/>
          <a:lstStyle/>
          <a:p>
            <a:pPr marL="0" indent="0" algn="ctr">
              <a:buNone/>
            </a:pPr>
            <a:r>
              <a:rPr lang="en-US" sz="1250" b="1" dirty="0">
                <a:solidFill>
                  <a:srgbClr val="E7E6E1"/>
                </a:solidFill>
                <a:latin typeface="Calibri" pitchFamily="34" charset="0"/>
                <a:ea typeface="Calibri" pitchFamily="34" charset="-122"/>
                <a:cs typeface="Calibri" pitchFamily="34" charset="-120"/>
              </a:rPr>
              <a:t>Crack Detection</a:t>
            </a:r>
            <a:endParaRPr lang="en-US" sz="1250" dirty="0"/>
          </a:p>
        </p:txBody>
      </p:sp>
      <p:sp>
        <p:nvSpPr>
          <p:cNvPr id="35" name="Shape 33"/>
          <p:cNvSpPr/>
          <p:nvPr/>
        </p:nvSpPr>
        <p:spPr>
          <a:xfrm>
            <a:off x="10195560" y="3557016"/>
            <a:ext cx="0" cy="457200"/>
          </a:xfrm>
          <a:prstGeom prst="line">
            <a:avLst/>
          </a:prstGeom>
          <a:noFill/>
          <a:ln w="25400">
            <a:solidFill>
              <a:srgbClr val="F2661F"/>
            </a:solidFill>
            <a:prstDash val="solid"/>
            <a:tailEnd type="triangle"/>
          </a:ln>
        </p:spPr>
      </p:sp>
      <p:sp>
        <p:nvSpPr>
          <p:cNvPr id="36" name="Shape 34"/>
          <p:cNvSpPr/>
          <p:nvPr/>
        </p:nvSpPr>
        <p:spPr>
          <a:xfrm>
            <a:off x="8778240" y="4014216"/>
            <a:ext cx="2834640" cy="621792"/>
          </a:xfrm>
          <a:prstGeom prst="roundRect">
            <a:avLst>
              <a:gd name="adj" fmla="val 8824"/>
            </a:avLst>
          </a:prstGeom>
          <a:solidFill>
            <a:srgbClr val="2E3336"/>
          </a:solidFill>
          <a:ln w="12700">
            <a:solidFill>
              <a:srgbClr val="3A4043"/>
            </a:solidFill>
            <a:prstDash val="solid"/>
          </a:ln>
        </p:spPr>
      </p:sp>
      <p:sp>
        <p:nvSpPr>
          <p:cNvPr id="37" name="Text 35"/>
          <p:cNvSpPr txBox="1"/>
          <p:nvPr/>
        </p:nvSpPr>
        <p:spPr>
          <a:xfrm>
            <a:off x="8915400" y="4014216"/>
            <a:ext cx="2560320" cy="621792"/>
          </a:xfrm>
          <a:prstGeom prst="rect">
            <a:avLst/>
          </a:prstGeom>
          <a:noFill/>
          <a:ln/>
        </p:spPr>
        <p:txBody>
          <a:bodyPr wrap="square" lIns="0" tIns="0" rIns="0" bIns="0" rtlCol="0" anchor="ctr"/>
          <a:lstStyle/>
          <a:p>
            <a:pPr marL="0" indent="0" algn="ctr">
              <a:buNone/>
            </a:pPr>
            <a:r>
              <a:rPr lang="en-US" sz="1250" b="1" dirty="0">
                <a:solidFill>
                  <a:srgbClr val="E7E6E1"/>
                </a:solidFill>
                <a:latin typeface="Calibri" pitchFamily="34" charset="0"/>
                <a:ea typeface="Calibri" pitchFamily="34" charset="-122"/>
                <a:cs typeface="Calibri" pitchFamily="34" charset="-120"/>
              </a:rPr>
              <a:t>Width · Length · Orientation</a:t>
            </a:r>
            <a:endParaRPr lang="en-US" sz="1250" dirty="0"/>
          </a:p>
        </p:txBody>
      </p:sp>
      <p:sp>
        <p:nvSpPr>
          <p:cNvPr id="38" name="Shape 36"/>
          <p:cNvSpPr/>
          <p:nvPr/>
        </p:nvSpPr>
        <p:spPr>
          <a:xfrm>
            <a:off x="10195560" y="4636008"/>
            <a:ext cx="0" cy="457200"/>
          </a:xfrm>
          <a:prstGeom prst="line">
            <a:avLst/>
          </a:prstGeom>
          <a:noFill/>
          <a:ln w="25400">
            <a:solidFill>
              <a:srgbClr val="F2661F"/>
            </a:solidFill>
            <a:prstDash val="solid"/>
            <a:tailEnd type="triangle"/>
          </a:ln>
        </p:spPr>
      </p:sp>
      <p:sp>
        <p:nvSpPr>
          <p:cNvPr id="39" name="Shape 37"/>
          <p:cNvSpPr/>
          <p:nvPr/>
        </p:nvSpPr>
        <p:spPr>
          <a:xfrm>
            <a:off x="8778240" y="5093208"/>
            <a:ext cx="2834640" cy="621792"/>
          </a:xfrm>
          <a:prstGeom prst="roundRect">
            <a:avLst>
              <a:gd name="adj" fmla="val 8824"/>
            </a:avLst>
          </a:prstGeom>
          <a:solidFill>
            <a:srgbClr val="F2661F"/>
          </a:solidFill>
          <a:ln w="12700">
            <a:solidFill>
              <a:srgbClr val="F2661F"/>
            </a:solidFill>
            <a:prstDash val="solid"/>
          </a:ln>
        </p:spPr>
      </p:sp>
      <p:sp>
        <p:nvSpPr>
          <p:cNvPr id="40" name="Text 38"/>
          <p:cNvSpPr txBox="1"/>
          <p:nvPr/>
        </p:nvSpPr>
        <p:spPr>
          <a:xfrm>
            <a:off x="8915400" y="5093208"/>
            <a:ext cx="2560320" cy="62179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Digital Report</a:t>
            </a:r>
            <a:endParaRPr lang="en-US" sz="1250" dirty="0"/>
          </a:p>
        </p:txBody>
      </p:sp>
      <p:sp>
        <p:nvSpPr>
          <p:cNvPr id="41" name="Text 39"/>
          <p:cNvSpPr txBox="1"/>
          <p:nvPr/>
        </p:nvSpPr>
        <p:spPr>
          <a:xfrm>
            <a:off x="11292840" y="6510528"/>
            <a:ext cx="731520" cy="274320"/>
          </a:xfrm>
          <a:prstGeom prst="rect">
            <a:avLst/>
          </a:prstGeom>
          <a:noFill/>
          <a:ln/>
        </p:spPr>
        <p:txBody>
          <a:bodyPr wrap="square" rtlCol="0" anchor="ctr"/>
          <a:lstStyle/>
          <a:p>
            <a:pPr marL="0" indent="0" algn="r">
              <a:buNone/>
            </a:pPr>
            <a:r>
              <a:rPr lang="en-US" sz="900" dirty="0">
                <a:solidFill>
                  <a:srgbClr val="8C8C86"/>
                </a:solidFill>
                <a:latin typeface="Calibri" pitchFamily="34" charset="0"/>
                <a:ea typeface="Calibri" pitchFamily="34" charset="-122"/>
                <a:cs typeface="Calibri" pitchFamily="34" charset="-120"/>
              </a:rPr>
              <a:t>01 / 12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3E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F2661F"/>
                </a:solidFill>
                <a:latin typeface="Calibri" pitchFamily="34" charset="0"/>
                <a:ea typeface="Calibri" pitchFamily="34" charset="-122"/>
                <a:cs typeface="Calibri" pitchFamily="34" charset="-120"/>
              </a:rPr>
              <a:t>THE CHALLENGE</a:t>
            </a:r>
            <a:endParaRPr lang="en-US" sz="1200" dirty="0"/>
          </a:p>
        </p:txBody>
      </p:sp>
      <p:sp>
        <p:nvSpPr>
          <p:cNvPr id="3" name="Text 1"/>
          <p:cNvSpPr txBox="1"/>
          <p:nvPr/>
        </p:nvSpPr>
        <p:spPr>
          <a:xfrm>
            <a:off x="548640" y="621792"/>
            <a:ext cx="10515600" cy="640080"/>
          </a:xfrm>
          <a:prstGeom prst="rect">
            <a:avLst/>
          </a:prstGeom>
          <a:noFill/>
          <a:ln/>
        </p:spPr>
        <p:txBody>
          <a:bodyPr wrap="square" lIns="0" tIns="0" rIns="0" bIns="0" rtlCol="0" anchor="ctr"/>
          <a:lstStyle/>
          <a:p>
            <a:pPr marL="0" indent="0">
              <a:buNone/>
            </a:pPr>
            <a:r>
              <a:rPr lang="en-US" sz="3000" b="1" dirty="0">
                <a:solidFill>
                  <a:srgbClr val="23272A"/>
                </a:solidFill>
                <a:latin typeface="Cambria" pitchFamily="34" charset="0"/>
                <a:ea typeface="Cambria" pitchFamily="34" charset="-122"/>
                <a:cs typeface="Cambria" pitchFamily="34" charset="-120"/>
              </a:rPr>
              <a:t>The Problem With Manual Crack Inspection</a:t>
            </a:r>
            <a:endParaRPr lang="en-US" sz="3000" dirty="0"/>
          </a:p>
        </p:txBody>
      </p:sp>
      <p:sp>
        <p:nvSpPr>
          <p:cNvPr id="4" name="Text 2"/>
          <p:cNvSpPr txBox="1"/>
          <p:nvPr/>
        </p:nvSpPr>
        <p:spPr>
          <a:xfrm>
            <a:off x="548640" y="1371600"/>
            <a:ext cx="5120640" cy="320040"/>
          </a:xfrm>
          <a:prstGeom prst="rect">
            <a:avLst/>
          </a:prstGeom>
          <a:noFill/>
          <a:ln/>
        </p:spPr>
        <p:txBody>
          <a:bodyPr wrap="square" rtlCol="0" anchor="ctr"/>
          <a:lstStyle/>
          <a:p>
            <a:pPr marL="0" indent="0">
              <a:buNone/>
            </a:pPr>
            <a:r>
              <a:rPr lang="en-US" sz="1300" b="1" dirty="0">
                <a:solidFill>
                  <a:srgbClr val="5B5F61"/>
                </a:solidFill>
                <a:latin typeface="Calibri" pitchFamily="34" charset="0"/>
                <a:ea typeface="Calibri" pitchFamily="34" charset="-122"/>
                <a:cs typeface="Calibri" pitchFamily="34" charset="-120"/>
              </a:rPr>
              <a:t>Concrete cracks develop due to</a:t>
            </a:r>
            <a:endParaRPr lang="en-US" sz="1300" dirty="0"/>
          </a:p>
        </p:txBody>
      </p:sp>
      <p:sp>
        <p:nvSpPr>
          <p:cNvPr id="5" name="Shape 3"/>
          <p:cNvSpPr/>
          <p:nvPr/>
        </p:nvSpPr>
        <p:spPr>
          <a:xfrm>
            <a:off x="548640" y="1783080"/>
            <a:ext cx="365760" cy="365760"/>
          </a:xfrm>
          <a:prstGeom prst="ellipse">
            <a:avLst/>
          </a:prstGeom>
          <a:solidFill>
            <a:srgbClr val="23272A"/>
          </a:solidFill>
          <a:ln/>
        </p:spPr>
      </p:sp>
      <p:sp>
        <p:nvSpPr>
          <p:cNvPr id="6" name="Text 4"/>
          <p:cNvSpPr txBox="1"/>
          <p:nvPr/>
        </p:nvSpPr>
        <p:spPr>
          <a:xfrm>
            <a:off x="548640" y="1783080"/>
            <a:ext cx="365760" cy="365760"/>
          </a:xfrm>
          <a:prstGeom prst="rect">
            <a:avLst/>
          </a:prstGeom>
          <a:noFill/>
          <a:ln/>
        </p:spPr>
        <p:txBody>
          <a:bodyPr wrap="square" lIns="0" tIns="0" rIns="0" bIns="0" rtlCol="0" anchor="ctr"/>
          <a:lstStyle/>
          <a:p>
            <a:pPr marL="0" indent="0" algn="ctr">
              <a:buNone/>
            </a:pPr>
            <a:r>
              <a:rPr lang="en-US" sz="2000" b="1" dirty="0">
                <a:solidFill>
                  <a:srgbClr val="F2661F"/>
                </a:solidFill>
                <a:latin typeface="Calibri" pitchFamily="34" charset="0"/>
                <a:ea typeface="Calibri" pitchFamily="34" charset="-122"/>
                <a:cs typeface="Calibri" pitchFamily="34" charset="-120"/>
              </a:rPr>
              <a:t>•</a:t>
            </a:r>
            <a:endParaRPr lang="en-US" sz="2000" dirty="0"/>
          </a:p>
        </p:txBody>
      </p:sp>
      <p:sp>
        <p:nvSpPr>
          <p:cNvPr id="7" name="Text 5"/>
          <p:cNvSpPr txBox="1"/>
          <p:nvPr/>
        </p:nvSpPr>
        <p:spPr>
          <a:xfrm>
            <a:off x="1051560" y="1783080"/>
            <a:ext cx="4480560" cy="365760"/>
          </a:xfrm>
          <a:prstGeom prst="rect">
            <a:avLst/>
          </a:prstGeom>
          <a:noFill/>
          <a:ln/>
        </p:spPr>
        <p:txBody>
          <a:bodyPr wrap="square" rtlCol="0" anchor="ctr"/>
          <a:lstStyle/>
          <a:p>
            <a:pPr marL="0" indent="0">
              <a:buNone/>
            </a:pPr>
            <a:r>
              <a:rPr lang="en-US" sz="1350" dirty="0">
                <a:solidFill>
                  <a:srgbClr val="23272A"/>
                </a:solidFill>
                <a:latin typeface="Calibri" pitchFamily="34" charset="0"/>
                <a:ea typeface="Calibri" pitchFamily="34" charset="-122"/>
                <a:cs typeface="Calibri" pitchFamily="34" charset="-120"/>
              </a:rPr>
              <a:t>Structural loading</a:t>
            </a:r>
            <a:endParaRPr lang="en-US" sz="1350" dirty="0"/>
          </a:p>
        </p:txBody>
      </p:sp>
      <p:sp>
        <p:nvSpPr>
          <p:cNvPr id="8" name="Shape 6"/>
          <p:cNvSpPr/>
          <p:nvPr/>
        </p:nvSpPr>
        <p:spPr>
          <a:xfrm>
            <a:off x="548640" y="2286000"/>
            <a:ext cx="365760" cy="365760"/>
          </a:xfrm>
          <a:prstGeom prst="ellipse">
            <a:avLst/>
          </a:prstGeom>
          <a:solidFill>
            <a:srgbClr val="23272A"/>
          </a:solidFill>
          <a:ln/>
        </p:spPr>
      </p:sp>
      <p:sp>
        <p:nvSpPr>
          <p:cNvPr id="9" name="Text 7"/>
          <p:cNvSpPr txBox="1"/>
          <p:nvPr/>
        </p:nvSpPr>
        <p:spPr>
          <a:xfrm>
            <a:off x="548640" y="2286000"/>
            <a:ext cx="365760" cy="365760"/>
          </a:xfrm>
          <a:prstGeom prst="rect">
            <a:avLst/>
          </a:prstGeom>
          <a:noFill/>
          <a:ln/>
        </p:spPr>
        <p:txBody>
          <a:bodyPr wrap="square" lIns="0" tIns="0" rIns="0" bIns="0" rtlCol="0" anchor="ctr"/>
          <a:lstStyle/>
          <a:p>
            <a:pPr marL="0" indent="0" algn="ctr">
              <a:buNone/>
            </a:pPr>
            <a:r>
              <a:rPr lang="en-US" sz="2000" b="1" dirty="0">
                <a:solidFill>
                  <a:srgbClr val="F2661F"/>
                </a:solidFill>
                <a:latin typeface="Calibri" pitchFamily="34" charset="0"/>
                <a:ea typeface="Calibri" pitchFamily="34" charset="-122"/>
                <a:cs typeface="Calibri" pitchFamily="34" charset="-120"/>
              </a:rPr>
              <a:t>•</a:t>
            </a:r>
            <a:endParaRPr lang="en-US" sz="2000" dirty="0"/>
          </a:p>
        </p:txBody>
      </p:sp>
      <p:sp>
        <p:nvSpPr>
          <p:cNvPr id="10" name="Text 8"/>
          <p:cNvSpPr txBox="1"/>
          <p:nvPr/>
        </p:nvSpPr>
        <p:spPr>
          <a:xfrm>
            <a:off x="1051560" y="2286000"/>
            <a:ext cx="4480560" cy="365760"/>
          </a:xfrm>
          <a:prstGeom prst="rect">
            <a:avLst/>
          </a:prstGeom>
          <a:noFill/>
          <a:ln/>
        </p:spPr>
        <p:txBody>
          <a:bodyPr wrap="square" rtlCol="0" anchor="ctr"/>
          <a:lstStyle/>
          <a:p>
            <a:pPr marL="0" indent="0">
              <a:buNone/>
            </a:pPr>
            <a:r>
              <a:rPr lang="en-US" sz="1350" dirty="0">
                <a:solidFill>
                  <a:srgbClr val="23272A"/>
                </a:solidFill>
                <a:latin typeface="Calibri" pitchFamily="34" charset="0"/>
                <a:ea typeface="Calibri" pitchFamily="34" charset="-122"/>
                <a:cs typeface="Calibri" pitchFamily="34" charset="-120"/>
              </a:rPr>
              <a:t>Shrinkage &amp; thermal effects</a:t>
            </a:r>
            <a:endParaRPr lang="en-US" sz="1350" dirty="0"/>
          </a:p>
        </p:txBody>
      </p:sp>
      <p:sp>
        <p:nvSpPr>
          <p:cNvPr id="11" name="Shape 9"/>
          <p:cNvSpPr/>
          <p:nvPr/>
        </p:nvSpPr>
        <p:spPr>
          <a:xfrm>
            <a:off x="548640" y="2788920"/>
            <a:ext cx="365760" cy="365760"/>
          </a:xfrm>
          <a:prstGeom prst="ellipse">
            <a:avLst/>
          </a:prstGeom>
          <a:solidFill>
            <a:srgbClr val="23272A"/>
          </a:solidFill>
          <a:ln/>
        </p:spPr>
      </p:sp>
      <p:sp>
        <p:nvSpPr>
          <p:cNvPr id="12" name="Text 10"/>
          <p:cNvSpPr txBox="1"/>
          <p:nvPr/>
        </p:nvSpPr>
        <p:spPr>
          <a:xfrm>
            <a:off x="548640" y="2788920"/>
            <a:ext cx="365760" cy="365760"/>
          </a:xfrm>
          <a:prstGeom prst="rect">
            <a:avLst/>
          </a:prstGeom>
          <a:noFill/>
          <a:ln/>
        </p:spPr>
        <p:txBody>
          <a:bodyPr wrap="square" lIns="0" tIns="0" rIns="0" bIns="0" rtlCol="0" anchor="ctr"/>
          <a:lstStyle/>
          <a:p>
            <a:pPr marL="0" indent="0" algn="ctr">
              <a:buNone/>
            </a:pPr>
            <a:r>
              <a:rPr lang="en-US" sz="2000" b="1" dirty="0">
                <a:solidFill>
                  <a:srgbClr val="F2661F"/>
                </a:solidFill>
                <a:latin typeface="Calibri" pitchFamily="34" charset="0"/>
                <a:ea typeface="Calibri" pitchFamily="34" charset="-122"/>
                <a:cs typeface="Calibri" pitchFamily="34" charset="-120"/>
              </a:rPr>
              <a:t>•</a:t>
            </a:r>
            <a:endParaRPr lang="en-US" sz="2000" dirty="0"/>
          </a:p>
        </p:txBody>
      </p:sp>
      <p:sp>
        <p:nvSpPr>
          <p:cNvPr id="13" name="Text 11"/>
          <p:cNvSpPr txBox="1"/>
          <p:nvPr/>
        </p:nvSpPr>
        <p:spPr>
          <a:xfrm>
            <a:off x="1051560" y="2788920"/>
            <a:ext cx="4480560" cy="365760"/>
          </a:xfrm>
          <a:prstGeom prst="rect">
            <a:avLst/>
          </a:prstGeom>
          <a:noFill/>
          <a:ln/>
        </p:spPr>
        <p:txBody>
          <a:bodyPr wrap="square" rtlCol="0" anchor="ctr"/>
          <a:lstStyle/>
          <a:p>
            <a:pPr marL="0" indent="0">
              <a:buNone/>
            </a:pPr>
            <a:r>
              <a:rPr lang="en-US" sz="1350" dirty="0">
                <a:solidFill>
                  <a:srgbClr val="23272A"/>
                </a:solidFill>
                <a:latin typeface="Calibri" pitchFamily="34" charset="0"/>
                <a:ea typeface="Calibri" pitchFamily="34" charset="-122"/>
                <a:cs typeface="Calibri" pitchFamily="34" charset="-120"/>
              </a:rPr>
              <a:t>Environmental exposure</a:t>
            </a:r>
            <a:endParaRPr lang="en-US" sz="1350" dirty="0"/>
          </a:p>
        </p:txBody>
      </p:sp>
      <p:sp>
        <p:nvSpPr>
          <p:cNvPr id="14" name="Shape 12"/>
          <p:cNvSpPr/>
          <p:nvPr/>
        </p:nvSpPr>
        <p:spPr>
          <a:xfrm>
            <a:off x="548640" y="3291840"/>
            <a:ext cx="365760" cy="365760"/>
          </a:xfrm>
          <a:prstGeom prst="ellipse">
            <a:avLst/>
          </a:prstGeom>
          <a:solidFill>
            <a:srgbClr val="23272A"/>
          </a:solidFill>
          <a:ln/>
        </p:spPr>
      </p:sp>
      <p:sp>
        <p:nvSpPr>
          <p:cNvPr id="15" name="Text 13"/>
          <p:cNvSpPr txBox="1"/>
          <p:nvPr/>
        </p:nvSpPr>
        <p:spPr>
          <a:xfrm>
            <a:off x="548640" y="3291840"/>
            <a:ext cx="365760" cy="365760"/>
          </a:xfrm>
          <a:prstGeom prst="rect">
            <a:avLst/>
          </a:prstGeom>
          <a:noFill/>
          <a:ln/>
        </p:spPr>
        <p:txBody>
          <a:bodyPr wrap="square" lIns="0" tIns="0" rIns="0" bIns="0" rtlCol="0" anchor="ctr"/>
          <a:lstStyle/>
          <a:p>
            <a:pPr marL="0" indent="0" algn="ctr">
              <a:buNone/>
            </a:pPr>
            <a:r>
              <a:rPr lang="en-US" sz="2000" b="1" dirty="0">
                <a:solidFill>
                  <a:srgbClr val="F2661F"/>
                </a:solidFill>
                <a:latin typeface="Calibri" pitchFamily="34" charset="0"/>
                <a:ea typeface="Calibri" pitchFamily="34" charset="-122"/>
                <a:cs typeface="Calibri" pitchFamily="34" charset="-120"/>
              </a:rPr>
              <a:t>•</a:t>
            </a:r>
            <a:endParaRPr lang="en-US" sz="2000" dirty="0"/>
          </a:p>
        </p:txBody>
      </p:sp>
      <p:sp>
        <p:nvSpPr>
          <p:cNvPr id="16" name="Text 14"/>
          <p:cNvSpPr txBox="1"/>
          <p:nvPr/>
        </p:nvSpPr>
        <p:spPr>
          <a:xfrm>
            <a:off x="1051560" y="3291840"/>
            <a:ext cx="4480560" cy="365760"/>
          </a:xfrm>
          <a:prstGeom prst="rect">
            <a:avLst/>
          </a:prstGeom>
          <a:noFill/>
          <a:ln/>
        </p:spPr>
        <p:txBody>
          <a:bodyPr wrap="square" rtlCol="0" anchor="ctr"/>
          <a:lstStyle/>
          <a:p>
            <a:pPr marL="0" indent="0">
              <a:buNone/>
            </a:pPr>
            <a:r>
              <a:rPr lang="en-US" sz="1350" dirty="0">
                <a:solidFill>
                  <a:srgbClr val="23272A"/>
                </a:solidFill>
                <a:latin typeface="Calibri" pitchFamily="34" charset="0"/>
                <a:ea typeface="Calibri" pitchFamily="34" charset="-122"/>
                <a:cs typeface="Calibri" pitchFamily="34" charset="-120"/>
              </a:rPr>
              <a:t>Aging and deterioration</a:t>
            </a:r>
            <a:endParaRPr lang="en-US" sz="1350" dirty="0"/>
          </a:p>
        </p:txBody>
      </p:sp>
      <p:sp>
        <p:nvSpPr>
          <p:cNvPr id="17" name="Text 15"/>
          <p:cNvSpPr txBox="1"/>
          <p:nvPr/>
        </p:nvSpPr>
        <p:spPr>
          <a:xfrm>
            <a:off x="548640" y="3977640"/>
            <a:ext cx="5120640" cy="274320"/>
          </a:xfrm>
          <a:prstGeom prst="rect">
            <a:avLst/>
          </a:prstGeom>
          <a:noFill/>
          <a:ln/>
        </p:spPr>
        <p:txBody>
          <a:bodyPr wrap="square" rtlCol="0" anchor="ctr"/>
          <a:lstStyle/>
          <a:p>
            <a:pPr marL="0" indent="0">
              <a:buNone/>
            </a:pPr>
            <a:r>
              <a:rPr lang="en-US" sz="1300" b="1" dirty="0">
                <a:solidFill>
                  <a:srgbClr val="5B5F61"/>
                </a:solidFill>
                <a:latin typeface="Calibri" pitchFamily="34" charset="0"/>
                <a:ea typeface="Calibri" pitchFamily="34" charset="-122"/>
                <a:cs typeface="Calibri" pitchFamily="34" charset="-120"/>
              </a:rPr>
              <a:t>Current inspection process</a:t>
            </a:r>
            <a:endParaRPr lang="en-US" sz="1300" dirty="0"/>
          </a:p>
        </p:txBody>
      </p:sp>
      <p:sp>
        <p:nvSpPr>
          <p:cNvPr id="18" name="Shape 16"/>
          <p:cNvSpPr/>
          <p:nvPr/>
        </p:nvSpPr>
        <p:spPr>
          <a:xfrm>
            <a:off x="548640" y="4343400"/>
            <a:ext cx="1188720" cy="777240"/>
          </a:xfrm>
          <a:prstGeom prst="roundRect">
            <a:avLst>
              <a:gd name="adj" fmla="val 9412"/>
            </a:avLst>
          </a:prstGeom>
          <a:solidFill>
            <a:srgbClr val="FFFFFF"/>
          </a:solidFill>
          <a:ln/>
        </p:spPr>
      </p:sp>
      <p:sp>
        <p:nvSpPr>
          <p:cNvPr id="19" name="Text 17"/>
          <p:cNvSpPr txBox="1"/>
          <p:nvPr/>
        </p:nvSpPr>
        <p:spPr>
          <a:xfrm>
            <a:off x="548640" y="4343400"/>
            <a:ext cx="1188720" cy="777240"/>
          </a:xfrm>
          <a:prstGeom prst="rect">
            <a:avLst/>
          </a:prstGeom>
          <a:noFill/>
          <a:ln/>
        </p:spPr>
        <p:txBody>
          <a:bodyPr wrap="square" lIns="0" tIns="0" rIns="0" bIns="0" rtlCol="0" anchor="ctr"/>
          <a:lstStyle/>
          <a:p>
            <a:pPr marL="0" indent="0" algn="ctr">
              <a:buNone/>
            </a:pPr>
            <a:r>
              <a:rPr lang="en-US" sz="1100" b="1" dirty="0">
                <a:solidFill>
                  <a:srgbClr val="23272A"/>
                </a:solidFill>
                <a:latin typeface="Calibri" pitchFamily="34" charset="0"/>
                <a:ea typeface="Calibri" pitchFamily="34" charset="-122"/>
                <a:cs typeface="Calibri" pitchFamily="34" charset="-120"/>
              </a:rPr>
              <a:t>Visual Inspection</a:t>
            </a:r>
            <a:endParaRPr lang="en-US" sz="1100" dirty="0"/>
          </a:p>
        </p:txBody>
      </p:sp>
      <p:sp>
        <p:nvSpPr>
          <p:cNvPr id="20" name="Shape 18"/>
          <p:cNvSpPr/>
          <p:nvPr/>
        </p:nvSpPr>
        <p:spPr>
          <a:xfrm>
            <a:off x="1755648" y="4727448"/>
            <a:ext cx="118872" cy="0"/>
          </a:xfrm>
          <a:prstGeom prst="line">
            <a:avLst/>
          </a:prstGeom>
          <a:noFill/>
          <a:ln w="25400">
            <a:solidFill>
              <a:srgbClr val="8C8C86"/>
            </a:solidFill>
            <a:prstDash val="solid"/>
            <a:tailEnd type="triangle"/>
          </a:ln>
        </p:spPr>
      </p:sp>
      <p:sp>
        <p:nvSpPr>
          <p:cNvPr id="21" name="Shape 19"/>
          <p:cNvSpPr/>
          <p:nvPr/>
        </p:nvSpPr>
        <p:spPr>
          <a:xfrm>
            <a:off x="1874520" y="4343400"/>
            <a:ext cx="1188720" cy="777240"/>
          </a:xfrm>
          <a:prstGeom prst="roundRect">
            <a:avLst>
              <a:gd name="adj" fmla="val 9412"/>
            </a:avLst>
          </a:prstGeom>
          <a:solidFill>
            <a:srgbClr val="FFFFFF"/>
          </a:solidFill>
          <a:ln/>
        </p:spPr>
      </p:sp>
      <p:sp>
        <p:nvSpPr>
          <p:cNvPr id="22" name="Text 20"/>
          <p:cNvSpPr txBox="1"/>
          <p:nvPr/>
        </p:nvSpPr>
        <p:spPr>
          <a:xfrm>
            <a:off x="1874520" y="4343400"/>
            <a:ext cx="1188720" cy="777240"/>
          </a:xfrm>
          <a:prstGeom prst="rect">
            <a:avLst/>
          </a:prstGeom>
          <a:noFill/>
          <a:ln/>
        </p:spPr>
        <p:txBody>
          <a:bodyPr wrap="square" lIns="0" tIns="0" rIns="0" bIns="0" rtlCol="0" anchor="ctr"/>
          <a:lstStyle/>
          <a:p>
            <a:pPr marL="0" indent="0" algn="ctr">
              <a:buNone/>
            </a:pPr>
            <a:r>
              <a:rPr lang="en-US" sz="1100" b="1" dirty="0">
                <a:solidFill>
                  <a:srgbClr val="23272A"/>
                </a:solidFill>
                <a:latin typeface="Calibri" pitchFamily="34" charset="0"/>
                <a:ea typeface="Calibri" pitchFamily="34" charset="-122"/>
                <a:cs typeface="Calibri" pitchFamily="34" charset="-120"/>
              </a:rPr>
              <a:t>Manual Crack Measurement</a:t>
            </a:r>
            <a:endParaRPr lang="en-US" sz="1100" dirty="0"/>
          </a:p>
        </p:txBody>
      </p:sp>
      <p:sp>
        <p:nvSpPr>
          <p:cNvPr id="23" name="Shape 21"/>
          <p:cNvSpPr/>
          <p:nvPr/>
        </p:nvSpPr>
        <p:spPr>
          <a:xfrm>
            <a:off x="3081528" y="4727448"/>
            <a:ext cx="118872" cy="0"/>
          </a:xfrm>
          <a:prstGeom prst="line">
            <a:avLst/>
          </a:prstGeom>
          <a:noFill/>
          <a:ln w="25400">
            <a:solidFill>
              <a:srgbClr val="8C8C86"/>
            </a:solidFill>
            <a:prstDash val="solid"/>
            <a:tailEnd type="triangle"/>
          </a:ln>
        </p:spPr>
      </p:sp>
      <p:sp>
        <p:nvSpPr>
          <p:cNvPr id="24" name="Shape 22"/>
          <p:cNvSpPr/>
          <p:nvPr/>
        </p:nvSpPr>
        <p:spPr>
          <a:xfrm>
            <a:off x="3200400" y="4343400"/>
            <a:ext cx="1188720" cy="777240"/>
          </a:xfrm>
          <a:prstGeom prst="roundRect">
            <a:avLst>
              <a:gd name="adj" fmla="val 9412"/>
            </a:avLst>
          </a:prstGeom>
          <a:solidFill>
            <a:srgbClr val="FFFFFF"/>
          </a:solidFill>
          <a:ln/>
        </p:spPr>
      </p:sp>
      <p:sp>
        <p:nvSpPr>
          <p:cNvPr id="25" name="Text 23"/>
          <p:cNvSpPr txBox="1"/>
          <p:nvPr/>
        </p:nvSpPr>
        <p:spPr>
          <a:xfrm>
            <a:off x="3200400" y="4343400"/>
            <a:ext cx="1188720" cy="777240"/>
          </a:xfrm>
          <a:prstGeom prst="rect">
            <a:avLst/>
          </a:prstGeom>
          <a:noFill/>
          <a:ln/>
        </p:spPr>
        <p:txBody>
          <a:bodyPr wrap="square" lIns="0" tIns="0" rIns="0" bIns="0" rtlCol="0" anchor="ctr"/>
          <a:lstStyle/>
          <a:p>
            <a:pPr marL="0" indent="0" algn="ctr">
              <a:buNone/>
            </a:pPr>
            <a:r>
              <a:rPr lang="en-US" sz="1100" b="1" dirty="0">
                <a:solidFill>
                  <a:srgbClr val="23272A"/>
                </a:solidFill>
                <a:latin typeface="Calibri" pitchFamily="34" charset="0"/>
                <a:ea typeface="Calibri" pitchFamily="34" charset="-122"/>
                <a:cs typeface="Calibri" pitchFamily="34" charset="-120"/>
              </a:rPr>
              <a:t>Manual Recording</a:t>
            </a:r>
            <a:endParaRPr lang="en-US" sz="1100" dirty="0"/>
          </a:p>
        </p:txBody>
      </p:sp>
      <p:sp>
        <p:nvSpPr>
          <p:cNvPr id="26" name="Shape 24"/>
          <p:cNvSpPr/>
          <p:nvPr/>
        </p:nvSpPr>
        <p:spPr>
          <a:xfrm>
            <a:off x="4407408" y="4727448"/>
            <a:ext cx="118872" cy="0"/>
          </a:xfrm>
          <a:prstGeom prst="line">
            <a:avLst/>
          </a:prstGeom>
          <a:noFill/>
          <a:ln w="25400">
            <a:solidFill>
              <a:srgbClr val="8C8C86"/>
            </a:solidFill>
            <a:prstDash val="solid"/>
            <a:tailEnd type="triangle"/>
          </a:ln>
        </p:spPr>
      </p:sp>
      <p:sp>
        <p:nvSpPr>
          <p:cNvPr id="27" name="Shape 25"/>
          <p:cNvSpPr/>
          <p:nvPr/>
        </p:nvSpPr>
        <p:spPr>
          <a:xfrm>
            <a:off x="4526280" y="4343400"/>
            <a:ext cx="1188720" cy="777240"/>
          </a:xfrm>
          <a:prstGeom prst="roundRect">
            <a:avLst>
              <a:gd name="adj" fmla="val 9412"/>
            </a:avLst>
          </a:prstGeom>
          <a:solidFill>
            <a:srgbClr val="FFFFFF"/>
          </a:solidFill>
          <a:ln/>
        </p:spPr>
      </p:sp>
      <p:sp>
        <p:nvSpPr>
          <p:cNvPr id="28" name="Text 26"/>
          <p:cNvSpPr txBox="1"/>
          <p:nvPr/>
        </p:nvSpPr>
        <p:spPr>
          <a:xfrm>
            <a:off x="4526280" y="4343400"/>
            <a:ext cx="1188720" cy="777240"/>
          </a:xfrm>
          <a:prstGeom prst="rect">
            <a:avLst/>
          </a:prstGeom>
          <a:noFill/>
          <a:ln/>
        </p:spPr>
        <p:txBody>
          <a:bodyPr wrap="square" lIns="0" tIns="0" rIns="0" bIns="0" rtlCol="0" anchor="ctr"/>
          <a:lstStyle/>
          <a:p>
            <a:pPr marL="0" indent="0" algn="ctr">
              <a:buNone/>
            </a:pPr>
            <a:r>
              <a:rPr lang="en-US" sz="1100" b="1" dirty="0">
                <a:solidFill>
                  <a:srgbClr val="23272A"/>
                </a:solidFill>
                <a:latin typeface="Calibri" pitchFamily="34" charset="0"/>
                <a:ea typeface="Calibri" pitchFamily="34" charset="-122"/>
                <a:cs typeface="Calibri" pitchFamily="34" charset="-120"/>
              </a:rPr>
              <a:t>Report Preparation</a:t>
            </a:r>
            <a:endParaRPr lang="en-US" sz="1100" dirty="0"/>
          </a:p>
        </p:txBody>
      </p:sp>
      <p:sp>
        <p:nvSpPr>
          <p:cNvPr id="29" name="Text 27"/>
          <p:cNvSpPr txBox="1"/>
          <p:nvPr/>
        </p:nvSpPr>
        <p:spPr>
          <a:xfrm>
            <a:off x="6126480" y="1371600"/>
            <a:ext cx="4572000" cy="320040"/>
          </a:xfrm>
          <a:prstGeom prst="rect">
            <a:avLst/>
          </a:prstGeom>
          <a:noFill/>
          <a:ln/>
        </p:spPr>
        <p:txBody>
          <a:bodyPr wrap="square" rtlCol="0" anchor="ctr"/>
          <a:lstStyle/>
          <a:p>
            <a:pPr marL="0" indent="0">
              <a:buNone/>
            </a:pPr>
            <a:r>
              <a:rPr lang="en-US" sz="1300" b="1" dirty="0">
                <a:solidFill>
                  <a:srgbClr val="5B5F61"/>
                </a:solidFill>
                <a:latin typeface="Calibri" pitchFamily="34" charset="0"/>
                <a:ea typeface="Calibri" pitchFamily="34" charset="-122"/>
                <a:cs typeface="Calibri" pitchFamily="34" charset="-120"/>
              </a:rPr>
              <a:t>Key Problems</a:t>
            </a:r>
            <a:endParaRPr lang="en-US" sz="1300" dirty="0"/>
          </a:p>
        </p:txBody>
      </p:sp>
      <p:sp>
        <p:nvSpPr>
          <p:cNvPr id="30" name="Shape 28"/>
          <p:cNvSpPr/>
          <p:nvPr/>
        </p:nvSpPr>
        <p:spPr>
          <a:xfrm>
            <a:off x="6126480" y="1737360"/>
            <a:ext cx="2606040" cy="960120"/>
          </a:xfrm>
          <a:prstGeom prst="roundRect">
            <a:avLst>
              <a:gd name="adj" fmla="val 5714"/>
            </a:avLst>
          </a:prstGeom>
          <a:solidFill>
            <a:srgbClr val="FFFFFF"/>
          </a:solidFill>
          <a:ln/>
          <a:effectLst>
            <a:outerShdw blurRad="76200" dist="25400" dir="5400000" algn="bl" rotWithShape="0">
              <a:srgbClr val="1A1A1A">
                <a:alpha val="18000"/>
              </a:srgbClr>
            </a:outerShdw>
          </a:effectLst>
        </p:spPr>
      </p:sp>
      <p:sp>
        <p:nvSpPr>
          <p:cNvPr id="31" name="Shape 29"/>
          <p:cNvSpPr/>
          <p:nvPr/>
        </p:nvSpPr>
        <p:spPr>
          <a:xfrm>
            <a:off x="6272784" y="1874520"/>
            <a:ext cx="329184" cy="329184"/>
          </a:xfrm>
          <a:prstGeom prst="ellipse">
            <a:avLst/>
          </a:prstGeom>
          <a:solidFill>
            <a:srgbClr val="F2661F"/>
          </a:solidFill>
          <a:ln/>
        </p:spPr>
      </p:sp>
      <p:sp>
        <p:nvSpPr>
          <p:cNvPr id="32" name="Text 30"/>
          <p:cNvSpPr txBox="1"/>
          <p:nvPr/>
        </p:nvSpPr>
        <p:spPr>
          <a:xfrm>
            <a:off x="6272784" y="187452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3" name="Text 31"/>
          <p:cNvSpPr txBox="1"/>
          <p:nvPr/>
        </p:nvSpPr>
        <p:spPr>
          <a:xfrm>
            <a:off x="6720840" y="1847088"/>
            <a:ext cx="1874520" cy="320040"/>
          </a:xfrm>
          <a:prstGeom prst="rect">
            <a:avLst/>
          </a:prstGeom>
          <a:noFill/>
          <a:ln/>
        </p:spPr>
        <p:txBody>
          <a:bodyPr wrap="square" lIns="0" tIns="0" rIns="0" bIns="0" rtlCol="0" anchor="ctr"/>
          <a:lstStyle/>
          <a:p>
            <a:pPr marL="0" indent="0">
              <a:buNone/>
            </a:pPr>
            <a:r>
              <a:rPr lang="en-US" sz="1250" b="1" dirty="0">
                <a:solidFill>
                  <a:srgbClr val="23272A"/>
                </a:solidFill>
                <a:latin typeface="Cambria" pitchFamily="34" charset="0"/>
                <a:ea typeface="Cambria" pitchFamily="34" charset="-122"/>
                <a:cs typeface="Cambria" pitchFamily="34" charset="-120"/>
              </a:rPr>
              <a:t>Time-consuming</a:t>
            </a:r>
            <a:endParaRPr lang="en-US" sz="1250" dirty="0"/>
          </a:p>
        </p:txBody>
      </p:sp>
      <p:sp>
        <p:nvSpPr>
          <p:cNvPr id="34" name="Text 32"/>
          <p:cNvSpPr txBox="1"/>
          <p:nvPr/>
        </p:nvSpPr>
        <p:spPr>
          <a:xfrm>
            <a:off x="6272784" y="2212848"/>
            <a:ext cx="2313432" cy="448056"/>
          </a:xfrm>
          <a:prstGeom prst="rect">
            <a:avLst/>
          </a:prstGeom>
          <a:noFill/>
          <a:ln/>
        </p:spPr>
        <p:txBody>
          <a:bodyPr wrap="square" lIns="0" tIns="0" rIns="0" bIns="0" rtlCol="0" anchor="ctr"/>
          <a:lstStyle/>
          <a:p>
            <a:pPr marL="0" indent="0">
              <a:buNone/>
            </a:pPr>
            <a:r>
              <a:rPr lang="en-US" sz="950" dirty="0">
                <a:solidFill>
                  <a:srgbClr val="5B5F61"/>
                </a:solidFill>
                <a:latin typeface="Calibri" pitchFamily="34" charset="0"/>
                <a:ea typeface="Calibri" pitchFamily="34" charset="-122"/>
                <a:cs typeface="Calibri" pitchFamily="34" charset="-120"/>
              </a:rPr>
              <a:t>Inspectors must manually locate and measure every crack.</a:t>
            </a:r>
            <a:endParaRPr lang="en-US" sz="950" dirty="0"/>
          </a:p>
        </p:txBody>
      </p:sp>
      <p:sp>
        <p:nvSpPr>
          <p:cNvPr id="35" name="Shape 33"/>
          <p:cNvSpPr/>
          <p:nvPr/>
        </p:nvSpPr>
        <p:spPr>
          <a:xfrm>
            <a:off x="8869680" y="1737360"/>
            <a:ext cx="2606040" cy="960120"/>
          </a:xfrm>
          <a:prstGeom prst="roundRect">
            <a:avLst>
              <a:gd name="adj" fmla="val 5714"/>
            </a:avLst>
          </a:prstGeom>
          <a:solidFill>
            <a:srgbClr val="FFFFFF"/>
          </a:solidFill>
          <a:ln/>
          <a:effectLst>
            <a:outerShdw blurRad="76200" dist="25400" dir="5400000" algn="bl" rotWithShape="0">
              <a:srgbClr val="1A1A1A">
                <a:alpha val="18000"/>
              </a:srgbClr>
            </a:outerShdw>
          </a:effectLst>
        </p:spPr>
      </p:sp>
      <p:sp>
        <p:nvSpPr>
          <p:cNvPr id="36" name="Shape 34"/>
          <p:cNvSpPr/>
          <p:nvPr/>
        </p:nvSpPr>
        <p:spPr>
          <a:xfrm>
            <a:off x="9015984" y="1874520"/>
            <a:ext cx="329184" cy="329184"/>
          </a:xfrm>
          <a:prstGeom prst="ellipse">
            <a:avLst/>
          </a:prstGeom>
          <a:solidFill>
            <a:srgbClr val="F2661F"/>
          </a:solidFill>
          <a:ln/>
        </p:spPr>
      </p:sp>
      <p:sp>
        <p:nvSpPr>
          <p:cNvPr id="37" name="Text 35"/>
          <p:cNvSpPr txBox="1"/>
          <p:nvPr/>
        </p:nvSpPr>
        <p:spPr>
          <a:xfrm>
            <a:off x="9015984" y="187452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8" name="Text 36"/>
          <p:cNvSpPr txBox="1"/>
          <p:nvPr/>
        </p:nvSpPr>
        <p:spPr>
          <a:xfrm>
            <a:off x="9464040" y="1847088"/>
            <a:ext cx="1874520" cy="320040"/>
          </a:xfrm>
          <a:prstGeom prst="rect">
            <a:avLst/>
          </a:prstGeom>
          <a:noFill/>
          <a:ln/>
        </p:spPr>
        <p:txBody>
          <a:bodyPr wrap="square" lIns="0" tIns="0" rIns="0" bIns="0" rtlCol="0" anchor="ctr"/>
          <a:lstStyle/>
          <a:p>
            <a:pPr marL="0" indent="0">
              <a:buNone/>
            </a:pPr>
            <a:r>
              <a:rPr lang="en-US" sz="1250" b="1" dirty="0">
                <a:solidFill>
                  <a:srgbClr val="23272A"/>
                </a:solidFill>
                <a:latin typeface="Cambria" pitchFamily="34" charset="0"/>
                <a:ea typeface="Cambria" pitchFamily="34" charset="-122"/>
                <a:cs typeface="Cambria" pitchFamily="34" charset="-120"/>
              </a:rPr>
              <a:t>Subjective</a:t>
            </a:r>
            <a:endParaRPr lang="en-US" sz="1250" dirty="0"/>
          </a:p>
        </p:txBody>
      </p:sp>
      <p:sp>
        <p:nvSpPr>
          <p:cNvPr id="39" name="Text 37"/>
          <p:cNvSpPr txBox="1"/>
          <p:nvPr/>
        </p:nvSpPr>
        <p:spPr>
          <a:xfrm>
            <a:off x="9015984" y="2212848"/>
            <a:ext cx="2313432" cy="448056"/>
          </a:xfrm>
          <a:prstGeom prst="rect">
            <a:avLst/>
          </a:prstGeom>
          <a:noFill/>
          <a:ln/>
        </p:spPr>
        <p:txBody>
          <a:bodyPr wrap="square" lIns="0" tIns="0" rIns="0" bIns="0" rtlCol="0" anchor="ctr"/>
          <a:lstStyle/>
          <a:p>
            <a:pPr marL="0" indent="0">
              <a:buNone/>
            </a:pPr>
            <a:r>
              <a:rPr lang="en-US" sz="950" dirty="0">
                <a:solidFill>
                  <a:srgbClr val="5B5F61"/>
                </a:solidFill>
                <a:latin typeface="Calibri" pitchFamily="34" charset="0"/>
                <a:ea typeface="Calibri" pitchFamily="34" charset="-122"/>
                <a:cs typeface="Calibri" pitchFamily="34" charset="-120"/>
              </a:rPr>
              <a:t>Results vary by person, viewing angle and measurement method.</a:t>
            </a:r>
            <a:endParaRPr lang="en-US" sz="950" dirty="0"/>
          </a:p>
        </p:txBody>
      </p:sp>
      <p:sp>
        <p:nvSpPr>
          <p:cNvPr id="40" name="Shape 38"/>
          <p:cNvSpPr/>
          <p:nvPr/>
        </p:nvSpPr>
        <p:spPr>
          <a:xfrm>
            <a:off x="6126480" y="2834640"/>
            <a:ext cx="2606040" cy="960120"/>
          </a:xfrm>
          <a:prstGeom prst="roundRect">
            <a:avLst>
              <a:gd name="adj" fmla="val 5714"/>
            </a:avLst>
          </a:prstGeom>
          <a:solidFill>
            <a:srgbClr val="FFFFFF"/>
          </a:solidFill>
          <a:ln/>
          <a:effectLst>
            <a:outerShdw blurRad="76200" dist="25400" dir="5400000" algn="bl" rotWithShape="0">
              <a:srgbClr val="1A1A1A">
                <a:alpha val="18000"/>
              </a:srgbClr>
            </a:outerShdw>
          </a:effectLst>
        </p:spPr>
      </p:sp>
      <p:sp>
        <p:nvSpPr>
          <p:cNvPr id="41" name="Shape 39"/>
          <p:cNvSpPr/>
          <p:nvPr/>
        </p:nvSpPr>
        <p:spPr>
          <a:xfrm>
            <a:off x="6272784" y="2971800"/>
            <a:ext cx="329184" cy="329184"/>
          </a:xfrm>
          <a:prstGeom prst="ellipse">
            <a:avLst/>
          </a:prstGeom>
          <a:solidFill>
            <a:srgbClr val="F2661F"/>
          </a:solidFill>
          <a:ln/>
        </p:spPr>
      </p:sp>
      <p:sp>
        <p:nvSpPr>
          <p:cNvPr id="42" name="Text 40"/>
          <p:cNvSpPr txBox="1"/>
          <p:nvPr/>
        </p:nvSpPr>
        <p:spPr>
          <a:xfrm>
            <a:off x="6272784" y="297180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3" name="Text 41"/>
          <p:cNvSpPr txBox="1"/>
          <p:nvPr/>
        </p:nvSpPr>
        <p:spPr>
          <a:xfrm>
            <a:off x="6720840" y="2944368"/>
            <a:ext cx="1874520" cy="320040"/>
          </a:xfrm>
          <a:prstGeom prst="rect">
            <a:avLst/>
          </a:prstGeom>
          <a:noFill/>
          <a:ln/>
        </p:spPr>
        <p:txBody>
          <a:bodyPr wrap="square" lIns="0" tIns="0" rIns="0" bIns="0" rtlCol="0" anchor="ctr"/>
          <a:lstStyle/>
          <a:p>
            <a:pPr marL="0" indent="0">
              <a:buNone/>
            </a:pPr>
            <a:r>
              <a:rPr lang="en-US" sz="1250" b="1" dirty="0">
                <a:solidFill>
                  <a:srgbClr val="23272A"/>
                </a:solidFill>
                <a:latin typeface="Cambria" pitchFamily="34" charset="0"/>
                <a:ea typeface="Cambria" pitchFamily="34" charset="-122"/>
                <a:cs typeface="Cambria" pitchFamily="34" charset="-120"/>
              </a:rPr>
              <a:t>Poor digital traceability</a:t>
            </a:r>
            <a:endParaRPr lang="en-US" sz="1250" dirty="0"/>
          </a:p>
        </p:txBody>
      </p:sp>
      <p:sp>
        <p:nvSpPr>
          <p:cNvPr id="44" name="Text 42"/>
          <p:cNvSpPr txBox="1"/>
          <p:nvPr/>
        </p:nvSpPr>
        <p:spPr>
          <a:xfrm>
            <a:off x="6272784" y="3310128"/>
            <a:ext cx="2313432" cy="448056"/>
          </a:xfrm>
          <a:prstGeom prst="rect">
            <a:avLst/>
          </a:prstGeom>
          <a:noFill/>
          <a:ln/>
        </p:spPr>
        <p:txBody>
          <a:bodyPr wrap="square" lIns="0" tIns="0" rIns="0" bIns="0" rtlCol="0" anchor="ctr"/>
          <a:lstStyle/>
          <a:p>
            <a:pPr marL="0" indent="0">
              <a:buNone/>
            </a:pPr>
            <a:r>
              <a:rPr lang="en-US" sz="950" dirty="0">
                <a:solidFill>
                  <a:srgbClr val="5B5F61"/>
                </a:solidFill>
                <a:latin typeface="Calibri" pitchFamily="34" charset="0"/>
                <a:ea typeface="Calibri" pitchFamily="34" charset="-122"/>
                <a:cs typeface="Calibri" pitchFamily="34" charset="-120"/>
              </a:rPr>
              <a:t>Measurements, images and locations are recorded separately.</a:t>
            </a:r>
            <a:endParaRPr lang="en-US" sz="950" dirty="0"/>
          </a:p>
        </p:txBody>
      </p:sp>
      <p:sp>
        <p:nvSpPr>
          <p:cNvPr id="45" name="Shape 43"/>
          <p:cNvSpPr/>
          <p:nvPr/>
        </p:nvSpPr>
        <p:spPr>
          <a:xfrm>
            <a:off x="8869680" y="2834640"/>
            <a:ext cx="2606040" cy="960120"/>
          </a:xfrm>
          <a:prstGeom prst="roundRect">
            <a:avLst>
              <a:gd name="adj" fmla="val 5714"/>
            </a:avLst>
          </a:prstGeom>
          <a:solidFill>
            <a:srgbClr val="FFFFFF"/>
          </a:solidFill>
          <a:ln/>
          <a:effectLst>
            <a:outerShdw blurRad="76200" dist="25400" dir="5400000" algn="bl" rotWithShape="0">
              <a:srgbClr val="1A1A1A">
                <a:alpha val="18000"/>
              </a:srgbClr>
            </a:outerShdw>
          </a:effectLst>
        </p:spPr>
      </p:sp>
      <p:sp>
        <p:nvSpPr>
          <p:cNvPr id="46" name="Shape 44"/>
          <p:cNvSpPr/>
          <p:nvPr/>
        </p:nvSpPr>
        <p:spPr>
          <a:xfrm>
            <a:off x="9015984" y="2971800"/>
            <a:ext cx="329184" cy="329184"/>
          </a:xfrm>
          <a:prstGeom prst="ellipse">
            <a:avLst/>
          </a:prstGeom>
          <a:solidFill>
            <a:srgbClr val="F2661F"/>
          </a:solidFill>
          <a:ln/>
        </p:spPr>
      </p:sp>
      <p:sp>
        <p:nvSpPr>
          <p:cNvPr id="47" name="Text 45"/>
          <p:cNvSpPr txBox="1"/>
          <p:nvPr/>
        </p:nvSpPr>
        <p:spPr>
          <a:xfrm>
            <a:off x="9015984" y="297180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8" name="Text 46"/>
          <p:cNvSpPr txBox="1"/>
          <p:nvPr/>
        </p:nvSpPr>
        <p:spPr>
          <a:xfrm>
            <a:off x="9464040" y="2944368"/>
            <a:ext cx="1874520" cy="320040"/>
          </a:xfrm>
          <a:prstGeom prst="rect">
            <a:avLst/>
          </a:prstGeom>
          <a:noFill/>
          <a:ln/>
        </p:spPr>
        <p:txBody>
          <a:bodyPr wrap="square" lIns="0" tIns="0" rIns="0" bIns="0" rtlCol="0" anchor="ctr"/>
          <a:lstStyle/>
          <a:p>
            <a:pPr marL="0" indent="0">
              <a:buNone/>
            </a:pPr>
            <a:r>
              <a:rPr lang="en-US" sz="1250" b="1" dirty="0">
                <a:solidFill>
                  <a:srgbClr val="23272A"/>
                </a:solidFill>
                <a:latin typeface="Cambria" pitchFamily="34" charset="0"/>
                <a:ea typeface="Cambria" pitchFamily="34" charset="-122"/>
                <a:cs typeface="Cambria" pitchFamily="34" charset="-120"/>
              </a:rPr>
              <a:t>Hard to track progress</a:t>
            </a:r>
            <a:endParaRPr lang="en-US" sz="1250" dirty="0"/>
          </a:p>
        </p:txBody>
      </p:sp>
      <p:sp>
        <p:nvSpPr>
          <p:cNvPr id="49" name="Text 47"/>
          <p:cNvSpPr txBox="1"/>
          <p:nvPr/>
        </p:nvSpPr>
        <p:spPr>
          <a:xfrm>
            <a:off x="9015984" y="3310128"/>
            <a:ext cx="2313432" cy="448056"/>
          </a:xfrm>
          <a:prstGeom prst="rect">
            <a:avLst/>
          </a:prstGeom>
          <a:noFill/>
          <a:ln/>
        </p:spPr>
        <p:txBody>
          <a:bodyPr wrap="square" lIns="0" tIns="0" rIns="0" bIns="0" rtlCol="0" anchor="ctr"/>
          <a:lstStyle/>
          <a:p>
            <a:pPr marL="0" indent="0">
              <a:buNone/>
            </a:pPr>
            <a:r>
              <a:rPr lang="en-US" sz="950" dirty="0">
                <a:solidFill>
                  <a:srgbClr val="5B5F61"/>
                </a:solidFill>
                <a:latin typeface="Calibri" pitchFamily="34" charset="0"/>
                <a:ea typeface="Calibri" pitchFamily="34" charset="-122"/>
                <a:cs typeface="Calibri" pitchFamily="34" charset="-120"/>
              </a:rPr>
              <a:t>Comparing the same crack across inspections is inconvenient.</a:t>
            </a:r>
            <a:endParaRPr lang="en-US" sz="950" dirty="0"/>
          </a:p>
        </p:txBody>
      </p:sp>
      <p:sp>
        <p:nvSpPr>
          <p:cNvPr id="50" name="Shape 48"/>
          <p:cNvSpPr/>
          <p:nvPr/>
        </p:nvSpPr>
        <p:spPr>
          <a:xfrm>
            <a:off x="6126480" y="3977640"/>
            <a:ext cx="5349240" cy="1417320"/>
          </a:xfrm>
          <a:prstGeom prst="roundRect">
            <a:avLst>
              <a:gd name="adj" fmla="val 3871"/>
            </a:avLst>
          </a:prstGeom>
          <a:solidFill>
            <a:srgbClr val="23272A"/>
          </a:solidFill>
          <a:ln/>
          <a:effectLst>
            <a:outerShdw blurRad="76200" dist="25400" dir="5400000" algn="bl" rotWithShape="0">
              <a:srgbClr val="1A1A1A">
                <a:alpha val="18000"/>
              </a:srgbClr>
            </a:outerShdw>
          </a:effectLst>
        </p:spPr>
      </p:sp>
      <p:sp>
        <p:nvSpPr>
          <p:cNvPr id="51" name="Text 49"/>
          <p:cNvSpPr txBox="1"/>
          <p:nvPr/>
        </p:nvSpPr>
        <p:spPr>
          <a:xfrm>
            <a:off x="6355080" y="4096512"/>
            <a:ext cx="3657600" cy="274320"/>
          </a:xfrm>
          <a:prstGeom prst="rect">
            <a:avLst/>
          </a:prstGeom>
          <a:noFill/>
          <a:ln/>
        </p:spPr>
        <p:txBody>
          <a:bodyPr wrap="square" rtlCol="0" anchor="ctr"/>
          <a:lstStyle/>
          <a:p>
            <a:pPr marL="0" indent="0">
              <a:buNone/>
            </a:pPr>
            <a:r>
              <a:rPr lang="en-US" sz="1050" b="1" kern="0" spc="150" dirty="0">
                <a:solidFill>
                  <a:srgbClr val="F2661F"/>
                </a:solidFill>
                <a:latin typeface="Calibri" pitchFamily="34" charset="0"/>
                <a:ea typeface="Calibri" pitchFamily="34" charset="-122"/>
                <a:cs typeface="Calibri" pitchFamily="34" charset="-120"/>
              </a:rPr>
              <a:t>WHY THIS MATTERS</a:t>
            </a:r>
            <a:endParaRPr lang="en-US" sz="1050" dirty="0"/>
          </a:p>
        </p:txBody>
      </p:sp>
      <p:sp>
        <p:nvSpPr>
          <p:cNvPr id="52" name="Text 50"/>
          <p:cNvSpPr txBox="1"/>
          <p:nvPr/>
        </p:nvSpPr>
        <p:spPr>
          <a:xfrm>
            <a:off x="6355080" y="4361688"/>
            <a:ext cx="153924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&gt;3mm</a:t>
            </a:r>
            <a:endParaRPr lang="en-US" sz="1700" dirty="0"/>
          </a:p>
        </p:txBody>
      </p:sp>
      <p:sp>
        <p:nvSpPr>
          <p:cNvPr id="53" name="Text 51"/>
          <p:cNvSpPr txBox="1"/>
          <p:nvPr/>
        </p:nvSpPr>
        <p:spPr>
          <a:xfrm>
            <a:off x="6355080" y="4727448"/>
            <a:ext cx="1493520" cy="594360"/>
          </a:xfrm>
          <a:prstGeom prst="rect">
            <a:avLst/>
          </a:prstGeom>
          <a:noFill/>
          <a:ln/>
        </p:spPr>
        <p:txBody>
          <a:bodyPr wrap="square" lIns="0" tIns="0" rIns="0" bIns="0" rtlCol="0" anchor="ctr"/>
          <a:lstStyle/>
          <a:p>
            <a:pPr marL="0" indent="0">
              <a:buNone/>
            </a:pPr>
            <a:r>
              <a:rPr lang="en-US" sz="850" dirty="0">
                <a:solidFill>
                  <a:srgbClr val="E7E6E1"/>
                </a:solidFill>
                <a:latin typeface="Calibri" pitchFamily="34" charset="0"/>
                <a:ea typeface="Calibri" pitchFamily="34" charset="-122"/>
                <a:cs typeface="Calibri" pitchFamily="34" charset="-120"/>
              </a:rPr>
              <a:t>crack width is a recognised trigger for a formal structural audit</a:t>
            </a:r>
            <a:endParaRPr lang="en-US" sz="850" dirty="0"/>
          </a:p>
        </p:txBody>
      </p:sp>
      <p:sp>
        <p:nvSpPr>
          <p:cNvPr id="54" name="Text 52"/>
          <p:cNvSpPr txBox="1"/>
          <p:nvPr/>
        </p:nvSpPr>
        <p:spPr>
          <a:xfrm>
            <a:off x="7985760" y="4361688"/>
            <a:ext cx="153924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30–50 yrs</a:t>
            </a:r>
            <a:endParaRPr lang="en-US" sz="1700" dirty="0"/>
          </a:p>
        </p:txBody>
      </p:sp>
      <p:sp>
        <p:nvSpPr>
          <p:cNvPr id="55" name="Text 53"/>
          <p:cNvSpPr txBox="1"/>
          <p:nvPr/>
        </p:nvSpPr>
        <p:spPr>
          <a:xfrm>
            <a:off x="7985760" y="4727448"/>
            <a:ext cx="1493520" cy="594360"/>
          </a:xfrm>
          <a:prstGeom prst="rect">
            <a:avLst/>
          </a:prstGeom>
          <a:noFill/>
          <a:ln/>
        </p:spPr>
        <p:txBody>
          <a:bodyPr wrap="square" lIns="0" tIns="0" rIns="0" bIns="0" rtlCol="0" anchor="ctr"/>
          <a:lstStyle/>
          <a:p>
            <a:pPr marL="0" indent="0">
              <a:buNone/>
            </a:pPr>
            <a:r>
              <a:rPr lang="en-US" sz="850" dirty="0">
                <a:solidFill>
                  <a:srgbClr val="E7E6E1"/>
                </a:solidFill>
                <a:latin typeface="Calibri" pitchFamily="34" charset="0"/>
                <a:ea typeface="Calibri" pitchFamily="34" charset="-122"/>
                <a:cs typeface="Calibri" pitchFamily="34" charset="-120"/>
              </a:rPr>
              <a:t>building age when Indian municipal bodies mandate periodic audits</a:t>
            </a:r>
            <a:endParaRPr lang="en-US" sz="850" dirty="0"/>
          </a:p>
        </p:txBody>
      </p:sp>
      <p:sp>
        <p:nvSpPr>
          <p:cNvPr id="56" name="Text 54"/>
          <p:cNvSpPr txBox="1"/>
          <p:nvPr/>
        </p:nvSpPr>
        <p:spPr>
          <a:xfrm>
            <a:off x="9616440" y="4361688"/>
            <a:ext cx="153924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₹60K–1.2L</a:t>
            </a:r>
            <a:endParaRPr lang="en-US" sz="1700" dirty="0"/>
          </a:p>
        </p:txBody>
      </p:sp>
      <p:sp>
        <p:nvSpPr>
          <p:cNvPr id="57" name="Text 55"/>
          <p:cNvSpPr txBox="1"/>
          <p:nvPr/>
        </p:nvSpPr>
        <p:spPr>
          <a:xfrm>
            <a:off x="9616440" y="4727448"/>
            <a:ext cx="1493520" cy="594360"/>
          </a:xfrm>
          <a:prstGeom prst="rect">
            <a:avLst/>
          </a:prstGeom>
          <a:noFill/>
          <a:ln/>
        </p:spPr>
        <p:txBody>
          <a:bodyPr wrap="square" lIns="0" tIns="0" rIns="0" bIns="0" rtlCol="0" anchor="ctr"/>
          <a:lstStyle/>
          <a:p>
            <a:pPr marL="0" indent="0">
              <a:buNone/>
            </a:pPr>
            <a:r>
              <a:rPr lang="en-US" sz="850" dirty="0">
                <a:solidFill>
                  <a:srgbClr val="E7E6E1"/>
                </a:solidFill>
                <a:latin typeface="Calibri" pitchFamily="34" charset="0"/>
                <a:ea typeface="Calibri" pitchFamily="34" charset="-122"/>
                <a:cs typeface="Calibri" pitchFamily="34" charset="-120"/>
              </a:rPr>
              <a:t>typical professional structural audit cost, mid-rise building</a:t>
            </a:r>
            <a:endParaRPr lang="en-US" sz="850" dirty="0"/>
          </a:p>
        </p:txBody>
      </p:sp>
      <p:sp>
        <p:nvSpPr>
          <p:cNvPr id="58" name="Text 56"/>
          <p:cNvSpPr txBox="1"/>
          <p:nvPr/>
        </p:nvSpPr>
        <p:spPr>
          <a:xfrm>
            <a:off x="548640" y="6035040"/>
            <a:ext cx="11064240" cy="457200"/>
          </a:xfrm>
          <a:prstGeom prst="rect">
            <a:avLst/>
          </a:prstGeom>
          <a:noFill/>
          <a:ln/>
        </p:spPr>
        <p:txBody>
          <a:bodyPr wrap="square" rtlCol="0" anchor="ctr"/>
          <a:lstStyle/>
          <a:p>
            <a:pPr marL="0" indent="0" algn="ctr">
              <a:buNone/>
            </a:pPr>
            <a:r>
              <a:rPr lang="en-US" sz="1300" i="1" dirty="0">
                <a:solidFill>
                  <a:srgbClr val="C24C10"/>
                </a:solidFill>
                <a:latin typeface="Calibri" pitchFamily="34" charset="0"/>
                <a:ea typeface="Calibri" pitchFamily="34" charset="-122"/>
                <a:cs typeface="Calibri" pitchFamily="34" charset="-120"/>
              </a:rPr>
              <a:t>The real challenge isn't detecting a crack - it's measuring it consistently and keeping a digital history of how it changes over time.</a:t>
            </a:r>
            <a:endParaRPr lang="en-US" sz="1300" dirty="0"/>
          </a:p>
        </p:txBody>
      </p:sp>
      <p:sp>
        <p:nvSpPr>
          <p:cNvPr id="59" name="Text 57"/>
          <p:cNvSpPr txBox="1"/>
          <p:nvPr/>
        </p:nvSpPr>
        <p:spPr>
          <a:xfrm>
            <a:off x="11292840" y="6510528"/>
            <a:ext cx="731520" cy="274320"/>
          </a:xfrm>
          <a:prstGeom prst="rect">
            <a:avLst/>
          </a:prstGeom>
          <a:noFill/>
          <a:ln/>
        </p:spPr>
        <p:txBody>
          <a:bodyPr wrap="square" rtlCol="0" anchor="ctr"/>
          <a:lstStyle/>
          <a:p>
            <a:pPr marL="0" indent="0" algn="r">
              <a:buNone/>
            </a:pPr>
            <a:r>
              <a:rPr lang="en-US" sz="900" dirty="0">
                <a:solidFill>
                  <a:srgbClr val="8C8C86"/>
                </a:solidFill>
                <a:latin typeface="Calibri" pitchFamily="34" charset="0"/>
                <a:ea typeface="Calibri" pitchFamily="34" charset="-122"/>
                <a:cs typeface="Calibri" pitchFamily="34" charset="-120"/>
              </a:rPr>
              <a:t>02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3E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F2661F"/>
                </a:solidFill>
                <a:latin typeface="Calibri" pitchFamily="34" charset="0"/>
                <a:ea typeface="Calibri" pitchFamily="34" charset="-122"/>
                <a:cs typeface="Calibri" pitchFamily="34" charset="-120"/>
              </a:rPr>
              <a:t>LANDSCAPE</a:t>
            </a:r>
            <a:endParaRPr lang="en-US" sz="1200" dirty="0"/>
          </a:p>
        </p:txBody>
      </p:sp>
      <p:sp>
        <p:nvSpPr>
          <p:cNvPr id="3" name="Text 1"/>
          <p:cNvSpPr txBox="1"/>
          <p:nvPr/>
        </p:nvSpPr>
        <p:spPr>
          <a:xfrm>
            <a:off x="548640" y="621792"/>
            <a:ext cx="10515600" cy="640080"/>
          </a:xfrm>
          <a:prstGeom prst="rect">
            <a:avLst/>
          </a:prstGeom>
          <a:noFill/>
          <a:ln/>
        </p:spPr>
        <p:txBody>
          <a:bodyPr wrap="square" lIns="0" tIns="0" rIns="0" bIns="0" rtlCol="0" anchor="ctr"/>
          <a:lstStyle/>
          <a:p>
            <a:pPr marL="0" indent="0">
              <a:buNone/>
            </a:pPr>
            <a:r>
              <a:rPr lang="en-US" sz="3000" b="1" dirty="0">
                <a:solidFill>
                  <a:srgbClr val="23272A"/>
                </a:solidFill>
                <a:latin typeface="Cambria" pitchFamily="34" charset="0"/>
                <a:ea typeface="Cambria" pitchFamily="34" charset="-122"/>
                <a:cs typeface="Cambria" pitchFamily="34" charset="-120"/>
              </a:rPr>
              <a:t>How Is It Done Today?</a:t>
            </a:r>
            <a:endParaRPr lang="en-US" sz="3000" dirty="0"/>
          </a:p>
        </p:txBody>
      </p:sp>
      <p:sp>
        <p:nvSpPr>
          <p:cNvPr id="4" name="Text 2"/>
          <p:cNvSpPr txBox="1"/>
          <p:nvPr/>
        </p:nvSpPr>
        <p:spPr>
          <a:xfrm>
            <a:off x="548640" y="1463040"/>
            <a:ext cx="2377440" cy="365760"/>
          </a:xfrm>
          <a:prstGeom prst="rect">
            <a:avLst/>
          </a:prstGeom>
          <a:solidFill>
            <a:srgbClr val="23272A"/>
          </a:solidFill>
          <a:ln/>
        </p:spPr>
        <p:txBody>
          <a:bodyPr wrap="square" lIns="0" tIns="10160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  Method </a:t>
            </a:r>
            <a:endParaRPr lang="en-US" sz="1200" dirty="0"/>
          </a:p>
        </p:txBody>
      </p:sp>
      <p:sp>
        <p:nvSpPr>
          <p:cNvPr id="5" name="Text 3"/>
          <p:cNvSpPr txBox="1"/>
          <p:nvPr/>
        </p:nvSpPr>
        <p:spPr>
          <a:xfrm>
            <a:off x="2926080" y="1463040"/>
            <a:ext cx="2377440" cy="365760"/>
          </a:xfrm>
          <a:prstGeom prst="rect">
            <a:avLst/>
          </a:prstGeom>
          <a:solidFill>
            <a:srgbClr val="23272A"/>
          </a:solidFill>
          <a:ln/>
        </p:spPr>
        <p:txBody>
          <a:bodyPr wrap="square" lIns="0" tIns="10160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   Advantage</a:t>
            </a:r>
            <a:endParaRPr lang="en-US" sz="1200" dirty="0"/>
          </a:p>
        </p:txBody>
      </p:sp>
      <p:sp>
        <p:nvSpPr>
          <p:cNvPr id="6" name="Text 4"/>
          <p:cNvSpPr txBox="1"/>
          <p:nvPr/>
        </p:nvSpPr>
        <p:spPr>
          <a:xfrm>
            <a:off x="5303520" y="1463040"/>
            <a:ext cx="2743200" cy="365760"/>
          </a:xfrm>
          <a:prstGeom prst="rect">
            <a:avLst/>
          </a:prstGeom>
          <a:solidFill>
            <a:srgbClr val="23272A"/>
          </a:solidFill>
          <a:ln/>
        </p:spPr>
        <p:txBody>
          <a:bodyPr wrap="square" lIns="0" tIns="10160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   Limitation</a:t>
            </a:r>
            <a:endParaRPr lang="en-US" sz="1200" dirty="0"/>
          </a:p>
        </p:txBody>
      </p:sp>
      <p:sp>
        <p:nvSpPr>
          <p:cNvPr id="7" name="Shape 5"/>
          <p:cNvSpPr/>
          <p:nvPr/>
        </p:nvSpPr>
        <p:spPr>
          <a:xfrm>
            <a:off x="548640" y="1828800"/>
            <a:ext cx="2377440" cy="457200"/>
          </a:xfrm>
          <a:prstGeom prst="rect">
            <a:avLst/>
          </a:prstGeom>
          <a:solidFill>
            <a:srgbClr val="FFFFFF"/>
          </a:solidFill>
          <a:ln w="9525">
            <a:solidFill>
              <a:srgbClr val="D8D6CF"/>
            </a:solidFill>
            <a:prstDash val="solid"/>
          </a:ln>
        </p:spPr>
      </p:sp>
      <p:sp>
        <p:nvSpPr>
          <p:cNvPr id="8" name="Text 6"/>
          <p:cNvSpPr txBox="1"/>
          <p:nvPr/>
        </p:nvSpPr>
        <p:spPr>
          <a:xfrm>
            <a:off x="658368" y="1828800"/>
            <a:ext cx="2194560" cy="457200"/>
          </a:xfrm>
          <a:prstGeom prst="rect">
            <a:avLst/>
          </a:prstGeom>
          <a:noFill/>
          <a:ln/>
        </p:spPr>
        <p:txBody>
          <a:bodyPr wrap="square" lIns="0" tIns="0" rIns="0" bIns="0" rtlCol="0" anchor="ctr"/>
          <a:lstStyle/>
          <a:p>
            <a:pPr marL="0" indent="0">
              <a:buNone/>
            </a:pPr>
            <a:r>
              <a:rPr lang="en-US" sz="1100" b="1" dirty="0">
                <a:solidFill>
                  <a:srgbClr val="23272A"/>
                </a:solidFill>
                <a:latin typeface="Calibri" pitchFamily="34" charset="0"/>
                <a:ea typeface="Calibri" pitchFamily="34" charset="-122"/>
                <a:cs typeface="Calibri" pitchFamily="34" charset="-120"/>
              </a:rPr>
              <a:t>Crack Comparator Card</a:t>
            </a:r>
            <a:endParaRPr lang="en-US" sz="1100" dirty="0"/>
          </a:p>
        </p:txBody>
      </p:sp>
      <p:sp>
        <p:nvSpPr>
          <p:cNvPr id="9" name="Shape 7"/>
          <p:cNvSpPr/>
          <p:nvPr/>
        </p:nvSpPr>
        <p:spPr>
          <a:xfrm>
            <a:off x="2926080" y="1828800"/>
            <a:ext cx="2377440" cy="457200"/>
          </a:xfrm>
          <a:prstGeom prst="rect">
            <a:avLst/>
          </a:prstGeom>
          <a:solidFill>
            <a:srgbClr val="FFFFFF"/>
          </a:solidFill>
          <a:ln w="9525">
            <a:solidFill>
              <a:srgbClr val="D8D6CF"/>
            </a:solidFill>
            <a:prstDash val="solid"/>
          </a:ln>
        </p:spPr>
      </p:sp>
      <p:sp>
        <p:nvSpPr>
          <p:cNvPr id="10" name="Text 8"/>
          <p:cNvSpPr txBox="1"/>
          <p:nvPr/>
        </p:nvSpPr>
        <p:spPr>
          <a:xfrm>
            <a:off x="3035808" y="1828800"/>
            <a:ext cx="2194560" cy="45720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Cheap &amp; simple</a:t>
            </a:r>
            <a:endParaRPr lang="en-US" sz="1100" dirty="0"/>
          </a:p>
        </p:txBody>
      </p:sp>
      <p:sp>
        <p:nvSpPr>
          <p:cNvPr id="11" name="Shape 9"/>
          <p:cNvSpPr/>
          <p:nvPr/>
        </p:nvSpPr>
        <p:spPr>
          <a:xfrm>
            <a:off x="5303520" y="1828800"/>
            <a:ext cx="2743200" cy="457200"/>
          </a:xfrm>
          <a:prstGeom prst="rect">
            <a:avLst/>
          </a:prstGeom>
          <a:solidFill>
            <a:srgbClr val="FFFFFF"/>
          </a:solidFill>
          <a:ln w="9525">
            <a:solidFill>
              <a:srgbClr val="D8D6CF"/>
            </a:solidFill>
            <a:prstDash val="solid"/>
          </a:ln>
        </p:spPr>
      </p:sp>
      <p:sp>
        <p:nvSpPr>
          <p:cNvPr id="12" name="Text 10"/>
          <p:cNvSpPr txBox="1"/>
          <p:nvPr/>
        </p:nvSpPr>
        <p:spPr>
          <a:xfrm>
            <a:off x="5413248" y="1828800"/>
            <a:ext cx="2560320" cy="45720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Manual reading</a:t>
            </a:r>
            <a:endParaRPr lang="en-US" sz="1100" dirty="0"/>
          </a:p>
        </p:txBody>
      </p:sp>
      <p:sp>
        <p:nvSpPr>
          <p:cNvPr id="13" name="Shape 11"/>
          <p:cNvSpPr/>
          <p:nvPr/>
        </p:nvSpPr>
        <p:spPr>
          <a:xfrm>
            <a:off x="548640" y="2286000"/>
            <a:ext cx="2377440" cy="457200"/>
          </a:xfrm>
          <a:prstGeom prst="rect">
            <a:avLst/>
          </a:prstGeom>
          <a:solidFill>
            <a:srgbClr val="E7E6E1"/>
          </a:solidFill>
          <a:ln w="9525">
            <a:solidFill>
              <a:srgbClr val="D8D6CF"/>
            </a:solidFill>
            <a:prstDash val="solid"/>
          </a:ln>
        </p:spPr>
      </p:sp>
      <p:sp>
        <p:nvSpPr>
          <p:cNvPr id="14" name="Text 12"/>
          <p:cNvSpPr txBox="1"/>
          <p:nvPr/>
        </p:nvSpPr>
        <p:spPr>
          <a:xfrm>
            <a:off x="658368" y="2286000"/>
            <a:ext cx="2194560" cy="457200"/>
          </a:xfrm>
          <a:prstGeom prst="rect">
            <a:avLst/>
          </a:prstGeom>
          <a:noFill/>
          <a:ln/>
        </p:spPr>
        <p:txBody>
          <a:bodyPr wrap="square" lIns="0" tIns="0" rIns="0" bIns="0" rtlCol="0" anchor="ctr"/>
          <a:lstStyle/>
          <a:p>
            <a:pPr marL="0" indent="0">
              <a:buNone/>
            </a:pPr>
            <a:r>
              <a:rPr lang="en-US" sz="1100" b="1" dirty="0">
                <a:solidFill>
                  <a:srgbClr val="23272A"/>
                </a:solidFill>
                <a:latin typeface="Calibri" pitchFamily="34" charset="0"/>
                <a:ea typeface="Calibri" pitchFamily="34" charset="-122"/>
                <a:cs typeface="Calibri" pitchFamily="34" charset="-120"/>
              </a:rPr>
              <a:t>Handheld Microscope</a:t>
            </a:r>
            <a:endParaRPr lang="en-US" sz="1100" dirty="0"/>
          </a:p>
        </p:txBody>
      </p:sp>
      <p:sp>
        <p:nvSpPr>
          <p:cNvPr id="15" name="Shape 13"/>
          <p:cNvSpPr/>
          <p:nvPr/>
        </p:nvSpPr>
        <p:spPr>
          <a:xfrm>
            <a:off x="2926080" y="2286000"/>
            <a:ext cx="2377440" cy="457200"/>
          </a:xfrm>
          <a:prstGeom prst="rect">
            <a:avLst/>
          </a:prstGeom>
          <a:solidFill>
            <a:srgbClr val="E7E6E1"/>
          </a:solidFill>
          <a:ln w="9525">
            <a:solidFill>
              <a:srgbClr val="D8D6CF"/>
            </a:solidFill>
            <a:prstDash val="solid"/>
          </a:ln>
        </p:spPr>
      </p:sp>
      <p:sp>
        <p:nvSpPr>
          <p:cNvPr id="16" name="Text 14"/>
          <p:cNvSpPr txBox="1"/>
          <p:nvPr/>
        </p:nvSpPr>
        <p:spPr>
          <a:xfrm>
            <a:off x="3035808" y="2286000"/>
            <a:ext cx="2194560" cy="45720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More precise</a:t>
            </a:r>
            <a:endParaRPr lang="en-US" sz="1100" dirty="0"/>
          </a:p>
        </p:txBody>
      </p:sp>
      <p:sp>
        <p:nvSpPr>
          <p:cNvPr id="17" name="Shape 15"/>
          <p:cNvSpPr/>
          <p:nvPr/>
        </p:nvSpPr>
        <p:spPr>
          <a:xfrm>
            <a:off x="5303520" y="2286000"/>
            <a:ext cx="2743200" cy="457200"/>
          </a:xfrm>
          <a:prstGeom prst="rect">
            <a:avLst/>
          </a:prstGeom>
          <a:solidFill>
            <a:srgbClr val="E7E6E1"/>
          </a:solidFill>
          <a:ln w="9525">
            <a:solidFill>
              <a:srgbClr val="D8D6CF"/>
            </a:solidFill>
            <a:prstDash val="solid"/>
          </a:ln>
        </p:spPr>
      </p:sp>
      <p:sp>
        <p:nvSpPr>
          <p:cNvPr id="18" name="Text 16"/>
          <p:cNvSpPr txBox="1"/>
          <p:nvPr/>
        </p:nvSpPr>
        <p:spPr>
          <a:xfrm>
            <a:off x="5413248" y="2286000"/>
            <a:ext cx="2560320" cy="45720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Requires trained operator</a:t>
            </a:r>
            <a:endParaRPr lang="en-US" sz="1100" dirty="0"/>
          </a:p>
        </p:txBody>
      </p:sp>
      <p:sp>
        <p:nvSpPr>
          <p:cNvPr id="19" name="Shape 17"/>
          <p:cNvSpPr/>
          <p:nvPr/>
        </p:nvSpPr>
        <p:spPr>
          <a:xfrm>
            <a:off x="548640" y="2743200"/>
            <a:ext cx="2377440" cy="457200"/>
          </a:xfrm>
          <a:prstGeom prst="rect">
            <a:avLst/>
          </a:prstGeom>
          <a:solidFill>
            <a:srgbClr val="FFFFFF"/>
          </a:solidFill>
          <a:ln w="9525">
            <a:solidFill>
              <a:srgbClr val="D8D6CF"/>
            </a:solidFill>
            <a:prstDash val="solid"/>
          </a:ln>
        </p:spPr>
      </p:sp>
      <p:sp>
        <p:nvSpPr>
          <p:cNvPr id="20" name="Text 18"/>
          <p:cNvSpPr txBox="1"/>
          <p:nvPr/>
        </p:nvSpPr>
        <p:spPr>
          <a:xfrm>
            <a:off x="658368" y="2743200"/>
            <a:ext cx="2194560" cy="457200"/>
          </a:xfrm>
          <a:prstGeom prst="rect">
            <a:avLst/>
          </a:prstGeom>
          <a:noFill/>
          <a:ln/>
        </p:spPr>
        <p:txBody>
          <a:bodyPr wrap="square" lIns="0" tIns="0" rIns="0" bIns="0" rtlCol="0" anchor="ctr"/>
          <a:lstStyle/>
          <a:p>
            <a:pPr marL="0" indent="0">
              <a:buNone/>
            </a:pPr>
            <a:r>
              <a:rPr lang="en-US" sz="1100" b="1" dirty="0">
                <a:solidFill>
                  <a:srgbClr val="23272A"/>
                </a:solidFill>
                <a:latin typeface="Calibri" pitchFamily="34" charset="0"/>
                <a:ea typeface="Calibri" pitchFamily="34" charset="-122"/>
                <a:cs typeface="Calibri" pitchFamily="34" charset="-120"/>
              </a:rPr>
              <a:t>Digital Crack Gauge</a:t>
            </a:r>
            <a:endParaRPr lang="en-US" sz="1100" dirty="0"/>
          </a:p>
        </p:txBody>
      </p:sp>
      <p:sp>
        <p:nvSpPr>
          <p:cNvPr id="21" name="Shape 19"/>
          <p:cNvSpPr/>
          <p:nvPr/>
        </p:nvSpPr>
        <p:spPr>
          <a:xfrm>
            <a:off x="2926080" y="2743200"/>
            <a:ext cx="2377440" cy="457200"/>
          </a:xfrm>
          <a:prstGeom prst="rect">
            <a:avLst/>
          </a:prstGeom>
          <a:solidFill>
            <a:srgbClr val="FFFFFF"/>
          </a:solidFill>
          <a:ln w="9525">
            <a:solidFill>
              <a:srgbClr val="D8D6CF"/>
            </a:solidFill>
            <a:prstDash val="solid"/>
          </a:ln>
        </p:spPr>
      </p:sp>
      <p:sp>
        <p:nvSpPr>
          <p:cNvPr id="22" name="Text 20"/>
          <p:cNvSpPr txBox="1"/>
          <p:nvPr/>
        </p:nvSpPr>
        <p:spPr>
          <a:xfrm>
            <a:off x="3035808" y="2743200"/>
            <a:ext cx="2194560" cy="45720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Digital measurement</a:t>
            </a:r>
            <a:endParaRPr lang="en-US" sz="1100" dirty="0"/>
          </a:p>
        </p:txBody>
      </p:sp>
      <p:sp>
        <p:nvSpPr>
          <p:cNvPr id="23" name="Shape 21"/>
          <p:cNvSpPr/>
          <p:nvPr/>
        </p:nvSpPr>
        <p:spPr>
          <a:xfrm>
            <a:off x="5303520" y="2743200"/>
            <a:ext cx="2743200" cy="457200"/>
          </a:xfrm>
          <a:prstGeom prst="rect">
            <a:avLst/>
          </a:prstGeom>
          <a:solidFill>
            <a:srgbClr val="FFFFFF"/>
          </a:solidFill>
          <a:ln w="9525">
            <a:solidFill>
              <a:srgbClr val="D8D6CF"/>
            </a:solidFill>
            <a:prstDash val="solid"/>
          </a:ln>
        </p:spPr>
      </p:sp>
      <p:sp>
        <p:nvSpPr>
          <p:cNvPr id="24" name="Text 22"/>
          <p:cNvSpPr txBox="1"/>
          <p:nvPr/>
        </p:nvSpPr>
        <p:spPr>
          <a:xfrm>
            <a:off x="5413248" y="2743200"/>
            <a:ext cx="2560320" cy="45720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Costly</a:t>
            </a:r>
            <a:endParaRPr lang="en-US" sz="1100" dirty="0"/>
          </a:p>
        </p:txBody>
      </p:sp>
      <p:sp>
        <p:nvSpPr>
          <p:cNvPr id="25" name="Shape 23"/>
          <p:cNvSpPr/>
          <p:nvPr/>
        </p:nvSpPr>
        <p:spPr>
          <a:xfrm>
            <a:off x="548640" y="3200400"/>
            <a:ext cx="2377440" cy="457200"/>
          </a:xfrm>
          <a:prstGeom prst="rect">
            <a:avLst/>
          </a:prstGeom>
          <a:solidFill>
            <a:srgbClr val="E7E6E1"/>
          </a:solidFill>
          <a:ln w="9525">
            <a:solidFill>
              <a:srgbClr val="D8D6CF"/>
            </a:solidFill>
            <a:prstDash val="solid"/>
          </a:ln>
        </p:spPr>
      </p:sp>
      <p:sp>
        <p:nvSpPr>
          <p:cNvPr id="26" name="Text 24"/>
          <p:cNvSpPr txBox="1"/>
          <p:nvPr/>
        </p:nvSpPr>
        <p:spPr>
          <a:xfrm>
            <a:off x="658368" y="3200400"/>
            <a:ext cx="2194560" cy="457200"/>
          </a:xfrm>
          <a:prstGeom prst="rect">
            <a:avLst/>
          </a:prstGeom>
          <a:noFill/>
          <a:ln/>
        </p:spPr>
        <p:txBody>
          <a:bodyPr wrap="square" lIns="0" tIns="0" rIns="0" bIns="0" rtlCol="0" anchor="ctr"/>
          <a:lstStyle/>
          <a:p>
            <a:pPr marL="0" indent="0">
              <a:buNone/>
            </a:pPr>
            <a:r>
              <a:rPr lang="en-US" sz="1100" b="1" dirty="0">
                <a:solidFill>
                  <a:srgbClr val="23272A"/>
                </a:solidFill>
                <a:latin typeface="Calibri" pitchFamily="34" charset="0"/>
                <a:ea typeface="Calibri" pitchFamily="34" charset="-122"/>
                <a:cs typeface="Calibri" pitchFamily="34" charset="-120"/>
              </a:rPr>
              <a:t>Smartphone Apps</a:t>
            </a:r>
            <a:endParaRPr lang="en-US" sz="1100" dirty="0"/>
          </a:p>
        </p:txBody>
      </p:sp>
      <p:sp>
        <p:nvSpPr>
          <p:cNvPr id="27" name="Shape 25"/>
          <p:cNvSpPr/>
          <p:nvPr/>
        </p:nvSpPr>
        <p:spPr>
          <a:xfrm>
            <a:off x="2926080" y="3200400"/>
            <a:ext cx="2377440" cy="457200"/>
          </a:xfrm>
          <a:prstGeom prst="rect">
            <a:avLst/>
          </a:prstGeom>
          <a:solidFill>
            <a:srgbClr val="E7E6E1"/>
          </a:solidFill>
          <a:ln w="9525">
            <a:solidFill>
              <a:srgbClr val="D8D6CF"/>
            </a:solidFill>
            <a:prstDash val="solid"/>
          </a:ln>
        </p:spPr>
      </p:sp>
      <p:sp>
        <p:nvSpPr>
          <p:cNvPr id="28" name="Text 26"/>
          <p:cNvSpPr txBox="1"/>
          <p:nvPr/>
        </p:nvSpPr>
        <p:spPr>
          <a:xfrm>
            <a:off x="3035808" y="3200400"/>
            <a:ext cx="2194560" cy="45720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Portable</a:t>
            </a:r>
            <a:endParaRPr lang="en-US" sz="1100" dirty="0"/>
          </a:p>
        </p:txBody>
      </p:sp>
      <p:sp>
        <p:nvSpPr>
          <p:cNvPr id="29" name="Shape 27"/>
          <p:cNvSpPr/>
          <p:nvPr/>
        </p:nvSpPr>
        <p:spPr>
          <a:xfrm>
            <a:off x="5303520" y="3200400"/>
            <a:ext cx="2743200" cy="457200"/>
          </a:xfrm>
          <a:prstGeom prst="rect">
            <a:avLst/>
          </a:prstGeom>
          <a:solidFill>
            <a:srgbClr val="E7E6E1"/>
          </a:solidFill>
          <a:ln w="9525">
            <a:solidFill>
              <a:srgbClr val="D8D6CF"/>
            </a:solidFill>
            <a:prstDash val="solid"/>
          </a:ln>
        </p:spPr>
      </p:sp>
      <p:sp>
        <p:nvSpPr>
          <p:cNvPr id="30" name="Text 28"/>
          <p:cNvSpPr txBox="1"/>
          <p:nvPr/>
        </p:nvSpPr>
        <p:spPr>
          <a:xfrm>
            <a:off x="5413248" y="3200400"/>
            <a:ext cx="2560320" cy="45720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Accuracy depends on imaging/calibration</a:t>
            </a:r>
            <a:endParaRPr lang="en-US" sz="1100" dirty="0"/>
          </a:p>
        </p:txBody>
      </p:sp>
      <p:sp>
        <p:nvSpPr>
          <p:cNvPr id="31" name="Text 29"/>
          <p:cNvSpPr txBox="1"/>
          <p:nvPr/>
        </p:nvSpPr>
        <p:spPr>
          <a:xfrm>
            <a:off x="548640" y="3926917"/>
            <a:ext cx="7498080" cy="502920"/>
          </a:xfrm>
          <a:prstGeom prst="rect">
            <a:avLst/>
          </a:prstGeom>
          <a:noFill/>
          <a:ln/>
        </p:spPr>
        <p:txBody>
          <a:bodyPr wrap="square" rtlCol="0" anchor="ctr"/>
          <a:lstStyle/>
          <a:p>
            <a:pPr marL="0" indent="0">
              <a:buNone/>
            </a:pPr>
            <a:r>
              <a:rPr lang="en-US" sz="1600" i="1" dirty="0">
                <a:solidFill>
                  <a:srgbClr val="5B5F61"/>
                </a:solidFill>
                <a:latin typeface="Calibri" pitchFamily="34" charset="0"/>
                <a:ea typeface="Calibri" pitchFamily="34" charset="-122"/>
                <a:cs typeface="Calibri" pitchFamily="34" charset="-120"/>
              </a:rPr>
              <a:t>ACI identifies crack comparators and scaled optical devices such as handheld microscopes as established crack-width measurement approaches.</a:t>
            </a:r>
            <a:endParaRPr lang="en-US" sz="1600" dirty="0"/>
          </a:p>
        </p:txBody>
      </p:sp>
      <p:sp>
        <p:nvSpPr>
          <p:cNvPr id="32" name="Shape 30"/>
          <p:cNvSpPr/>
          <p:nvPr/>
        </p:nvSpPr>
        <p:spPr>
          <a:xfrm>
            <a:off x="8421106" y="1438023"/>
            <a:ext cx="3200400" cy="3657600"/>
          </a:xfrm>
          <a:prstGeom prst="roundRect">
            <a:avLst>
              <a:gd name="adj" fmla="val 1714"/>
            </a:avLst>
          </a:prstGeom>
          <a:solidFill>
            <a:srgbClr val="FFFFFF"/>
          </a:solidFill>
          <a:ln/>
          <a:effectLst>
            <a:outerShdw blurRad="76200" dist="25400" dir="5400000" algn="bl" rotWithShape="0">
              <a:srgbClr val="1A1A1A">
                <a:alpha val="18000"/>
              </a:srgbClr>
            </a:outerShdw>
          </a:effectLst>
        </p:spPr>
      </p:sp>
      <p:sp>
        <p:nvSpPr>
          <p:cNvPr id="33" name="Text 31"/>
          <p:cNvSpPr txBox="1"/>
          <p:nvPr/>
        </p:nvSpPr>
        <p:spPr>
          <a:xfrm>
            <a:off x="8595360" y="1600200"/>
            <a:ext cx="2834640" cy="274320"/>
          </a:xfrm>
          <a:prstGeom prst="rect">
            <a:avLst/>
          </a:prstGeom>
          <a:noFill/>
          <a:ln/>
        </p:spPr>
        <p:txBody>
          <a:bodyPr wrap="square" rtlCol="0" anchor="ctr"/>
          <a:lstStyle/>
          <a:p>
            <a:pPr marL="0" indent="0">
              <a:buNone/>
            </a:pPr>
            <a:r>
              <a:rPr lang="en-US" sz="1300" b="1" dirty="0">
                <a:solidFill>
                  <a:srgbClr val="23272A"/>
                </a:solidFill>
                <a:latin typeface="Cambria" pitchFamily="34" charset="0"/>
                <a:ea typeface="Cambria" pitchFamily="34" charset="-122"/>
                <a:cs typeface="Cambria" pitchFamily="34" charset="-120"/>
              </a:rPr>
              <a:t>The Gap</a:t>
            </a:r>
            <a:endParaRPr lang="en-US" sz="1300" dirty="0"/>
          </a:p>
        </p:txBody>
      </p:sp>
      <p:sp>
        <p:nvSpPr>
          <p:cNvPr id="34" name="Shape 32"/>
          <p:cNvSpPr/>
          <p:nvPr/>
        </p:nvSpPr>
        <p:spPr>
          <a:xfrm>
            <a:off x="8915400" y="2011680"/>
            <a:ext cx="0" cy="2377440"/>
          </a:xfrm>
          <a:prstGeom prst="line">
            <a:avLst/>
          </a:prstGeom>
          <a:noFill/>
          <a:ln w="19050">
            <a:solidFill>
              <a:srgbClr val="8C8C86"/>
            </a:solidFill>
            <a:prstDash val="solid"/>
          </a:ln>
        </p:spPr>
      </p:sp>
      <p:sp>
        <p:nvSpPr>
          <p:cNvPr id="35" name="Shape 33"/>
          <p:cNvSpPr/>
          <p:nvPr/>
        </p:nvSpPr>
        <p:spPr>
          <a:xfrm>
            <a:off x="8915400" y="4389120"/>
            <a:ext cx="2331720" cy="0"/>
          </a:xfrm>
          <a:prstGeom prst="line">
            <a:avLst/>
          </a:prstGeom>
          <a:noFill/>
          <a:ln w="19050">
            <a:solidFill>
              <a:srgbClr val="8C8C86"/>
            </a:solidFill>
            <a:prstDash val="solid"/>
          </a:ln>
        </p:spPr>
      </p:sp>
      <p:sp>
        <p:nvSpPr>
          <p:cNvPr id="36" name="Text 34"/>
          <p:cNvSpPr txBox="1"/>
          <p:nvPr/>
        </p:nvSpPr>
        <p:spPr>
          <a:xfrm rot="16200000">
            <a:off x="8138160" y="2800807"/>
            <a:ext cx="1280160" cy="228600"/>
          </a:xfrm>
          <a:prstGeom prst="rect">
            <a:avLst/>
          </a:prstGeom>
          <a:noFill/>
          <a:ln/>
        </p:spPr>
        <p:txBody>
          <a:bodyPr wrap="square" rtlCol="0" anchor="ctr"/>
          <a:lstStyle/>
          <a:p>
            <a:r>
              <a:rPr lang="en-US" sz="1000" dirty="0">
                <a:solidFill>
                  <a:srgbClr val="5B5F61"/>
                </a:solidFill>
                <a:latin typeface="Calibri" pitchFamily="34" charset="0"/>
                <a:ea typeface="Calibri" pitchFamily="34" charset="-122"/>
                <a:cs typeface="Calibri" pitchFamily="34" charset="-120"/>
              </a:rPr>
              <a:t>Low cost →</a:t>
            </a:r>
            <a:endParaRPr lang="en-US" sz="1000" dirty="0"/>
          </a:p>
        </p:txBody>
      </p:sp>
      <p:sp>
        <p:nvSpPr>
          <p:cNvPr id="37" name="Text 35"/>
          <p:cNvSpPr txBox="1"/>
          <p:nvPr/>
        </p:nvSpPr>
        <p:spPr>
          <a:xfrm>
            <a:off x="9740646" y="4407666"/>
            <a:ext cx="1188720" cy="228600"/>
          </a:xfrm>
          <a:prstGeom prst="rect">
            <a:avLst/>
          </a:prstGeom>
          <a:noFill/>
          <a:ln/>
        </p:spPr>
        <p:txBody>
          <a:bodyPr wrap="square" rtlCol="0" anchor="ctr"/>
          <a:lstStyle/>
          <a:p>
            <a:pPr marL="0" indent="0">
              <a:buNone/>
            </a:pPr>
            <a:r>
              <a:rPr lang="en-US" sz="1000" dirty="0">
                <a:solidFill>
                  <a:srgbClr val="5B5F61"/>
                </a:solidFill>
                <a:latin typeface="Calibri" pitchFamily="34" charset="0"/>
                <a:ea typeface="Calibri" pitchFamily="34" charset="-122"/>
                <a:cs typeface="Calibri" pitchFamily="34" charset="-120"/>
              </a:rPr>
              <a:t>Automation →</a:t>
            </a:r>
            <a:endParaRPr lang="en-US" sz="1000" dirty="0"/>
          </a:p>
        </p:txBody>
      </p:sp>
      <p:sp>
        <p:nvSpPr>
          <p:cNvPr id="38" name="Shape 36"/>
          <p:cNvSpPr/>
          <p:nvPr/>
        </p:nvSpPr>
        <p:spPr>
          <a:xfrm>
            <a:off x="9280246" y="2384755"/>
            <a:ext cx="109728" cy="109728"/>
          </a:xfrm>
          <a:prstGeom prst="ellipse">
            <a:avLst/>
          </a:prstGeom>
          <a:solidFill>
            <a:srgbClr val="8C8C86"/>
          </a:solidFill>
          <a:ln/>
        </p:spPr>
      </p:sp>
      <p:sp>
        <p:nvSpPr>
          <p:cNvPr id="39" name="Text 37"/>
          <p:cNvSpPr txBox="1"/>
          <p:nvPr/>
        </p:nvSpPr>
        <p:spPr>
          <a:xfrm>
            <a:off x="9280246" y="2384755"/>
            <a:ext cx="109728" cy="109728"/>
          </a:xfrm>
          <a:prstGeom prst="rect">
            <a:avLst/>
          </a:prstGeom>
          <a:noFill/>
          <a:ln/>
        </p:spPr>
        <p:txBody>
          <a:bodyPr wrap="square" lIns="0" tIns="0" rIns="0" bIns="0" rtlCol="0" anchor="ctr"/>
          <a:lstStyle/>
          <a:p>
            <a:pPr marL="0" indent="0" algn="ctr">
              <a:buNone/>
            </a:pPr>
            <a:endParaRPr lang="en-US" sz="100" dirty="0"/>
          </a:p>
        </p:txBody>
      </p:sp>
      <p:sp>
        <p:nvSpPr>
          <p:cNvPr id="40" name="Text 38"/>
          <p:cNvSpPr txBox="1"/>
          <p:nvPr/>
        </p:nvSpPr>
        <p:spPr>
          <a:xfrm>
            <a:off x="9098280" y="2501798"/>
            <a:ext cx="1371600" cy="320040"/>
          </a:xfrm>
          <a:prstGeom prst="rect">
            <a:avLst/>
          </a:prstGeom>
          <a:noFill/>
          <a:ln/>
        </p:spPr>
        <p:txBody>
          <a:bodyPr wrap="square" lIns="0" tIns="0" rIns="0" bIns="0" rtlCol="0" anchor="ctr"/>
          <a:lstStyle/>
          <a:p>
            <a:pPr marL="0" indent="0">
              <a:buNone/>
            </a:pPr>
            <a:r>
              <a:rPr lang="en-US" sz="850" dirty="0">
                <a:solidFill>
                  <a:srgbClr val="23272A"/>
                </a:solidFill>
                <a:latin typeface="Calibri" pitchFamily="34" charset="0"/>
                <a:ea typeface="Calibri" pitchFamily="34" charset="-122"/>
                <a:cs typeface="Calibri" pitchFamily="34" charset="-120"/>
              </a:rPr>
              <a:t>Manual</a:t>
            </a:r>
            <a:endParaRPr lang="en-US" sz="850" dirty="0"/>
          </a:p>
          <a:p>
            <a:pPr marL="0" indent="0">
              <a:buNone/>
            </a:pPr>
            <a:r>
              <a:rPr lang="en-US" sz="850" dirty="0">
                <a:solidFill>
                  <a:srgbClr val="23272A"/>
                </a:solidFill>
                <a:latin typeface="Calibri" pitchFamily="34" charset="0"/>
                <a:ea typeface="Calibri" pitchFamily="34" charset="-122"/>
                <a:cs typeface="Calibri" pitchFamily="34" charset="-120"/>
              </a:rPr>
              <a:t>Comparator</a:t>
            </a:r>
            <a:endParaRPr lang="en-US" sz="850" dirty="0"/>
          </a:p>
        </p:txBody>
      </p:sp>
      <p:sp>
        <p:nvSpPr>
          <p:cNvPr id="41" name="Shape 39"/>
          <p:cNvSpPr/>
          <p:nvPr/>
        </p:nvSpPr>
        <p:spPr>
          <a:xfrm>
            <a:off x="10772546" y="3668573"/>
            <a:ext cx="109728" cy="109728"/>
          </a:xfrm>
          <a:prstGeom prst="ellipse">
            <a:avLst/>
          </a:prstGeom>
          <a:solidFill>
            <a:srgbClr val="8C8C86"/>
          </a:solidFill>
          <a:ln/>
        </p:spPr>
      </p:sp>
      <p:sp>
        <p:nvSpPr>
          <p:cNvPr id="42" name="Text 40"/>
          <p:cNvSpPr txBox="1"/>
          <p:nvPr/>
        </p:nvSpPr>
        <p:spPr>
          <a:xfrm>
            <a:off x="10772546" y="3668573"/>
            <a:ext cx="109728" cy="109728"/>
          </a:xfrm>
          <a:prstGeom prst="rect">
            <a:avLst/>
          </a:prstGeom>
          <a:noFill/>
          <a:ln/>
        </p:spPr>
        <p:txBody>
          <a:bodyPr wrap="square" lIns="0" tIns="0" rIns="0" bIns="0" rtlCol="0" anchor="ctr"/>
          <a:lstStyle/>
          <a:p>
            <a:pPr marL="0" indent="0" algn="ctr">
              <a:buNone/>
            </a:pPr>
            <a:endParaRPr lang="en-US" sz="100" dirty="0"/>
          </a:p>
        </p:txBody>
      </p:sp>
      <p:sp>
        <p:nvSpPr>
          <p:cNvPr id="43" name="Text 41"/>
          <p:cNvSpPr txBox="1"/>
          <p:nvPr/>
        </p:nvSpPr>
        <p:spPr>
          <a:xfrm>
            <a:off x="10341346" y="3698178"/>
            <a:ext cx="1371600" cy="320040"/>
          </a:xfrm>
          <a:prstGeom prst="rect">
            <a:avLst/>
          </a:prstGeom>
          <a:noFill/>
          <a:ln/>
        </p:spPr>
        <p:txBody>
          <a:bodyPr wrap="square" lIns="0" tIns="0" rIns="0" bIns="0" rtlCol="0" anchor="ctr"/>
          <a:lstStyle/>
          <a:p>
            <a:pPr marL="0" indent="0">
              <a:buNone/>
            </a:pPr>
            <a:r>
              <a:rPr lang="en-US" sz="850" dirty="0">
                <a:solidFill>
                  <a:srgbClr val="23272A"/>
                </a:solidFill>
                <a:latin typeface="Calibri" pitchFamily="34" charset="0"/>
                <a:ea typeface="Calibri" pitchFamily="34" charset="-122"/>
                <a:cs typeface="Calibri" pitchFamily="34" charset="-120"/>
              </a:rPr>
              <a:t>Digital Gauge</a:t>
            </a:r>
            <a:endParaRPr lang="en-US" sz="850" dirty="0"/>
          </a:p>
        </p:txBody>
      </p:sp>
      <p:sp>
        <p:nvSpPr>
          <p:cNvPr id="44" name="Shape 42"/>
          <p:cNvSpPr/>
          <p:nvPr/>
        </p:nvSpPr>
        <p:spPr>
          <a:xfrm>
            <a:off x="10142982" y="2860243"/>
            <a:ext cx="109728" cy="109728"/>
          </a:xfrm>
          <a:prstGeom prst="ellipse">
            <a:avLst/>
          </a:prstGeom>
          <a:solidFill>
            <a:srgbClr val="F2661F"/>
          </a:solidFill>
          <a:ln/>
        </p:spPr>
      </p:sp>
      <p:sp>
        <p:nvSpPr>
          <p:cNvPr id="45" name="Text 43"/>
          <p:cNvSpPr txBox="1"/>
          <p:nvPr/>
        </p:nvSpPr>
        <p:spPr>
          <a:xfrm>
            <a:off x="10142982" y="2860243"/>
            <a:ext cx="109728" cy="109728"/>
          </a:xfrm>
          <a:prstGeom prst="rect">
            <a:avLst/>
          </a:prstGeom>
          <a:noFill/>
          <a:ln/>
        </p:spPr>
        <p:txBody>
          <a:bodyPr wrap="square" lIns="0" tIns="0" rIns="0" bIns="0" rtlCol="0" anchor="ctr"/>
          <a:lstStyle/>
          <a:p>
            <a:pPr marL="0" indent="0" algn="ctr">
              <a:buNone/>
            </a:pPr>
            <a:endParaRPr lang="en-US" sz="100" dirty="0"/>
          </a:p>
        </p:txBody>
      </p:sp>
      <p:sp>
        <p:nvSpPr>
          <p:cNvPr id="46" name="Text 44"/>
          <p:cNvSpPr txBox="1"/>
          <p:nvPr/>
        </p:nvSpPr>
        <p:spPr>
          <a:xfrm>
            <a:off x="9740646" y="2962656"/>
            <a:ext cx="1371600" cy="320040"/>
          </a:xfrm>
          <a:prstGeom prst="rect">
            <a:avLst/>
          </a:prstGeom>
          <a:noFill/>
          <a:ln/>
        </p:spPr>
        <p:txBody>
          <a:bodyPr wrap="square" lIns="0" tIns="0" rIns="0" bIns="0" rtlCol="0" anchor="ctr"/>
          <a:lstStyle/>
          <a:p>
            <a:pPr marL="0" indent="0">
              <a:buNone/>
            </a:pPr>
            <a:r>
              <a:rPr lang="en-US" sz="850" dirty="0">
                <a:solidFill>
                  <a:srgbClr val="23272A"/>
                </a:solidFill>
                <a:latin typeface="Calibri" pitchFamily="34" charset="0"/>
                <a:ea typeface="Calibri" pitchFamily="34" charset="-122"/>
                <a:cs typeface="Calibri" pitchFamily="34" charset="-120"/>
              </a:rPr>
              <a:t>Our Target</a:t>
            </a:r>
            <a:endParaRPr lang="en-US" sz="850" dirty="0"/>
          </a:p>
        </p:txBody>
      </p:sp>
      <p:sp>
        <p:nvSpPr>
          <p:cNvPr id="47" name="Text 45"/>
          <p:cNvSpPr txBox="1"/>
          <p:nvPr/>
        </p:nvSpPr>
        <p:spPr>
          <a:xfrm>
            <a:off x="8663940" y="4546983"/>
            <a:ext cx="2766060" cy="548640"/>
          </a:xfrm>
          <a:prstGeom prst="rect">
            <a:avLst/>
          </a:prstGeom>
          <a:noFill/>
          <a:ln/>
        </p:spPr>
        <p:txBody>
          <a:bodyPr wrap="square" rtlCol="0" anchor="ctr"/>
          <a:lstStyle/>
          <a:p>
            <a:pPr marL="0" indent="0">
              <a:buNone/>
            </a:pPr>
            <a:r>
              <a:rPr lang="en-US" sz="1050" b="1" dirty="0">
                <a:solidFill>
                  <a:srgbClr val="C24C10"/>
                </a:solidFill>
                <a:latin typeface="Calibri" pitchFamily="34" charset="0"/>
                <a:ea typeface="Calibri" pitchFamily="34" charset="-122"/>
                <a:cs typeface="Calibri" pitchFamily="34" charset="-120"/>
              </a:rPr>
              <a:t>Low-cost + Portable + Calibrated + Automated      	+ Digitally Traceable</a:t>
            </a:r>
            <a:endParaRPr lang="en-US" sz="1050" dirty="0"/>
          </a:p>
        </p:txBody>
      </p:sp>
      <p:sp>
        <p:nvSpPr>
          <p:cNvPr id="48" name="Text 46"/>
          <p:cNvSpPr txBox="1"/>
          <p:nvPr/>
        </p:nvSpPr>
        <p:spPr>
          <a:xfrm>
            <a:off x="548640" y="4524123"/>
            <a:ext cx="7498080" cy="1005840"/>
          </a:xfrm>
          <a:prstGeom prst="rect">
            <a:avLst/>
          </a:prstGeom>
          <a:noFill/>
          <a:ln/>
        </p:spPr>
        <p:txBody>
          <a:bodyPr wrap="square" rtlCol="0" anchor="ctr"/>
          <a:lstStyle/>
          <a:p>
            <a:pPr marL="0" indent="0">
              <a:buNone/>
            </a:pPr>
            <a:r>
              <a:rPr lang="en-US" sz="1400" dirty="0">
                <a:solidFill>
                  <a:srgbClr val="23272A"/>
                </a:solidFill>
                <a:latin typeface="Calibri" pitchFamily="34" charset="0"/>
                <a:ea typeface="Calibri" pitchFamily="34" charset="-122"/>
                <a:cs typeface="Calibri" pitchFamily="34" charset="-120"/>
              </a:rPr>
              <a:t>Existing manual tools are affordable but need human measurement; digital gauges automate but cost more; smartphone apps are portable but accuracy hinges on imaging and calibration. Our target is the middle ground.</a:t>
            </a:r>
            <a:endParaRPr lang="en-US" sz="1400" dirty="0"/>
          </a:p>
        </p:txBody>
      </p:sp>
      <p:sp>
        <p:nvSpPr>
          <p:cNvPr id="49" name="Text 47"/>
          <p:cNvSpPr txBox="1"/>
          <p:nvPr/>
        </p:nvSpPr>
        <p:spPr>
          <a:xfrm>
            <a:off x="548640" y="5623560"/>
            <a:ext cx="7498080" cy="457200"/>
          </a:xfrm>
          <a:prstGeom prst="rect">
            <a:avLst/>
          </a:prstGeom>
          <a:noFill/>
          <a:ln/>
        </p:spPr>
        <p:txBody>
          <a:bodyPr wrap="square" rtlCol="0" anchor="ctr"/>
          <a:lstStyle/>
          <a:p>
            <a:pPr marL="0" indent="0">
              <a:buNone/>
            </a:pPr>
            <a:r>
              <a:rPr lang="en-US" sz="1400" i="1" dirty="0">
                <a:solidFill>
                  <a:srgbClr val="5B5F61"/>
                </a:solidFill>
                <a:latin typeface="Calibri" pitchFamily="34" charset="0"/>
                <a:ea typeface="Calibri" pitchFamily="34" charset="-122"/>
                <a:cs typeface="Calibri" pitchFamily="34" charset="-120"/>
              </a:rPr>
              <a:t>A 2025 study on smartphone-based concrete crack-width measurement stresses standardized calibration and repeatable testing as the key validation requirement.</a:t>
            </a:r>
            <a:endParaRPr lang="en-US" sz="1400" dirty="0"/>
          </a:p>
        </p:txBody>
      </p:sp>
      <p:sp>
        <p:nvSpPr>
          <p:cNvPr id="50" name="Text 48"/>
          <p:cNvSpPr txBox="1"/>
          <p:nvPr/>
        </p:nvSpPr>
        <p:spPr>
          <a:xfrm>
            <a:off x="11292840" y="6510528"/>
            <a:ext cx="731520" cy="274320"/>
          </a:xfrm>
          <a:prstGeom prst="rect">
            <a:avLst/>
          </a:prstGeom>
          <a:noFill/>
          <a:ln/>
        </p:spPr>
        <p:txBody>
          <a:bodyPr wrap="square" rtlCol="0" anchor="ctr"/>
          <a:lstStyle/>
          <a:p>
            <a:pPr marL="0" indent="0" algn="r">
              <a:buNone/>
            </a:pPr>
            <a:r>
              <a:rPr lang="en-US" sz="900" dirty="0">
                <a:solidFill>
                  <a:srgbClr val="8C8C86"/>
                </a:solidFill>
                <a:latin typeface="Calibri" pitchFamily="34" charset="0"/>
                <a:ea typeface="Calibri" pitchFamily="34" charset="-122"/>
                <a:cs typeface="Calibri" pitchFamily="34" charset="-120"/>
              </a:rPr>
              <a:t>03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3E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F2661F"/>
                </a:solidFill>
                <a:latin typeface="Calibri" pitchFamily="34" charset="0"/>
                <a:ea typeface="Calibri" pitchFamily="34" charset="-122"/>
                <a:cs typeface="Calibri" pitchFamily="34" charset="-120"/>
              </a:rPr>
              <a:t>OUR ANSWER</a:t>
            </a:r>
            <a:endParaRPr lang="en-US" sz="1200" dirty="0"/>
          </a:p>
        </p:txBody>
      </p:sp>
      <p:sp>
        <p:nvSpPr>
          <p:cNvPr id="3" name="Text 1"/>
          <p:cNvSpPr txBox="1"/>
          <p:nvPr/>
        </p:nvSpPr>
        <p:spPr>
          <a:xfrm>
            <a:off x="548640" y="621792"/>
            <a:ext cx="10515600" cy="640080"/>
          </a:xfrm>
          <a:prstGeom prst="rect">
            <a:avLst/>
          </a:prstGeom>
          <a:noFill/>
          <a:ln/>
        </p:spPr>
        <p:txBody>
          <a:bodyPr wrap="square" lIns="0" tIns="0" rIns="0" bIns="0" rtlCol="0" anchor="ctr"/>
          <a:lstStyle/>
          <a:p>
            <a:pPr marL="0" indent="0">
              <a:buNone/>
            </a:pPr>
            <a:r>
              <a:rPr lang="en-US" sz="3000" b="1" dirty="0">
                <a:solidFill>
                  <a:srgbClr val="23272A"/>
                </a:solidFill>
                <a:latin typeface="Cambria" pitchFamily="34" charset="0"/>
                <a:ea typeface="Cambria" pitchFamily="34" charset="-122"/>
                <a:cs typeface="Cambria" pitchFamily="34" charset="-120"/>
              </a:rPr>
              <a:t>Our Solution: CrackGauge</a:t>
            </a:r>
            <a:endParaRPr lang="en-US" sz="3000" dirty="0"/>
          </a:p>
        </p:txBody>
      </p:sp>
      <p:sp>
        <p:nvSpPr>
          <p:cNvPr id="4" name="Shape 2"/>
          <p:cNvSpPr/>
          <p:nvPr/>
        </p:nvSpPr>
        <p:spPr>
          <a:xfrm>
            <a:off x="548640" y="1371600"/>
            <a:ext cx="3566160" cy="1051560"/>
          </a:xfrm>
          <a:prstGeom prst="roundRect">
            <a:avLst>
              <a:gd name="adj" fmla="val 5217"/>
            </a:avLst>
          </a:prstGeom>
          <a:solidFill>
            <a:srgbClr val="FFFFFF"/>
          </a:solidFill>
          <a:ln/>
          <a:effectLst>
            <a:outerShdw blurRad="76200" dist="25400" dir="5400000" algn="bl" rotWithShape="0">
              <a:srgbClr val="1A1A1A">
                <a:alpha val="18000"/>
              </a:srgbClr>
            </a:outerShdw>
          </a:effectLst>
        </p:spPr>
      </p:sp>
      <p:sp>
        <p:nvSpPr>
          <p:cNvPr id="5" name="Shape 3"/>
          <p:cNvSpPr/>
          <p:nvPr/>
        </p:nvSpPr>
        <p:spPr>
          <a:xfrm>
            <a:off x="713232" y="1536192"/>
            <a:ext cx="502920" cy="502920"/>
          </a:xfrm>
          <a:prstGeom prst="ellipse">
            <a:avLst/>
          </a:prstGeom>
          <a:solidFill>
            <a:srgbClr val="23272A"/>
          </a:solidFill>
          <a:ln/>
        </p:spPr>
      </p:sp>
      <p:sp>
        <p:nvSpPr>
          <p:cNvPr id="6" name="Text 4"/>
          <p:cNvSpPr txBox="1"/>
          <p:nvPr/>
        </p:nvSpPr>
        <p:spPr>
          <a:xfrm>
            <a:off x="713232" y="1536192"/>
            <a:ext cx="502920" cy="502920"/>
          </a:xfrm>
          <a:prstGeom prst="rect">
            <a:avLst/>
          </a:prstGeom>
          <a:noFill/>
          <a:ln/>
        </p:spPr>
        <p:txBody>
          <a:bodyPr wrap="square" lIns="0" tIns="0" rIns="0" bIns="0" rtlCol="0" anchor="ctr"/>
          <a:lstStyle/>
          <a:p>
            <a:pPr marL="0" indent="0" algn="ctr">
              <a:buNone/>
            </a:pPr>
            <a:r>
              <a:rPr lang="en-US" sz="2000" b="1" dirty="0">
                <a:solidFill>
                  <a:srgbClr val="F2661F"/>
                </a:solidFill>
                <a:latin typeface="Calibri" pitchFamily="34" charset="0"/>
                <a:ea typeface="Calibri" pitchFamily="34" charset="-122"/>
                <a:cs typeface="Calibri" pitchFamily="34" charset="-120"/>
              </a:rPr>
              <a:t>①</a:t>
            </a:r>
            <a:endParaRPr lang="en-US" sz="2000" dirty="0"/>
          </a:p>
        </p:txBody>
      </p:sp>
      <p:sp>
        <p:nvSpPr>
          <p:cNvPr id="7" name="Text 5"/>
          <p:cNvSpPr txBox="1"/>
          <p:nvPr/>
        </p:nvSpPr>
        <p:spPr>
          <a:xfrm>
            <a:off x="1371600" y="1517904"/>
            <a:ext cx="2606040" cy="365760"/>
          </a:xfrm>
          <a:prstGeom prst="rect">
            <a:avLst/>
          </a:prstGeom>
          <a:noFill/>
          <a:ln/>
        </p:spPr>
        <p:txBody>
          <a:bodyPr wrap="square" lIns="0" tIns="0" rIns="0" bIns="0" rtlCol="0" anchor="ctr"/>
          <a:lstStyle/>
          <a:p>
            <a:pPr marL="0" indent="0">
              <a:buNone/>
            </a:pPr>
            <a:r>
              <a:rPr lang="en-US" sz="1500" b="1" dirty="0">
                <a:solidFill>
                  <a:srgbClr val="23272A"/>
                </a:solidFill>
                <a:latin typeface="Cambria" pitchFamily="34" charset="0"/>
                <a:ea typeface="Cambria" pitchFamily="34" charset="-122"/>
                <a:cs typeface="Cambria" pitchFamily="34" charset="-120"/>
              </a:rPr>
              <a:t>Captures</a:t>
            </a:r>
            <a:endParaRPr lang="en-US" sz="1500" dirty="0"/>
          </a:p>
        </p:txBody>
      </p:sp>
      <p:sp>
        <p:nvSpPr>
          <p:cNvPr id="8" name="Text 6"/>
          <p:cNvSpPr txBox="1"/>
          <p:nvPr/>
        </p:nvSpPr>
        <p:spPr>
          <a:xfrm>
            <a:off x="1371600" y="1901952"/>
            <a:ext cx="2606040" cy="640080"/>
          </a:xfrm>
          <a:prstGeom prst="rect">
            <a:avLst/>
          </a:prstGeom>
          <a:noFill/>
          <a:ln/>
        </p:spPr>
        <p:txBody>
          <a:bodyPr wrap="square" lIns="0" tIns="0" rIns="0" bIns="0" rtlCol="0" anchor="ctr"/>
          <a:lstStyle/>
          <a:p>
            <a:pPr marL="0" indent="0">
              <a:buNone/>
            </a:pPr>
            <a:r>
              <a:rPr lang="en-US" sz="1050" dirty="0">
                <a:solidFill>
                  <a:srgbClr val="5B5F61"/>
                </a:solidFill>
                <a:latin typeface="Calibri" pitchFamily="34" charset="0"/>
                <a:ea typeface="Calibri" pitchFamily="34" charset="-122"/>
                <a:cs typeface="Calibri" pitchFamily="34" charset="-120"/>
              </a:rPr>
              <a:t>Concrete surface image under controlled lighting.</a:t>
            </a:r>
            <a:endParaRPr lang="en-US" sz="1050" dirty="0"/>
          </a:p>
        </p:txBody>
      </p:sp>
      <p:sp>
        <p:nvSpPr>
          <p:cNvPr id="9" name="Shape 7"/>
          <p:cNvSpPr/>
          <p:nvPr/>
        </p:nvSpPr>
        <p:spPr>
          <a:xfrm>
            <a:off x="4297680" y="1371600"/>
            <a:ext cx="3566160" cy="1051560"/>
          </a:xfrm>
          <a:prstGeom prst="roundRect">
            <a:avLst>
              <a:gd name="adj" fmla="val 5217"/>
            </a:avLst>
          </a:prstGeom>
          <a:solidFill>
            <a:srgbClr val="FFFFFF"/>
          </a:solidFill>
          <a:ln/>
          <a:effectLst>
            <a:outerShdw blurRad="76200" dist="25400" dir="5400000" algn="bl" rotWithShape="0">
              <a:srgbClr val="1A1A1A">
                <a:alpha val="18000"/>
              </a:srgbClr>
            </a:outerShdw>
          </a:effectLst>
        </p:spPr>
      </p:sp>
      <p:sp>
        <p:nvSpPr>
          <p:cNvPr id="10" name="Shape 8"/>
          <p:cNvSpPr/>
          <p:nvPr/>
        </p:nvSpPr>
        <p:spPr>
          <a:xfrm>
            <a:off x="4462272" y="1536192"/>
            <a:ext cx="502920" cy="502920"/>
          </a:xfrm>
          <a:prstGeom prst="ellipse">
            <a:avLst/>
          </a:prstGeom>
          <a:solidFill>
            <a:srgbClr val="23272A"/>
          </a:solidFill>
          <a:ln/>
        </p:spPr>
      </p:sp>
      <p:sp>
        <p:nvSpPr>
          <p:cNvPr id="11" name="Text 9"/>
          <p:cNvSpPr txBox="1"/>
          <p:nvPr/>
        </p:nvSpPr>
        <p:spPr>
          <a:xfrm>
            <a:off x="4462272" y="1536192"/>
            <a:ext cx="502920" cy="502920"/>
          </a:xfrm>
          <a:prstGeom prst="rect">
            <a:avLst/>
          </a:prstGeom>
          <a:noFill/>
          <a:ln/>
        </p:spPr>
        <p:txBody>
          <a:bodyPr wrap="square" lIns="0" tIns="0" rIns="0" bIns="0" rtlCol="0" anchor="ctr"/>
          <a:lstStyle/>
          <a:p>
            <a:pPr marL="0" indent="0" algn="ctr">
              <a:buNone/>
            </a:pPr>
            <a:r>
              <a:rPr lang="en-US" sz="2000" b="1" dirty="0">
                <a:solidFill>
                  <a:srgbClr val="F2661F"/>
                </a:solidFill>
                <a:latin typeface="Calibri" pitchFamily="34" charset="0"/>
                <a:ea typeface="Calibri" pitchFamily="34" charset="-122"/>
                <a:cs typeface="Calibri" pitchFamily="34" charset="-120"/>
              </a:rPr>
              <a:t>②</a:t>
            </a:r>
            <a:endParaRPr lang="en-US" sz="2000" dirty="0"/>
          </a:p>
        </p:txBody>
      </p:sp>
      <p:sp>
        <p:nvSpPr>
          <p:cNvPr id="12" name="Text 10"/>
          <p:cNvSpPr txBox="1"/>
          <p:nvPr/>
        </p:nvSpPr>
        <p:spPr>
          <a:xfrm>
            <a:off x="5120640" y="1517904"/>
            <a:ext cx="2606040" cy="365760"/>
          </a:xfrm>
          <a:prstGeom prst="rect">
            <a:avLst/>
          </a:prstGeom>
          <a:noFill/>
          <a:ln/>
        </p:spPr>
        <p:txBody>
          <a:bodyPr wrap="square" lIns="0" tIns="0" rIns="0" bIns="0" rtlCol="0" anchor="ctr"/>
          <a:lstStyle/>
          <a:p>
            <a:pPr marL="0" indent="0">
              <a:buNone/>
            </a:pPr>
            <a:r>
              <a:rPr lang="en-US" sz="1500" b="1" dirty="0">
                <a:solidFill>
                  <a:srgbClr val="23272A"/>
                </a:solidFill>
                <a:latin typeface="Cambria" pitchFamily="34" charset="0"/>
                <a:ea typeface="Cambria" pitchFamily="34" charset="-122"/>
                <a:cs typeface="Cambria" pitchFamily="34" charset="-120"/>
              </a:rPr>
              <a:t>Detects</a:t>
            </a:r>
            <a:endParaRPr lang="en-US" sz="1500" dirty="0"/>
          </a:p>
        </p:txBody>
      </p:sp>
      <p:sp>
        <p:nvSpPr>
          <p:cNvPr id="13" name="Text 11"/>
          <p:cNvSpPr txBox="1"/>
          <p:nvPr/>
        </p:nvSpPr>
        <p:spPr>
          <a:xfrm>
            <a:off x="5120640" y="1901952"/>
            <a:ext cx="2606040" cy="640080"/>
          </a:xfrm>
          <a:prstGeom prst="rect">
            <a:avLst/>
          </a:prstGeom>
          <a:noFill/>
          <a:ln/>
        </p:spPr>
        <p:txBody>
          <a:bodyPr wrap="square" lIns="0" tIns="0" rIns="0" bIns="0" rtlCol="0" anchor="ctr"/>
          <a:lstStyle/>
          <a:p>
            <a:pPr marL="0" indent="0">
              <a:buNone/>
            </a:pPr>
            <a:r>
              <a:rPr lang="en-US" sz="1050" dirty="0">
                <a:solidFill>
                  <a:srgbClr val="5B5F61"/>
                </a:solidFill>
                <a:latin typeface="Calibri" pitchFamily="34" charset="0"/>
                <a:ea typeface="Calibri" pitchFamily="34" charset="-122"/>
                <a:cs typeface="Calibri" pitchFamily="34" charset="-120"/>
              </a:rPr>
              <a:t>Automatically extracts crack regions.</a:t>
            </a:r>
            <a:endParaRPr lang="en-US" sz="1050" dirty="0"/>
          </a:p>
        </p:txBody>
      </p:sp>
      <p:sp>
        <p:nvSpPr>
          <p:cNvPr id="14" name="Shape 12"/>
          <p:cNvSpPr/>
          <p:nvPr/>
        </p:nvSpPr>
        <p:spPr>
          <a:xfrm>
            <a:off x="8046720" y="1371600"/>
            <a:ext cx="3566160" cy="1051560"/>
          </a:xfrm>
          <a:prstGeom prst="roundRect">
            <a:avLst>
              <a:gd name="adj" fmla="val 5217"/>
            </a:avLst>
          </a:prstGeom>
          <a:solidFill>
            <a:srgbClr val="FFFFFF"/>
          </a:solidFill>
          <a:ln/>
          <a:effectLst>
            <a:outerShdw blurRad="76200" dist="25400" dir="5400000" algn="bl" rotWithShape="0">
              <a:srgbClr val="1A1A1A">
                <a:alpha val="18000"/>
              </a:srgbClr>
            </a:outerShdw>
          </a:effectLst>
        </p:spPr>
      </p:sp>
      <p:sp>
        <p:nvSpPr>
          <p:cNvPr id="15" name="Shape 13"/>
          <p:cNvSpPr/>
          <p:nvPr/>
        </p:nvSpPr>
        <p:spPr>
          <a:xfrm>
            <a:off x="8211312" y="1536192"/>
            <a:ext cx="502920" cy="502920"/>
          </a:xfrm>
          <a:prstGeom prst="ellipse">
            <a:avLst/>
          </a:prstGeom>
          <a:solidFill>
            <a:srgbClr val="23272A"/>
          </a:solidFill>
          <a:ln/>
        </p:spPr>
      </p:sp>
      <p:sp>
        <p:nvSpPr>
          <p:cNvPr id="16" name="Text 14"/>
          <p:cNvSpPr txBox="1"/>
          <p:nvPr/>
        </p:nvSpPr>
        <p:spPr>
          <a:xfrm>
            <a:off x="8211312" y="1536192"/>
            <a:ext cx="502920" cy="502920"/>
          </a:xfrm>
          <a:prstGeom prst="rect">
            <a:avLst/>
          </a:prstGeom>
          <a:noFill/>
          <a:ln/>
        </p:spPr>
        <p:txBody>
          <a:bodyPr wrap="square" lIns="0" tIns="0" rIns="0" bIns="0" rtlCol="0" anchor="ctr"/>
          <a:lstStyle/>
          <a:p>
            <a:pPr marL="0" indent="0" algn="ctr">
              <a:buNone/>
            </a:pPr>
            <a:r>
              <a:rPr lang="en-US" sz="2000" b="1" dirty="0">
                <a:solidFill>
                  <a:srgbClr val="F2661F"/>
                </a:solidFill>
                <a:latin typeface="Calibri" pitchFamily="34" charset="0"/>
                <a:ea typeface="Calibri" pitchFamily="34" charset="-122"/>
                <a:cs typeface="Calibri" pitchFamily="34" charset="-120"/>
              </a:rPr>
              <a:t>③</a:t>
            </a:r>
            <a:endParaRPr lang="en-US" sz="2000" dirty="0"/>
          </a:p>
        </p:txBody>
      </p:sp>
      <p:sp>
        <p:nvSpPr>
          <p:cNvPr id="17" name="Text 15"/>
          <p:cNvSpPr txBox="1"/>
          <p:nvPr/>
        </p:nvSpPr>
        <p:spPr>
          <a:xfrm>
            <a:off x="8869680" y="1517904"/>
            <a:ext cx="2606040" cy="365760"/>
          </a:xfrm>
          <a:prstGeom prst="rect">
            <a:avLst/>
          </a:prstGeom>
          <a:noFill/>
          <a:ln/>
        </p:spPr>
        <p:txBody>
          <a:bodyPr wrap="square" lIns="0" tIns="0" rIns="0" bIns="0" rtlCol="0" anchor="ctr"/>
          <a:lstStyle/>
          <a:p>
            <a:pPr marL="0" indent="0">
              <a:buNone/>
            </a:pPr>
            <a:r>
              <a:rPr lang="en-US" sz="1500" b="1" dirty="0">
                <a:solidFill>
                  <a:srgbClr val="23272A"/>
                </a:solidFill>
                <a:latin typeface="Cambria" pitchFamily="34" charset="0"/>
                <a:ea typeface="Cambria" pitchFamily="34" charset="-122"/>
                <a:cs typeface="Cambria" pitchFamily="34" charset="-120"/>
              </a:rPr>
              <a:t>Measures</a:t>
            </a:r>
            <a:endParaRPr lang="en-US" sz="1500" dirty="0"/>
          </a:p>
        </p:txBody>
      </p:sp>
      <p:sp>
        <p:nvSpPr>
          <p:cNvPr id="18" name="Text 16"/>
          <p:cNvSpPr txBox="1"/>
          <p:nvPr/>
        </p:nvSpPr>
        <p:spPr>
          <a:xfrm>
            <a:off x="8869680" y="1901952"/>
            <a:ext cx="2606040" cy="640080"/>
          </a:xfrm>
          <a:prstGeom prst="rect">
            <a:avLst/>
          </a:prstGeom>
          <a:noFill/>
          <a:ln/>
        </p:spPr>
        <p:txBody>
          <a:bodyPr wrap="square" lIns="0" tIns="0" rIns="0" bIns="0" rtlCol="0" anchor="ctr"/>
          <a:lstStyle/>
          <a:p>
            <a:pPr marL="0" indent="0">
              <a:buNone/>
            </a:pPr>
            <a:r>
              <a:rPr lang="en-US" sz="1050" dirty="0">
                <a:solidFill>
                  <a:srgbClr val="5B5F61"/>
                </a:solidFill>
                <a:latin typeface="Calibri" pitchFamily="34" charset="0"/>
                <a:ea typeface="Calibri" pitchFamily="34" charset="-122"/>
                <a:cs typeface="Calibri" pitchFamily="34" charset="-120"/>
              </a:rPr>
              <a:t>Calculates max width, avg width, length, orientation.</a:t>
            </a:r>
            <a:endParaRPr lang="en-US" sz="1050" dirty="0"/>
          </a:p>
        </p:txBody>
      </p:sp>
      <p:sp>
        <p:nvSpPr>
          <p:cNvPr id="19" name="Shape 17"/>
          <p:cNvSpPr/>
          <p:nvPr/>
        </p:nvSpPr>
        <p:spPr>
          <a:xfrm>
            <a:off x="548640" y="2560320"/>
            <a:ext cx="3566160" cy="1051560"/>
          </a:xfrm>
          <a:prstGeom prst="roundRect">
            <a:avLst>
              <a:gd name="adj" fmla="val 5217"/>
            </a:avLst>
          </a:prstGeom>
          <a:solidFill>
            <a:srgbClr val="FFFFFF"/>
          </a:solidFill>
          <a:ln/>
          <a:effectLst>
            <a:outerShdw blurRad="76200" dist="25400" dir="5400000" algn="bl" rotWithShape="0">
              <a:srgbClr val="1A1A1A">
                <a:alpha val="18000"/>
              </a:srgbClr>
            </a:outerShdw>
          </a:effectLst>
        </p:spPr>
      </p:sp>
      <p:sp>
        <p:nvSpPr>
          <p:cNvPr id="20" name="Shape 18"/>
          <p:cNvSpPr/>
          <p:nvPr/>
        </p:nvSpPr>
        <p:spPr>
          <a:xfrm>
            <a:off x="713232" y="2724912"/>
            <a:ext cx="502920" cy="502920"/>
          </a:xfrm>
          <a:prstGeom prst="ellipse">
            <a:avLst/>
          </a:prstGeom>
          <a:solidFill>
            <a:srgbClr val="23272A"/>
          </a:solidFill>
          <a:ln/>
        </p:spPr>
      </p:sp>
      <p:sp>
        <p:nvSpPr>
          <p:cNvPr id="21" name="Text 19"/>
          <p:cNvSpPr txBox="1"/>
          <p:nvPr/>
        </p:nvSpPr>
        <p:spPr>
          <a:xfrm>
            <a:off x="713232" y="2724912"/>
            <a:ext cx="502920" cy="502920"/>
          </a:xfrm>
          <a:prstGeom prst="rect">
            <a:avLst/>
          </a:prstGeom>
          <a:noFill/>
          <a:ln/>
        </p:spPr>
        <p:txBody>
          <a:bodyPr wrap="square" lIns="0" tIns="0" rIns="0" bIns="0" rtlCol="0" anchor="ctr"/>
          <a:lstStyle/>
          <a:p>
            <a:pPr marL="0" indent="0" algn="ctr">
              <a:buNone/>
            </a:pPr>
            <a:r>
              <a:rPr lang="en-US" sz="2000" b="1" dirty="0">
                <a:solidFill>
                  <a:srgbClr val="F2661F"/>
                </a:solidFill>
                <a:latin typeface="Calibri" pitchFamily="34" charset="0"/>
                <a:ea typeface="Calibri" pitchFamily="34" charset="-122"/>
                <a:cs typeface="Calibri" pitchFamily="34" charset="-120"/>
              </a:rPr>
              <a:t>④</a:t>
            </a:r>
            <a:endParaRPr lang="en-US" sz="2000" dirty="0"/>
          </a:p>
        </p:txBody>
      </p:sp>
      <p:sp>
        <p:nvSpPr>
          <p:cNvPr id="22" name="Text 20"/>
          <p:cNvSpPr txBox="1"/>
          <p:nvPr/>
        </p:nvSpPr>
        <p:spPr>
          <a:xfrm>
            <a:off x="1371600" y="2706624"/>
            <a:ext cx="2606040" cy="365760"/>
          </a:xfrm>
          <a:prstGeom prst="rect">
            <a:avLst/>
          </a:prstGeom>
          <a:noFill/>
          <a:ln/>
        </p:spPr>
        <p:txBody>
          <a:bodyPr wrap="square" lIns="0" tIns="0" rIns="0" bIns="0" rtlCol="0" anchor="ctr"/>
          <a:lstStyle/>
          <a:p>
            <a:pPr marL="0" indent="0">
              <a:buNone/>
            </a:pPr>
            <a:r>
              <a:rPr lang="en-US" sz="1500" b="1" dirty="0">
                <a:solidFill>
                  <a:srgbClr val="23272A"/>
                </a:solidFill>
                <a:latin typeface="Cambria" pitchFamily="34" charset="0"/>
                <a:ea typeface="Cambria" pitchFamily="34" charset="-122"/>
                <a:cs typeface="Cambria" pitchFamily="34" charset="-120"/>
              </a:rPr>
              <a:t>Calibrates</a:t>
            </a:r>
            <a:endParaRPr lang="en-US" sz="1500" dirty="0"/>
          </a:p>
        </p:txBody>
      </p:sp>
      <p:sp>
        <p:nvSpPr>
          <p:cNvPr id="23" name="Text 21"/>
          <p:cNvSpPr txBox="1"/>
          <p:nvPr/>
        </p:nvSpPr>
        <p:spPr>
          <a:xfrm>
            <a:off x="1371600" y="3090672"/>
            <a:ext cx="2606040" cy="640080"/>
          </a:xfrm>
          <a:prstGeom prst="rect">
            <a:avLst/>
          </a:prstGeom>
          <a:noFill/>
          <a:ln/>
        </p:spPr>
        <p:txBody>
          <a:bodyPr wrap="square" lIns="0" tIns="0" rIns="0" bIns="0" rtlCol="0" anchor="ctr"/>
          <a:lstStyle/>
          <a:p>
            <a:pPr marL="0" indent="0">
              <a:buNone/>
            </a:pPr>
            <a:r>
              <a:rPr lang="en-US" sz="1050" dirty="0">
                <a:solidFill>
                  <a:srgbClr val="5B5F61"/>
                </a:solidFill>
                <a:latin typeface="Calibri" pitchFamily="34" charset="0"/>
                <a:ea typeface="Calibri" pitchFamily="34" charset="-122"/>
                <a:cs typeface="Calibri" pitchFamily="34" charset="-120"/>
              </a:rPr>
              <a:t>Converts pixels to millimeters via a physical marker.</a:t>
            </a:r>
            <a:endParaRPr lang="en-US" sz="1050" dirty="0"/>
          </a:p>
        </p:txBody>
      </p:sp>
      <p:sp>
        <p:nvSpPr>
          <p:cNvPr id="24" name="Shape 22"/>
          <p:cNvSpPr/>
          <p:nvPr/>
        </p:nvSpPr>
        <p:spPr>
          <a:xfrm>
            <a:off x="4297680" y="2560320"/>
            <a:ext cx="3566160" cy="1051560"/>
          </a:xfrm>
          <a:prstGeom prst="roundRect">
            <a:avLst>
              <a:gd name="adj" fmla="val 5217"/>
            </a:avLst>
          </a:prstGeom>
          <a:solidFill>
            <a:srgbClr val="FFFFFF"/>
          </a:solidFill>
          <a:ln/>
          <a:effectLst>
            <a:outerShdw blurRad="76200" dist="25400" dir="5400000" algn="bl" rotWithShape="0">
              <a:srgbClr val="1A1A1A">
                <a:alpha val="18000"/>
              </a:srgbClr>
            </a:outerShdw>
          </a:effectLst>
        </p:spPr>
      </p:sp>
      <p:sp>
        <p:nvSpPr>
          <p:cNvPr id="25" name="Shape 23"/>
          <p:cNvSpPr/>
          <p:nvPr/>
        </p:nvSpPr>
        <p:spPr>
          <a:xfrm>
            <a:off x="4462272" y="2724912"/>
            <a:ext cx="502920" cy="502920"/>
          </a:xfrm>
          <a:prstGeom prst="ellipse">
            <a:avLst/>
          </a:prstGeom>
          <a:solidFill>
            <a:srgbClr val="23272A"/>
          </a:solidFill>
          <a:ln/>
        </p:spPr>
      </p:sp>
      <p:sp>
        <p:nvSpPr>
          <p:cNvPr id="26" name="Text 24"/>
          <p:cNvSpPr txBox="1"/>
          <p:nvPr/>
        </p:nvSpPr>
        <p:spPr>
          <a:xfrm>
            <a:off x="4462272" y="2724912"/>
            <a:ext cx="502920" cy="502920"/>
          </a:xfrm>
          <a:prstGeom prst="rect">
            <a:avLst/>
          </a:prstGeom>
          <a:noFill/>
          <a:ln/>
        </p:spPr>
        <p:txBody>
          <a:bodyPr wrap="square" lIns="0" tIns="0" rIns="0" bIns="0" rtlCol="0" anchor="ctr"/>
          <a:lstStyle/>
          <a:p>
            <a:pPr marL="0" indent="0" algn="ctr">
              <a:buNone/>
            </a:pPr>
            <a:r>
              <a:rPr lang="en-US" sz="2000" b="1" dirty="0">
                <a:solidFill>
                  <a:srgbClr val="F2661F"/>
                </a:solidFill>
                <a:latin typeface="Calibri" pitchFamily="34" charset="0"/>
                <a:ea typeface="Calibri" pitchFamily="34" charset="-122"/>
                <a:cs typeface="Calibri" pitchFamily="34" charset="-120"/>
              </a:rPr>
              <a:t>⑤</a:t>
            </a:r>
            <a:endParaRPr lang="en-US" sz="2000" dirty="0"/>
          </a:p>
        </p:txBody>
      </p:sp>
      <p:sp>
        <p:nvSpPr>
          <p:cNvPr id="27" name="Text 25"/>
          <p:cNvSpPr txBox="1"/>
          <p:nvPr/>
        </p:nvSpPr>
        <p:spPr>
          <a:xfrm>
            <a:off x="5120640" y="2706624"/>
            <a:ext cx="2606040" cy="365760"/>
          </a:xfrm>
          <a:prstGeom prst="rect">
            <a:avLst/>
          </a:prstGeom>
          <a:noFill/>
          <a:ln/>
        </p:spPr>
        <p:txBody>
          <a:bodyPr wrap="square" lIns="0" tIns="0" rIns="0" bIns="0" rtlCol="0" anchor="ctr"/>
          <a:lstStyle/>
          <a:p>
            <a:pPr marL="0" indent="0">
              <a:buNone/>
            </a:pPr>
            <a:r>
              <a:rPr lang="en-US" sz="1500" b="1" dirty="0">
                <a:solidFill>
                  <a:srgbClr val="23272A"/>
                </a:solidFill>
                <a:latin typeface="Cambria" pitchFamily="34" charset="0"/>
                <a:ea typeface="Cambria" pitchFamily="34" charset="-122"/>
                <a:cs typeface="Cambria" pitchFamily="34" charset="-120"/>
              </a:rPr>
              <a:t>Records</a:t>
            </a:r>
            <a:endParaRPr lang="en-US" sz="1500" dirty="0"/>
          </a:p>
        </p:txBody>
      </p:sp>
      <p:sp>
        <p:nvSpPr>
          <p:cNvPr id="28" name="Text 26"/>
          <p:cNvSpPr txBox="1"/>
          <p:nvPr/>
        </p:nvSpPr>
        <p:spPr>
          <a:xfrm>
            <a:off x="5120640" y="3090672"/>
            <a:ext cx="2606040" cy="640080"/>
          </a:xfrm>
          <a:prstGeom prst="rect">
            <a:avLst/>
          </a:prstGeom>
          <a:noFill/>
          <a:ln/>
        </p:spPr>
        <p:txBody>
          <a:bodyPr wrap="square" lIns="0" tIns="0" rIns="0" bIns="0" rtlCol="0" anchor="ctr"/>
          <a:lstStyle/>
          <a:p>
            <a:pPr marL="0" indent="0">
              <a:buNone/>
            </a:pPr>
            <a:r>
              <a:rPr lang="en-US" sz="1050" dirty="0">
                <a:solidFill>
                  <a:srgbClr val="5B5F61"/>
                </a:solidFill>
                <a:latin typeface="Calibri" pitchFamily="34" charset="0"/>
                <a:ea typeface="Calibri" pitchFamily="34" charset="-122"/>
                <a:cs typeface="Calibri" pitchFamily="34" charset="-120"/>
              </a:rPr>
              <a:t>Stores image + measurements + timestamp.</a:t>
            </a:r>
            <a:endParaRPr lang="en-US" sz="1050" dirty="0"/>
          </a:p>
        </p:txBody>
      </p:sp>
      <p:sp>
        <p:nvSpPr>
          <p:cNvPr id="29" name="Shape 27"/>
          <p:cNvSpPr/>
          <p:nvPr/>
        </p:nvSpPr>
        <p:spPr>
          <a:xfrm>
            <a:off x="8046720" y="2560320"/>
            <a:ext cx="3566160" cy="1051560"/>
          </a:xfrm>
          <a:prstGeom prst="roundRect">
            <a:avLst>
              <a:gd name="adj" fmla="val 5217"/>
            </a:avLst>
          </a:prstGeom>
          <a:solidFill>
            <a:srgbClr val="FFFFFF"/>
          </a:solidFill>
          <a:ln/>
          <a:effectLst>
            <a:outerShdw blurRad="76200" dist="25400" dir="5400000" algn="bl" rotWithShape="0">
              <a:srgbClr val="1A1A1A">
                <a:alpha val="18000"/>
              </a:srgbClr>
            </a:outerShdw>
          </a:effectLst>
        </p:spPr>
      </p:sp>
      <p:sp>
        <p:nvSpPr>
          <p:cNvPr id="30" name="Shape 28"/>
          <p:cNvSpPr/>
          <p:nvPr/>
        </p:nvSpPr>
        <p:spPr>
          <a:xfrm>
            <a:off x="8211312" y="2724912"/>
            <a:ext cx="502920" cy="502920"/>
          </a:xfrm>
          <a:prstGeom prst="ellipse">
            <a:avLst/>
          </a:prstGeom>
          <a:solidFill>
            <a:srgbClr val="23272A"/>
          </a:solidFill>
          <a:ln/>
        </p:spPr>
      </p:sp>
      <p:sp>
        <p:nvSpPr>
          <p:cNvPr id="31" name="Text 29"/>
          <p:cNvSpPr txBox="1"/>
          <p:nvPr/>
        </p:nvSpPr>
        <p:spPr>
          <a:xfrm>
            <a:off x="8211312" y="2724912"/>
            <a:ext cx="502920" cy="502920"/>
          </a:xfrm>
          <a:prstGeom prst="rect">
            <a:avLst/>
          </a:prstGeom>
          <a:noFill/>
          <a:ln/>
        </p:spPr>
        <p:txBody>
          <a:bodyPr wrap="square" lIns="0" tIns="0" rIns="0" bIns="0" rtlCol="0" anchor="ctr"/>
          <a:lstStyle/>
          <a:p>
            <a:pPr marL="0" indent="0" algn="ctr">
              <a:buNone/>
            </a:pPr>
            <a:r>
              <a:rPr lang="en-US" sz="2000" b="1" dirty="0">
                <a:solidFill>
                  <a:srgbClr val="F2661F"/>
                </a:solidFill>
                <a:latin typeface="Calibri" pitchFamily="34" charset="0"/>
                <a:ea typeface="Calibri" pitchFamily="34" charset="-122"/>
                <a:cs typeface="Calibri" pitchFamily="34" charset="-120"/>
              </a:rPr>
              <a:t>⑥</a:t>
            </a:r>
            <a:endParaRPr lang="en-US" sz="2000" dirty="0"/>
          </a:p>
        </p:txBody>
      </p:sp>
      <p:sp>
        <p:nvSpPr>
          <p:cNvPr id="32" name="Text 30"/>
          <p:cNvSpPr txBox="1"/>
          <p:nvPr/>
        </p:nvSpPr>
        <p:spPr>
          <a:xfrm>
            <a:off x="8869680" y="2706624"/>
            <a:ext cx="2606040" cy="365760"/>
          </a:xfrm>
          <a:prstGeom prst="rect">
            <a:avLst/>
          </a:prstGeom>
          <a:noFill/>
          <a:ln/>
        </p:spPr>
        <p:txBody>
          <a:bodyPr wrap="square" lIns="0" tIns="0" rIns="0" bIns="0" rtlCol="0" anchor="ctr"/>
          <a:lstStyle/>
          <a:p>
            <a:pPr marL="0" indent="0">
              <a:buNone/>
            </a:pPr>
            <a:r>
              <a:rPr lang="en-US" sz="1500" b="1" dirty="0">
                <a:solidFill>
                  <a:srgbClr val="23272A"/>
                </a:solidFill>
                <a:latin typeface="Cambria" pitchFamily="34" charset="0"/>
                <a:ea typeface="Cambria" pitchFamily="34" charset="-122"/>
                <a:cs typeface="Cambria" pitchFamily="34" charset="-120"/>
              </a:rPr>
              <a:t>Reports</a:t>
            </a:r>
            <a:endParaRPr lang="en-US" sz="1500" dirty="0"/>
          </a:p>
        </p:txBody>
      </p:sp>
      <p:sp>
        <p:nvSpPr>
          <p:cNvPr id="33" name="Text 31"/>
          <p:cNvSpPr txBox="1"/>
          <p:nvPr/>
        </p:nvSpPr>
        <p:spPr>
          <a:xfrm>
            <a:off x="8869680" y="3090672"/>
            <a:ext cx="2606040" cy="640080"/>
          </a:xfrm>
          <a:prstGeom prst="rect">
            <a:avLst/>
          </a:prstGeom>
          <a:noFill/>
          <a:ln/>
        </p:spPr>
        <p:txBody>
          <a:bodyPr wrap="square" lIns="0" tIns="0" rIns="0" bIns="0" rtlCol="0" anchor="ctr"/>
          <a:lstStyle/>
          <a:p>
            <a:pPr marL="0" indent="0">
              <a:buNone/>
            </a:pPr>
            <a:r>
              <a:rPr lang="en-US" sz="1050" dirty="0">
                <a:solidFill>
                  <a:srgbClr val="5B5F61"/>
                </a:solidFill>
                <a:latin typeface="Calibri" pitchFamily="34" charset="0"/>
                <a:ea typeface="Calibri" pitchFamily="34" charset="-122"/>
                <a:cs typeface="Calibri" pitchFamily="34" charset="-120"/>
              </a:rPr>
              <a:t>Generates a digital inspection report.</a:t>
            </a:r>
            <a:endParaRPr lang="en-US" sz="1050" dirty="0"/>
          </a:p>
        </p:txBody>
      </p:sp>
      <p:sp>
        <p:nvSpPr>
          <p:cNvPr id="34" name="Shape 32"/>
          <p:cNvSpPr/>
          <p:nvPr/>
        </p:nvSpPr>
        <p:spPr>
          <a:xfrm>
            <a:off x="4754880" y="3794760"/>
            <a:ext cx="2651760" cy="502920"/>
          </a:xfrm>
          <a:prstGeom prst="roundRect">
            <a:avLst>
              <a:gd name="adj" fmla="val 14545"/>
            </a:avLst>
          </a:prstGeom>
          <a:solidFill>
            <a:srgbClr val="F2661F"/>
          </a:solidFill>
          <a:ln/>
        </p:spPr>
      </p:sp>
      <p:sp>
        <p:nvSpPr>
          <p:cNvPr id="35" name="Text 33"/>
          <p:cNvSpPr txBox="1"/>
          <p:nvPr/>
        </p:nvSpPr>
        <p:spPr>
          <a:xfrm>
            <a:off x="4754880" y="3794760"/>
            <a:ext cx="265176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CRACKGAUGE</a:t>
            </a:r>
            <a:endParaRPr lang="en-US" sz="1100" dirty="0"/>
          </a:p>
        </p:txBody>
      </p:sp>
      <p:sp>
        <p:nvSpPr>
          <p:cNvPr id="36" name="Shape 34"/>
          <p:cNvSpPr/>
          <p:nvPr/>
        </p:nvSpPr>
        <p:spPr>
          <a:xfrm flipH="1">
            <a:off x="2286000" y="4297680"/>
            <a:ext cx="2468878" cy="274320"/>
          </a:xfrm>
          <a:prstGeom prst="line">
            <a:avLst/>
          </a:prstGeom>
          <a:noFill/>
          <a:ln w="25400">
            <a:solidFill>
              <a:srgbClr val="8C8C86"/>
            </a:solidFill>
            <a:prstDash val="solid"/>
            <a:tailEnd type="triangle"/>
          </a:ln>
        </p:spPr>
      </p:sp>
      <p:sp>
        <p:nvSpPr>
          <p:cNvPr id="37" name="Shape 35"/>
          <p:cNvSpPr/>
          <p:nvPr/>
        </p:nvSpPr>
        <p:spPr>
          <a:xfrm>
            <a:off x="914400" y="4617720"/>
            <a:ext cx="2743200" cy="411480"/>
          </a:xfrm>
          <a:prstGeom prst="roundRect">
            <a:avLst>
              <a:gd name="adj" fmla="val 17778"/>
            </a:avLst>
          </a:prstGeom>
          <a:solidFill>
            <a:srgbClr val="2E3336"/>
          </a:solidFill>
          <a:ln/>
        </p:spPr>
      </p:sp>
      <p:sp>
        <p:nvSpPr>
          <p:cNvPr id="38" name="Text 36"/>
          <p:cNvSpPr txBox="1"/>
          <p:nvPr/>
        </p:nvSpPr>
        <p:spPr>
          <a:xfrm>
            <a:off x="914400" y="4617720"/>
            <a:ext cx="27432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Hardware</a:t>
            </a:r>
            <a:endParaRPr lang="en-US" sz="1100" dirty="0"/>
          </a:p>
        </p:txBody>
      </p:sp>
      <p:sp>
        <p:nvSpPr>
          <p:cNvPr id="39" name="Text 37"/>
          <p:cNvSpPr txBox="1"/>
          <p:nvPr/>
        </p:nvSpPr>
        <p:spPr>
          <a:xfrm>
            <a:off x="1143000" y="5166360"/>
            <a:ext cx="2286000" cy="27432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 Camera</a:t>
            </a:r>
            <a:endParaRPr lang="en-US" sz="1100" dirty="0"/>
          </a:p>
        </p:txBody>
      </p:sp>
      <p:sp>
        <p:nvSpPr>
          <p:cNvPr id="40" name="Text 38"/>
          <p:cNvSpPr txBox="1"/>
          <p:nvPr/>
        </p:nvSpPr>
        <p:spPr>
          <a:xfrm>
            <a:off x="1143000" y="5440680"/>
            <a:ext cx="2286000" cy="27432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 LED</a:t>
            </a:r>
            <a:endParaRPr lang="en-US" sz="1100" dirty="0"/>
          </a:p>
        </p:txBody>
      </p:sp>
      <p:sp>
        <p:nvSpPr>
          <p:cNvPr id="41" name="Text 39"/>
          <p:cNvSpPr txBox="1"/>
          <p:nvPr/>
        </p:nvSpPr>
        <p:spPr>
          <a:xfrm>
            <a:off x="1143000" y="5715000"/>
            <a:ext cx="2286000" cy="27432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 Marker</a:t>
            </a:r>
            <a:endParaRPr lang="en-US" sz="1100" dirty="0"/>
          </a:p>
        </p:txBody>
      </p:sp>
      <p:sp>
        <p:nvSpPr>
          <p:cNvPr id="42" name="Shape 40"/>
          <p:cNvSpPr/>
          <p:nvPr/>
        </p:nvSpPr>
        <p:spPr>
          <a:xfrm>
            <a:off x="6158397" y="4297680"/>
            <a:ext cx="0" cy="320040"/>
          </a:xfrm>
          <a:prstGeom prst="line">
            <a:avLst/>
          </a:prstGeom>
          <a:noFill/>
          <a:ln w="25400">
            <a:solidFill>
              <a:srgbClr val="8C8C86"/>
            </a:solidFill>
            <a:prstDash val="solid"/>
            <a:tailEnd type="triangle"/>
          </a:ln>
        </p:spPr>
      </p:sp>
      <p:sp>
        <p:nvSpPr>
          <p:cNvPr id="43" name="Shape 41"/>
          <p:cNvSpPr/>
          <p:nvPr/>
        </p:nvSpPr>
        <p:spPr>
          <a:xfrm>
            <a:off x="4709160" y="4617720"/>
            <a:ext cx="2743200" cy="411480"/>
          </a:xfrm>
          <a:prstGeom prst="roundRect">
            <a:avLst>
              <a:gd name="adj" fmla="val 17778"/>
            </a:avLst>
          </a:prstGeom>
          <a:solidFill>
            <a:srgbClr val="2E3336"/>
          </a:solidFill>
          <a:ln/>
        </p:spPr>
      </p:sp>
      <p:sp>
        <p:nvSpPr>
          <p:cNvPr id="44" name="Text 42"/>
          <p:cNvSpPr txBox="1"/>
          <p:nvPr/>
        </p:nvSpPr>
        <p:spPr>
          <a:xfrm>
            <a:off x="4709160" y="4617720"/>
            <a:ext cx="27432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Vision Engine</a:t>
            </a:r>
            <a:endParaRPr lang="en-US" sz="1100" dirty="0"/>
          </a:p>
        </p:txBody>
      </p:sp>
      <p:sp>
        <p:nvSpPr>
          <p:cNvPr id="45" name="Text 43"/>
          <p:cNvSpPr txBox="1"/>
          <p:nvPr/>
        </p:nvSpPr>
        <p:spPr>
          <a:xfrm>
            <a:off x="4937760" y="5166360"/>
            <a:ext cx="2286000" cy="27432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 OpenCV</a:t>
            </a:r>
            <a:endParaRPr lang="en-US" sz="1100" dirty="0"/>
          </a:p>
        </p:txBody>
      </p:sp>
      <p:sp>
        <p:nvSpPr>
          <p:cNvPr id="46" name="Text 44"/>
          <p:cNvSpPr txBox="1"/>
          <p:nvPr/>
        </p:nvSpPr>
        <p:spPr>
          <a:xfrm>
            <a:off x="4937760" y="5440680"/>
            <a:ext cx="2286000" cy="27432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 Mask</a:t>
            </a:r>
            <a:endParaRPr lang="en-US" sz="1100" dirty="0"/>
          </a:p>
        </p:txBody>
      </p:sp>
      <p:sp>
        <p:nvSpPr>
          <p:cNvPr id="47" name="Text 45"/>
          <p:cNvSpPr txBox="1"/>
          <p:nvPr/>
        </p:nvSpPr>
        <p:spPr>
          <a:xfrm>
            <a:off x="4937760" y="5715000"/>
            <a:ext cx="2286000" cy="27432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 Measure</a:t>
            </a:r>
            <a:endParaRPr lang="en-US" sz="1100" dirty="0"/>
          </a:p>
        </p:txBody>
      </p:sp>
      <p:sp>
        <p:nvSpPr>
          <p:cNvPr id="48" name="Shape 46"/>
          <p:cNvSpPr/>
          <p:nvPr/>
        </p:nvSpPr>
        <p:spPr>
          <a:xfrm>
            <a:off x="7406640" y="4297680"/>
            <a:ext cx="2468879" cy="274320"/>
          </a:xfrm>
          <a:prstGeom prst="line">
            <a:avLst/>
          </a:prstGeom>
          <a:noFill/>
          <a:ln w="25400">
            <a:solidFill>
              <a:srgbClr val="8C8C86"/>
            </a:solidFill>
            <a:prstDash val="solid"/>
            <a:tailEnd type="triangle"/>
          </a:ln>
        </p:spPr>
      </p:sp>
      <p:sp>
        <p:nvSpPr>
          <p:cNvPr id="49" name="Shape 47"/>
          <p:cNvSpPr/>
          <p:nvPr/>
        </p:nvSpPr>
        <p:spPr>
          <a:xfrm>
            <a:off x="8503920" y="4617720"/>
            <a:ext cx="2743200" cy="411480"/>
          </a:xfrm>
          <a:prstGeom prst="roundRect">
            <a:avLst>
              <a:gd name="adj" fmla="val 17778"/>
            </a:avLst>
          </a:prstGeom>
          <a:solidFill>
            <a:srgbClr val="2E3336"/>
          </a:solidFill>
          <a:ln/>
        </p:spPr>
      </p:sp>
      <p:sp>
        <p:nvSpPr>
          <p:cNvPr id="50" name="Text 48"/>
          <p:cNvSpPr txBox="1"/>
          <p:nvPr/>
        </p:nvSpPr>
        <p:spPr>
          <a:xfrm>
            <a:off x="8503920" y="4617720"/>
            <a:ext cx="27432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Digital Platform</a:t>
            </a:r>
            <a:endParaRPr lang="en-US" sz="1100" dirty="0"/>
          </a:p>
        </p:txBody>
      </p:sp>
      <p:sp>
        <p:nvSpPr>
          <p:cNvPr id="51" name="Text 49"/>
          <p:cNvSpPr txBox="1"/>
          <p:nvPr/>
        </p:nvSpPr>
        <p:spPr>
          <a:xfrm>
            <a:off x="8732520" y="5166360"/>
            <a:ext cx="2286000" cy="27432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 Dashboard</a:t>
            </a:r>
            <a:endParaRPr lang="en-US" sz="1100" dirty="0"/>
          </a:p>
        </p:txBody>
      </p:sp>
      <p:sp>
        <p:nvSpPr>
          <p:cNvPr id="52" name="Text 50"/>
          <p:cNvSpPr txBox="1"/>
          <p:nvPr/>
        </p:nvSpPr>
        <p:spPr>
          <a:xfrm>
            <a:off x="8732520" y="5440680"/>
            <a:ext cx="2286000" cy="27432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 Database</a:t>
            </a:r>
            <a:endParaRPr lang="en-US" sz="1100" dirty="0"/>
          </a:p>
        </p:txBody>
      </p:sp>
      <p:sp>
        <p:nvSpPr>
          <p:cNvPr id="53" name="Text 51"/>
          <p:cNvSpPr txBox="1"/>
          <p:nvPr/>
        </p:nvSpPr>
        <p:spPr>
          <a:xfrm>
            <a:off x="8732520" y="5715000"/>
            <a:ext cx="2286000" cy="27432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 PDF</a:t>
            </a:r>
            <a:endParaRPr lang="en-US" sz="1100" dirty="0"/>
          </a:p>
        </p:txBody>
      </p:sp>
      <p:sp>
        <p:nvSpPr>
          <p:cNvPr id="54" name="Text 52"/>
          <p:cNvSpPr txBox="1"/>
          <p:nvPr/>
        </p:nvSpPr>
        <p:spPr>
          <a:xfrm>
            <a:off x="548640" y="6172200"/>
            <a:ext cx="11064240" cy="320040"/>
          </a:xfrm>
          <a:prstGeom prst="rect">
            <a:avLst/>
          </a:prstGeom>
          <a:noFill/>
          <a:ln/>
        </p:spPr>
        <p:txBody>
          <a:bodyPr wrap="square" rtlCol="0" anchor="ctr"/>
          <a:lstStyle/>
          <a:p>
            <a:pPr marL="0" indent="0" algn="ctr">
              <a:buNone/>
            </a:pPr>
            <a:r>
              <a:rPr lang="en-US" sz="1100" i="1" dirty="0">
                <a:solidFill>
                  <a:srgbClr val="C24C10"/>
                </a:solidFill>
                <a:latin typeface="Calibri" pitchFamily="34" charset="0"/>
                <a:ea typeface="Calibri" pitchFamily="34" charset="-122"/>
                <a:cs typeface="Calibri" pitchFamily="34" charset="-120"/>
              </a:rPr>
              <a:t>Not just a crack-detection app - a complete inspection system: physical imaging device + vision measurement engine + digital reporting platform.</a:t>
            </a:r>
            <a:endParaRPr lang="en-US" sz="1100" dirty="0"/>
          </a:p>
        </p:txBody>
      </p:sp>
      <p:sp>
        <p:nvSpPr>
          <p:cNvPr id="55" name="Text 53"/>
          <p:cNvSpPr txBox="1"/>
          <p:nvPr/>
        </p:nvSpPr>
        <p:spPr>
          <a:xfrm>
            <a:off x="11292840" y="6510528"/>
            <a:ext cx="731520" cy="274320"/>
          </a:xfrm>
          <a:prstGeom prst="rect">
            <a:avLst/>
          </a:prstGeom>
          <a:noFill/>
          <a:ln/>
        </p:spPr>
        <p:txBody>
          <a:bodyPr wrap="square" rtlCol="0" anchor="ctr"/>
          <a:lstStyle/>
          <a:p>
            <a:pPr marL="0" indent="0" algn="r">
              <a:buNone/>
            </a:pPr>
            <a:r>
              <a:rPr lang="en-US" sz="900" dirty="0">
                <a:solidFill>
                  <a:srgbClr val="8C8C86"/>
                </a:solidFill>
                <a:latin typeface="Calibri" pitchFamily="34" charset="0"/>
                <a:ea typeface="Calibri" pitchFamily="34" charset="-122"/>
                <a:cs typeface="Calibri" pitchFamily="34" charset="-120"/>
              </a:rPr>
              <a:t>04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3E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F2661F"/>
                </a:solidFill>
                <a:latin typeface="Calibri" pitchFamily="34" charset="0"/>
                <a:ea typeface="Calibri" pitchFamily="34" charset="-122"/>
                <a:cs typeface="Calibri" pitchFamily="34" charset="-120"/>
              </a:rPr>
              <a:t>HARDWARE</a:t>
            </a:r>
            <a:endParaRPr lang="en-US" sz="1200" dirty="0"/>
          </a:p>
        </p:txBody>
      </p:sp>
      <p:sp>
        <p:nvSpPr>
          <p:cNvPr id="3" name="Text 1"/>
          <p:cNvSpPr txBox="1"/>
          <p:nvPr/>
        </p:nvSpPr>
        <p:spPr>
          <a:xfrm>
            <a:off x="548640" y="621792"/>
            <a:ext cx="10515600" cy="640080"/>
          </a:xfrm>
          <a:prstGeom prst="rect">
            <a:avLst/>
          </a:prstGeom>
          <a:noFill/>
          <a:ln/>
        </p:spPr>
        <p:txBody>
          <a:bodyPr wrap="square" lIns="0" tIns="0" rIns="0" bIns="0" rtlCol="0" anchor="ctr"/>
          <a:lstStyle/>
          <a:p>
            <a:pPr marL="0" indent="0">
              <a:buNone/>
            </a:pPr>
            <a:r>
              <a:rPr lang="en-US" sz="3000" b="1" dirty="0">
                <a:solidFill>
                  <a:srgbClr val="23272A"/>
                </a:solidFill>
                <a:latin typeface="Cambria" pitchFamily="34" charset="0"/>
                <a:ea typeface="Cambria" pitchFamily="34" charset="-122"/>
                <a:cs typeface="Cambria" pitchFamily="34" charset="-120"/>
              </a:rPr>
              <a:t>Portable Crack Measurement Gauge</a:t>
            </a:r>
            <a:endParaRPr lang="en-US" sz="3000" dirty="0"/>
          </a:p>
        </p:txBody>
      </p:sp>
      <p:sp>
        <p:nvSpPr>
          <p:cNvPr id="4" name="Shape 2"/>
          <p:cNvSpPr/>
          <p:nvPr/>
        </p:nvSpPr>
        <p:spPr>
          <a:xfrm>
            <a:off x="548640" y="1417320"/>
            <a:ext cx="5120640" cy="1828800"/>
          </a:xfrm>
          <a:prstGeom prst="roundRect">
            <a:avLst>
              <a:gd name="adj" fmla="val 3000"/>
            </a:avLst>
          </a:prstGeom>
          <a:solidFill>
            <a:srgbClr val="FFFFFF"/>
          </a:solidFill>
          <a:ln/>
          <a:effectLst>
            <a:outerShdw blurRad="76200" dist="25400" dir="5400000" algn="bl" rotWithShape="0">
              <a:srgbClr val="1A1A1A">
                <a:alpha val="18000"/>
              </a:srgbClr>
            </a:outerShdw>
          </a:effectLst>
        </p:spPr>
      </p:sp>
      <p:sp>
        <p:nvSpPr>
          <p:cNvPr id="5" name="Text 3"/>
          <p:cNvSpPr txBox="1"/>
          <p:nvPr/>
        </p:nvSpPr>
        <p:spPr>
          <a:xfrm>
            <a:off x="731520" y="1508760"/>
            <a:ext cx="4754880" cy="228600"/>
          </a:xfrm>
          <a:prstGeom prst="rect">
            <a:avLst/>
          </a:prstGeom>
          <a:noFill/>
          <a:ln/>
        </p:spPr>
        <p:txBody>
          <a:bodyPr wrap="square" rtlCol="0" anchor="ctr"/>
          <a:lstStyle/>
          <a:p>
            <a:pPr marL="0" indent="0">
              <a:buNone/>
            </a:pPr>
            <a:r>
              <a:rPr lang="en-US" sz="900" b="1" dirty="0">
                <a:solidFill>
                  <a:srgbClr val="5B5F61"/>
                </a:solidFill>
                <a:latin typeface="Calibri" pitchFamily="34" charset="0"/>
                <a:ea typeface="Calibri" pitchFamily="34" charset="-122"/>
                <a:cs typeface="Calibri" pitchFamily="34" charset="-120"/>
              </a:rPr>
              <a:t>CONCRETE SURFACE</a:t>
            </a:r>
            <a:endParaRPr lang="en-US" sz="900" dirty="0"/>
          </a:p>
        </p:txBody>
      </p:sp>
      <p:sp>
        <p:nvSpPr>
          <p:cNvPr id="6" name="Shape 4"/>
          <p:cNvSpPr/>
          <p:nvPr/>
        </p:nvSpPr>
        <p:spPr>
          <a:xfrm>
            <a:off x="1097280" y="1874520"/>
            <a:ext cx="1828800" cy="1005840"/>
          </a:xfrm>
          <a:prstGeom prst="line">
            <a:avLst/>
          </a:prstGeom>
          <a:noFill/>
          <a:ln w="25400">
            <a:solidFill>
              <a:srgbClr val="C6402A"/>
            </a:solidFill>
            <a:prstDash val="solid"/>
          </a:ln>
        </p:spPr>
      </p:sp>
      <p:sp>
        <p:nvSpPr>
          <p:cNvPr id="7" name="Text 5"/>
          <p:cNvSpPr txBox="1"/>
          <p:nvPr/>
        </p:nvSpPr>
        <p:spPr>
          <a:xfrm>
            <a:off x="3017520" y="2240280"/>
            <a:ext cx="914400" cy="274320"/>
          </a:xfrm>
          <a:prstGeom prst="rect">
            <a:avLst/>
          </a:prstGeom>
          <a:noFill/>
          <a:ln/>
        </p:spPr>
        <p:txBody>
          <a:bodyPr wrap="square" rtlCol="0" anchor="ctr"/>
          <a:lstStyle/>
          <a:p>
            <a:pPr marL="0" indent="0">
              <a:buNone/>
            </a:pPr>
            <a:r>
              <a:rPr lang="en-US" sz="900" i="1" dirty="0">
                <a:solidFill>
                  <a:srgbClr val="C6402A"/>
                </a:solidFill>
                <a:latin typeface="Calibri" pitchFamily="34" charset="0"/>
                <a:ea typeface="Calibri" pitchFamily="34" charset="-122"/>
                <a:cs typeface="Calibri" pitchFamily="34" charset="-120"/>
              </a:rPr>
              <a:t>crack</a:t>
            </a:r>
            <a:endParaRPr lang="en-US" sz="900" dirty="0"/>
          </a:p>
        </p:txBody>
      </p:sp>
      <p:sp>
        <p:nvSpPr>
          <p:cNvPr id="8" name="Shape 6"/>
          <p:cNvSpPr/>
          <p:nvPr/>
        </p:nvSpPr>
        <p:spPr>
          <a:xfrm>
            <a:off x="1097280" y="2788920"/>
            <a:ext cx="1188720" cy="320040"/>
          </a:xfrm>
          <a:prstGeom prst="rect">
            <a:avLst/>
          </a:prstGeom>
          <a:solidFill>
            <a:srgbClr val="F5A623"/>
          </a:solidFill>
          <a:ln/>
        </p:spPr>
      </p:sp>
      <p:sp>
        <p:nvSpPr>
          <p:cNvPr id="9" name="Text 7"/>
          <p:cNvSpPr txBox="1"/>
          <p:nvPr/>
        </p:nvSpPr>
        <p:spPr>
          <a:xfrm>
            <a:off x="1097280" y="2788920"/>
            <a:ext cx="1188720" cy="320040"/>
          </a:xfrm>
          <a:prstGeom prst="rect">
            <a:avLst/>
          </a:prstGeom>
          <a:noFill/>
          <a:ln/>
        </p:spPr>
        <p:txBody>
          <a:bodyPr wrap="square" lIns="0" tIns="0" rIns="0" bIns="0" rtlCol="0" anchor="ctr"/>
          <a:lstStyle/>
          <a:p>
            <a:pPr marL="0" indent="0" algn="ctr">
              <a:buNone/>
            </a:pPr>
            <a:r>
              <a:rPr lang="en-US" sz="650" b="1" dirty="0">
                <a:solidFill>
                  <a:srgbClr val="23272A"/>
                </a:solidFill>
                <a:latin typeface="Calibri" pitchFamily="34" charset="0"/>
                <a:ea typeface="Calibri" pitchFamily="34" charset="-122"/>
                <a:cs typeface="Calibri" pitchFamily="34" charset="-120"/>
              </a:rPr>
              <a:t>REFERENCE MARKER</a:t>
            </a:r>
            <a:endParaRPr lang="en-US" sz="650" dirty="0"/>
          </a:p>
        </p:txBody>
      </p:sp>
      <p:sp>
        <p:nvSpPr>
          <p:cNvPr id="10" name="Shape 8"/>
          <p:cNvSpPr/>
          <p:nvPr/>
        </p:nvSpPr>
        <p:spPr>
          <a:xfrm>
            <a:off x="3108960" y="3246120"/>
            <a:ext cx="0" cy="274320"/>
          </a:xfrm>
          <a:prstGeom prst="line">
            <a:avLst/>
          </a:prstGeom>
          <a:noFill/>
          <a:ln w="25400">
            <a:solidFill>
              <a:srgbClr val="8C8C86"/>
            </a:solidFill>
            <a:prstDash val="solid"/>
            <a:tailEnd type="triangle"/>
          </a:ln>
        </p:spPr>
      </p:sp>
      <p:sp>
        <p:nvSpPr>
          <p:cNvPr id="11" name="Text 9"/>
          <p:cNvSpPr txBox="1"/>
          <p:nvPr/>
        </p:nvSpPr>
        <p:spPr>
          <a:xfrm>
            <a:off x="3200400" y="3291840"/>
            <a:ext cx="1463040" cy="228600"/>
          </a:xfrm>
          <a:prstGeom prst="rect">
            <a:avLst/>
          </a:prstGeom>
          <a:noFill/>
          <a:ln/>
        </p:spPr>
        <p:txBody>
          <a:bodyPr wrap="square" rtlCol="0" anchor="ctr"/>
          <a:lstStyle/>
          <a:p>
            <a:pPr marL="0" indent="0">
              <a:buNone/>
            </a:pPr>
            <a:r>
              <a:rPr lang="en-US" sz="850" i="1" dirty="0">
                <a:solidFill>
                  <a:srgbClr val="5B5F61"/>
                </a:solidFill>
                <a:latin typeface="Calibri" pitchFamily="34" charset="0"/>
                <a:ea typeface="Calibri" pitchFamily="34" charset="-122"/>
                <a:cs typeface="Calibri" pitchFamily="34" charset="-120"/>
              </a:rPr>
              <a:t>fixed distance</a:t>
            </a:r>
            <a:endParaRPr lang="en-US" sz="850" dirty="0"/>
          </a:p>
        </p:txBody>
      </p:sp>
      <p:sp>
        <p:nvSpPr>
          <p:cNvPr id="12" name="Shape 10"/>
          <p:cNvSpPr/>
          <p:nvPr/>
        </p:nvSpPr>
        <p:spPr>
          <a:xfrm>
            <a:off x="2103120" y="3566160"/>
            <a:ext cx="2011680" cy="685800"/>
          </a:xfrm>
          <a:prstGeom prst="roundRect">
            <a:avLst>
              <a:gd name="adj" fmla="val 8000"/>
            </a:avLst>
          </a:prstGeom>
          <a:solidFill>
            <a:srgbClr val="2E3336"/>
          </a:solidFill>
          <a:ln/>
          <a:effectLst>
            <a:outerShdw blurRad="76200" dist="25400" dir="5400000" algn="bl" rotWithShape="0">
              <a:srgbClr val="1A1A1A">
                <a:alpha val="18000"/>
              </a:srgbClr>
            </a:outerShdw>
          </a:effectLst>
        </p:spPr>
      </p:sp>
      <p:sp>
        <p:nvSpPr>
          <p:cNvPr id="13" name="Text 11"/>
          <p:cNvSpPr txBox="1"/>
          <p:nvPr/>
        </p:nvSpPr>
        <p:spPr>
          <a:xfrm>
            <a:off x="2103120" y="3566160"/>
            <a:ext cx="2011680" cy="6858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LED RING</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 CAMERA</a:t>
            </a:r>
            <a:endParaRPr lang="en-US" sz="1100" dirty="0"/>
          </a:p>
        </p:txBody>
      </p:sp>
      <p:sp>
        <p:nvSpPr>
          <p:cNvPr id="14" name="Shape 12"/>
          <p:cNvSpPr/>
          <p:nvPr/>
        </p:nvSpPr>
        <p:spPr>
          <a:xfrm>
            <a:off x="3108960" y="4251960"/>
            <a:ext cx="0" cy="274320"/>
          </a:xfrm>
          <a:prstGeom prst="line">
            <a:avLst/>
          </a:prstGeom>
          <a:noFill/>
          <a:ln w="25400">
            <a:solidFill>
              <a:srgbClr val="8C8C86"/>
            </a:solidFill>
            <a:prstDash val="solid"/>
            <a:tailEnd type="triangle"/>
          </a:ln>
        </p:spPr>
      </p:sp>
      <p:sp>
        <p:nvSpPr>
          <p:cNvPr id="15" name="Shape 13"/>
          <p:cNvSpPr/>
          <p:nvPr/>
        </p:nvSpPr>
        <p:spPr>
          <a:xfrm>
            <a:off x="2103120" y="4572000"/>
            <a:ext cx="2011680" cy="548640"/>
          </a:xfrm>
          <a:prstGeom prst="roundRect">
            <a:avLst>
              <a:gd name="adj" fmla="val 10000"/>
            </a:avLst>
          </a:prstGeom>
          <a:solidFill>
            <a:srgbClr val="F2661F"/>
          </a:solidFill>
          <a:ln/>
          <a:effectLst>
            <a:outerShdw blurRad="76200" dist="25400" dir="5400000" algn="bl" rotWithShape="0">
              <a:srgbClr val="1A1A1A">
                <a:alpha val="18000"/>
              </a:srgbClr>
            </a:outerShdw>
          </a:effectLst>
        </p:spPr>
      </p:sp>
      <p:sp>
        <p:nvSpPr>
          <p:cNvPr id="16" name="Text 14"/>
          <p:cNvSpPr txBox="1"/>
          <p:nvPr/>
        </p:nvSpPr>
        <p:spPr>
          <a:xfrm>
            <a:off x="2103120" y="4572000"/>
            <a:ext cx="201168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Raspberry Pi</a:t>
            </a:r>
            <a:endParaRPr lang="en-US" sz="1200" dirty="0"/>
          </a:p>
        </p:txBody>
      </p:sp>
      <p:sp>
        <p:nvSpPr>
          <p:cNvPr id="17" name="Text 15"/>
          <p:cNvSpPr txBox="1"/>
          <p:nvPr/>
        </p:nvSpPr>
        <p:spPr>
          <a:xfrm>
            <a:off x="5989320" y="1417320"/>
            <a:ext cx="2743200" cy="274320"/>
          </a:xfrm>
          <a:prstGeom prst="rect">
            <a:avLst/>
          </a:prstGeom>
          <a:noFill/>
          <a:ln/>
        </p:spPr>
        <p:txBody>
          <a:bodyPr wrap="square" rtlCol="0" anchor="ctr"/>
          <a:lstStyle/>
          <a:p>
            <a:pPr marL="0" indent="0">
              <a:buNone/>
            </a:pPr>
            <a:r>
              <a:rPr lang="en-US" sz="1300" b="1" dirty="0">
                <a:solidFill>
                  <a:srgbClr val="5B5F61"/>
                </a:solidFill>
                <a:latin typeface="Calibri" pitchFamily="34" charset="0"/>
                <a:ea typeface="Calibri" pitchFamily="34" charset="-122"/>
                <a:cs typeface="Calibri" pitchFamily="34" charset="-120"/>
              </a:rPr>
              <a:t>Components</a:t>
            </a:r>
            <a:endParaRPr lang="en-US" sz="1300" dirty="0"/>
          </a:p>
        </p:txBody>
      </p:sp>
      <p:sp>
        <p:nvSpPr>
          <p:cNvPr id="18" name="Shape 16"/>
          <p:cNvSpPr/>
          <p:nvPr/>
        </p:nvSpPr>
        <p:spPr>
          <a:xfrm>
            <a:off x="5989320" y="1865376"/>
            <a:ext cx="128016" cy="128016"/>
          </a:xfrm>
          <a:prstGeom prst="ellipse">
            <a:avLst/>
          </a:prstGeom>
          <a:solidFill>
            <a:srgbClr val="F2661F"/>
          </a:solidFill>
          <a:ln/>
        </p:spPr>
      </p:sp>
      <p:sp>
        <p:nvSpPr>
          <p:cNvPr id="19" name="Text 17"/>
          <p:cNvSpPr txBox="1"/>
          <p:nvPr/>
        </p:nvSpPr>
        <p:spPr>
          <a:xfrm>
            <a:off x="5989320" y="1865376"/>
            <a:ext cx="128016" cy="128016"/>
          </a:xfrm>
          <a:prstGeom prst="rect">
            <a:avLst/>
          </a:prstGeom>
          <a:noFill/>
          <a:ln/>
        </p:spPr>
        <p:txBody>
          <a:bodyPr wrap="square" lIns="0" tIns="0" rIns="0" bIns="0" rtlCol="0" anchor="ctr"/>
          <a:lstStyle/>
          <a:p>
            <a:pPr marL="0" indent="0" algn="ctr">
              <a:buNone/>
            </a:pPr>
            <a:endParaRPr lang="en-US" sz="100" dirty="0"/>
          </a:p>
        </p:txBody>
      </p:sp>
      <p:sp>
        <p:nvSpPr>
          <p:cNvPr id="20" name="Text 18"/>
          <p:cNvSpPr txBox="1"/>
          <p:nvPr/>
        </p:nvSpPr>
        <p:spPr>
          <a:xfrm>
            <a:off x="6245352" y="1783080"/>
            <a:ext cx="2560320" cy="32004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Raspberry Pi 4 (4GB)</a:t>
            </a:r>
            <a:endParaRPr lang="en-US" sz="1100" dirty="0"/>
          </a:p>
        </p:txBody>
      </p:sp>
      <p:sp>
        <p:nvSpPr>
          <p:cNvPr id="21" name="Shape 19"/>
          <p:cNvSpPr/>
          <p:nvPr/>
        </p:nvSpPr>
        <p:spPr>
          <a:xfrm>
            <a:off x="8869680" y="1865376"/>
            <a:ext cx="128016" cy="128016"/>
          </a:xfrm>
          <a:prstGeom prst="ellipse">
            <a:avLst/>
          </a:prstGeom>
          <a:solidFill>
            <a:srgbClr val="F2661F"/>
          </a:solidFill>
          <a:ln/>
        </p:spPr>
      </p:sp>
      <p:sp>
        <p:nvSpPr>
          <p:cNvPr id="22" name="Text 20"/>
          <p:cNvSpPr txBox="1"/>
          <p:nvPr/>
        </p:nvSpPr>
        <p:spPr>
          <a:xfrm>
            <a:off x="8869680" y="1865376"/>
            <a:ext cx="128016" cy="128016"/>
          </a:xfrm>
          <a:prstGeom prst="rect">
            <a:avLst/>
          </a:prstGeom>
          <a:noFill/>
          <a:ln/>
        </p:spPr>
        <p:txBody>
          <a:bodyPr wrap="square" lIns="0" tIns="0" rIns="0" bIns="0" rtlCol="0" anchor="ctr"/>
          <a:lstStyle/>
          <a:p>
            <a:pPr marL="0" indent="0" algn="ctr">
              <a:buNone/>
            </a:pPr>
            <a:endParaRPr lang="en-US" sz="100" dirty="0"/>
          </a:p>
        </p:txBody>
      </p:sp>
      <p:sp>
        <p:nvSpPr>
          <p:cNvPr id="23" name="Text 21"/>
          <p:cNvSpPr txBox="1"/>
          <p:nvPr/>
        </p:nvSpPr>
        <p:spPr>
          <a:xfrm>
            <a:off x="9125712" y="1783080"/>
            <a:ext cx="2560320" cy="32004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Pi Camera / USB Camera</a:t>
            </a:r>
            <a:endParaRPr lang="en-US" sz="1100" dirty="0"/>
          </a:p>
        </p:txBody>
      </p:sp>
      <p:sp>
        <p:nvSpPr>
          <p:cNvPr id="24" name="Shape 22"/>
          <p:cNvSpPr/>
          <p:nvPr/>
        </p:nvSpPr>
        <p:spPr>
          <a:xfrm>
            <a:off x="5989320" y="2249424"/>
            <a:ext cx="128016" cy="128016"/>
          </a:xfrm>
          <a:prstGeom prst="ellipse">
            <a:avLst/>
          </a:prstGeom>
          <a:solidFill>
            <a:srgbClr val="F2661F"/>
          </a:solidFill>
          <a:ln/>
        </p:spPr>
      </p:sp>
      <p:sp>
        <p:nvSpPr>
          <p:cNvPr id="25" name="Text 23"/>
          <p:cNvSpPr txBox="1"/>
          <p:nvPr/>
        </p:nvSpPr>
        <p:spPr>
          <a:xfrm>
            <a:off x="5989320" y="2249424"/>
            <a:ext cx="128016" cy="128016"/>
          </a:xfrm>
          <a:prstGeom prst="rect">
            <a:avLst/>
          </a:prstGeom>
          <a:noFill/>
          <a:ln/>
        </p:spPr>
        <p:txBody>
          <a:bodyPr wrap="square" lIns="0" tIns="0" rIns="0" bIns="0" rtlCol="0" anchor="ctr"/>
          <a:lstStyle/>
          <a:p>
            <a:pPr marL="0" indent="0" algn="ctr">
              <a:buNone/>
            </a:pPr>
            <a:endParaRPr lang="en-US" sz="100" dirty="0"/>
          </a:p>
        </p:txBody>
      </p:sp>
      <p:sp>
        <p:nvSpPr>
          <p:cNvPr id="26" name="Text 24"/>
          <p:cNvSpPr txBox="1"/>
          <p:nvPr/>
        </p:nvSpPr>
        <p:spPr>
          <a:xfrm>
            <a:off x="6245352" y="2167128"/>
            <a:ext cx="2560320" cy="32004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LED Ring Light</a:t>
            </a:r>
            <a:endParaRPr lang="en-US" sz="1100" dirty="0"/>
          </a:p>
        </p:txBody>
      </p:sp>
      <p:sp>
        <p:nvSpPr>
          <p:cNvPr id="27" name="Shape 25"/>
          <p:cNvSpPr/>
          <p:nvPr/>
        </p:nvSpPr>
        <p:spPr>
          <a:xfrm>
            <a:off x="8869680" y="2249424"/>
            <a:ext cx="128016" cy="128016"/>
          </a:xfrm>
          <a:prstGeom prst="ellipse">
            <a:avLst/>
          </a:prstGeom>
          <a:solidFill>
            <a:srgbClr val="F2661F"/>
          </a:solidFill>
          <a:ln/>
        </p:spPr>
      </p:sp>
      <p:sp>
        <p:nvSpPr>
          <p:cNvPr id="28" name="Text 26"/>
          <p:cNvSpPr txBox="1"/>
          <p:nvPr/>
        </p:nvSpPr>
        <p:spPr>
          <a:xfrm>
            <a:off x="8869680" y="2249424"/>
            <a:ext cx="128016" cy="128016"/>
          </a:xfrm>
          <a:prstGeom prst="rect">
            <a:avLst/>
          </a:prstGeom>
          <a:noFill/>
          <a:ln/>
        </p:spPr>
        <p:txBody>
          <a:bodyPr wrap="square" lIns="0" tIns="0" rIns="0" bIns="0" rtlCol="0" anchor="ctr"/>
          <a:lstStyle/>
          <a:p>
            <a:pPr marL="0" indent="0" algn="ctr">
              <a:buNone/>
            </a:pPr>
            <a:endParaRPr lang="en-US" sz="100" dirty="0"/>
          </a:p>
        </p:txBody>
      </p:sp>
      <p:sp>
        <p:nvSpPr>
          <p:cNvPr id="29" name="Text 27"/>
          <p:cNvSpPr txBox="1"/>
          <p:nvPr/>
        </p:nvSpPr>
        <p:spPr>
          <a:xfrm>
            <a:off x="9125712" y="2167128"/>
            <a:ext cx="2560320" cy="32004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ArUco / Reference Marker</a:t>
            </a:r>
            <a:endParaRPr lang="en-US" sz="1100" dirty="0"/>
          </a:p>
        </p:txBody>
      </p:sp>
      <p:sp>
        <p:nvSpPr>
          <p:cNvPr id="30" name="Shape 28"/>
          <p:cNvSpPr/>
          <p:nvPr/>
        </p:nvSpPr>
        <p:spPr>
          <a:xfrm>
            <a:off x="5989320" y="2633472"/>
            <a:ext cx="128016" cy="128016"/>
          </a:xfrm>
          <a:prstGeom prst="ellipse">
            <a:avLst/>
          </a:prstGeom>
          <a:solidFill>
            <a:srgbClr val="F2661F"/>
          </a:solidFill>
          <a:ln/>
        </p:spPr>
      </p:sp>
      <p:sp>
        <p:nvSpPr>
          <p:cNvPr id="31" name="Text 29"/>
          <p:cNvSpPr txBox="1"/>
          <p:nvPr/>
        </p:nvSpPr>
        <p:spPr>
          <a:xfrm>
            <a:off x="5989320" y="2633472"/>
            <a:ext cx="128016" cy="128016"/>
          </a:xfrm>
          <a:prstGeom prst="rect">
            <a:avLst/>
          </a:prstGeom>
          <a:noFill/>
          <a:ln/>
        </p:spPr>
        <p:txBody>
          <a:bodyPr wrap="square" lIns="0" tIns="0" rIns="0" bIns="0" rtlCol="0" anchor="ctr"/>
          <a:lstStyle/>
          <a:p>
            <a:pPr marL="0" indent="0" algn="ctr">
              <a:buNone/>
            </a:pPr>
            <a:endParaRPr lang="en-US" sz="100" dirty="0"/>
          </a:p>
        </p:txBody>
      </p:sp>
      <p:sp>
        <p:nvSpPr>
          <p:cNvPr id="32" name="Text 30"/>
          <p:cNvSpPr txBox="1"/>
          <p:nvPr/>
        </p:nvSpPr>
        <p:spPr>
          <a:xfrm>
            <a:off x="6245352" y="2551176"/>
            <a:ext cx="2560320" cy="32004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Fixed-distance Spacer</a:t>
            </a:r>
            <a:endParaRPr lang="en-US" sz="1100" dirty="0"/>
          </a:p>
        </p:txBody>
      </p:sp>
      <p:sp>
        <p:nvSpPr>
          <p:cNvPr id="33" name="Shape 31"/>
          <p:cNvSpPr/>
          <p:nvPr/>
        </p:nvSpPr>
        <p:spPr>
          <a:xfrm>
            <a:off x="8869680" y="2633472"/>
            <a:ext cx="128016" cy="128016"/>
          </a:xfrm>
          <a:prstGeom prst="ellipse">
            <a:avLst/>
          </a:prstGeom>
          <a:solidFill>
            <a:srgbClr val="F2661F"/>
          </a:solidFill>
          <a:ln/>
        </p:spPr>
      </p:sp>
      <p:sp>
        <p:nvSpPr>
          <p:cNvPr id="34" name="Text 32"/>
          <p:cNvSpPr txBox="1"/>
          <p:nvPr/>
        </p:nvSpPr>
        <p:spPr>
          <a:xfrm>
            <a:off x="8869680" y="2633472"/>
            <a:ext cx="128016" cy="128016"/>
          </a:xfrm>
          <a:prstGeom prst="rect">
            <a:avLst/>
          </a:prstGeom>
          <a:noFill/>
          <a:ln/>
        </p:spPr>
        <p:txBody>
          <a:bodyPr wrap="square" lIns="0" tIns="0" rIns="0" bIns="0" rtlCol="0" anchor="ctr"/>
          <a:lstStyle/>
          <a:p>
            <a:pPr marL="0" indent="0" algn="ctr">
              <a:buNone/>
            </a:pPr>
            <a:endParaRPr lang="en-US" sz="100" dirty="0"/>
          </a:p>
        </p:txBody>
      </p:sp>
      <p:sp>
        <p:nvSpPr>
          <p:cNvPr id="35" name="Text 33"/>
          <p:cNvSpPr txBox="1"/>
          <p:nvPr/>
        </p:nvSpPr>
        <p:spPr>
          <a:xfrm>
            <a:off x="9125712" y="2551176"/>
            <a:ext cx="2560320" cy="32004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3D-Printed Enclosure</a:t>
            </a:r>
            <a:endParaRPr lang="en-US" sz="1100" dirty="0"/>
          </a:p>
        </p:txBody>
      </p:sp>
      <p:sp>
        <p:nvSpPr>
          <p:cNvPr id="36" name="Shape 34"/>
          <p:cNvSpPr/>
          <p:nvPr/>
        </p:nvSpPr>
        <p:spPr>
          <a:xfrm>
            <a:off x="5989320" y="3017520"/>
            <a:ext cx="128016" cy="128016"/>
          </a:xfrm>
          <a:prstGeom prst="ellipse">
            <a:avLst/>
          </a:prstGeom>
          <a:solidFill>
            <a:srgbClr val="F2661F"/>
          </a:solidFill>
          <a:ln/>
        </p:spPr>
      </p:sp>
      <p:sp>
        <p:nvSpPr>
          <p:cNvPr id="37" name="Text 35"/>
          <p:cNvSpPr txBox="1"/>
          <p:nvPr/>
        </p:nvSpPr>
        <p:spPr>
          <a:xfrm>
            <a:off x="5989320" y="3017520"/>
            <a:ext cx="128016" cy="128016"/>
          </a:xfrm>
          <a:prstGeom prst="rect">
            <a:avLst/>
          </a:prstGeom>
          <a:noFill/>
          <a:ln/>
        </p:spPr>
        <p:txBody>
          <a:bodyPr wrap="square" lIns="0" tIns="0" rIns="0" bIns="0" rtlCol="0" anchor="ctr"/>
          <a:lstStyle/>
          <a:p>
            <a:pPr marL="0" indent="0" algn="ctr">
              <a:buNone/>
            </a:pPr>
            <a:endParaRPr lang="en-US" sz="100" dirty="0"/>
          </a:p>
        </p:txBody>
      </p:sp>
      <p:sp>
        <p:nvSpPr>
          <p:cNvPr id="38" name="Text 36"/>
          <p:cNvSpPr txBox="1"/>
          <p:nvPr/>
        </p:nvSpPr>
        <p:spPr>
          <a:xfrm>
            <a:off x="6245352" y="2935224"/>
            <a:ext cx="2560320" cy="32004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Power Bank</a:t>
            </a:r>
            <a:endParaRPr lang="en-US" sz="1100" dirty="0"/>
          </a:p>
        </p:txBody>
      </p:sp>
      <p:sp>
        <p:nvSpPr>
          <p:cNvPr id="39" name="Shape 37"/>
          <p:cNvSpPr/>
          <p:nvPr/>
        </p:nvSpPr>
        <p:spPr>
          <a:xfrm>
            <a:off x="8869680" y="3017520"/>
            <a:ext cx="128016" cy="128016"/>
          </a:xfrm>
          <a:prstGeom prst="ellipse">
            <a:avLst/>
          </a:prstGeom>
          <a:solidFill>
            <a:srgbClr val="F2661F"/>
          </a:solidFill>
          <a:ln/>
        </p:spPr>
      </p:sp>
      <p:sp>
        <p:nvSpPr>
          <p:cNvPr id="40" name="Text 38"/>
          <p:cNvSpPr txBox="1"/>
          <p:nvPr/>
        </p:nvSpPr>
        <p:spPr>
          <a:xfrm>
            <a:off x="8869680" y="3017520"/>
            <a:ext cx="128016" cy="128016"/>
          </a:xfrm>
          <a:prstGeom prst="rect">
            <a:avLst/>
          </a:prstGeom>
          <a:noFill/>
          <a:ln/>
        </p:spPr>
        <p:txBody>
          <a:bodyPr wrap="square" lIns="0" tIns="0" rIns="0" bIns="0" rtlCol="0" anchor="ctr"/>
          <a:lstStyle/>
          <a:p>
            <a:pPr marL="0" indent="0" algn="ctr">
              <a:buNone/>
            </a:pPr>
            <a:endParaRPr lang="en-US" sz="100" dirty="0"/>
          </a:p>
        </p:txBody>
      </p:sp>
      <p:sp>
        <p:nvSpPr>
          <p:cNvPr id="41" name="Text 39"/>
          <p:cNvSpPr txBox="1"/>
          <p:nvPr/>
        </p:nvSpPr>
        <p:spPr>
          <a:xfrm>
            <a:off x="9125712" y="2935224"/>
            <a:ext cx="2560320" cy="32004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Optional USB Microscope</a:t>
            </a:r>
            <a:endParaRPr lang="en-US" sz="1100" dirty="0"/>
          </a:p>
        </p:txBody>
      </p:sp>
      <p:sp>
        <p:nvSpPr>
          <p:cNvPr id="42" name="Shape 40"/>
          <p:cNvSpPr/>
          <p:nvPr/>
        </p:nvSpPr>
        <p:spPr>
          <a:xfrm>
            <a:off x="5989320" y="3566160"/>
            <a:ext cx="5623560" cy="914400"/>
          </a:xfrm>
          <a:prstGeom prst="roundRect">
            <a:avLst>
              <a:gd name="adj" fmla="val 6000"/>
            </a:avLst>
          </a:prstGeom>
          <a:solidFill>
            <a:srgbClr val="23272A"/>
          </a:solidFill>
          <a:ln/>
          <a:effectLst>
            <a:outerShdw blurRad="76200" dist="25400" dir="5400000" algn="bl" rotWithShape="0">
              <a:srgbClr val="1A1A1A">
                <a:alpha val="18000"/>
              </a:srgbClr>
            </a:outerShdw>
          </a:effectLst>
        </p:spPr>
      </p:sp>
      <p:sp>
        <p:nvSpPr>
          <p:cNvPr id="43" name="Text 41"/>
          <p:cNvSpPr txBox="1"/>
          <p:nvPr/>
        </p:nvSpPr>
        <p:spPr>
          <a:xfrm>
            <a:off x="6263640" y="3675888"/>
            <a:ext cx="3657600" cy="274320"/>
          </a:xfrm>
          <a:prstGeom prst="rect">
            <a:avLst/>
          </a:prstGeom>
          <a:noFill/>
          <a:ln/>
        </p:spPr>
        <p:txBody>
          <a:bodyPr wrap="square" rtlCol="0" anchor="ctr"/>
          <a:lstStyle/>
          <a:p>
            <a:pPr marL="0" indent="0">
              <a:buNone/>
            </a:pPr>
            <a:r>
              <a:rPr lang="en-US" sz="1000" b="1" kern="0" spc="150" dirty="0">
                <a:solidFill>
                  <a:srgbClr val="F2661F"/>
                </a:solidFill>
                <a:latin typeface="Calibri" pitchFamily="34" charset="0"/>
                <a:ea typeface="Calibri" pitchFamily="34" charset="-122"/>
                <a:cs typeface="Calibri" pitchFamily="34" charset="-120"/>
              </a:rPr>
              <a:t>APPROXIMATE PROTOTYPE COST</a:t>
            </a:r>
            <a:endParaRPr lang="en-US" sz="1000" dirty="0"/>
          </a:p>
        </p:txBody>
      </p:sp>
      <p:sp>
        <p:nvSpPr>
          <p:cNvPr id="44" name="Text 42"/>
          <p:cNvSpPr txBox="1"/>
          <p:nvPr/>
        </p:nvSpPr>
        <p:spPr>
          <a:xfrm>
            <a:off x="6263640" y="3931920"/>
            <a:ext cx="457200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₹9,000 – ₹14,000</a:t>
            </a:r>
            <a:endParaRPr lang="en-US" sz="2400" dirty="0"/>
          </a:p>
        </p:txBody>
      </p:sp>
      <p:sp>
        <p:nvSpPr>
          <p:cNvPr id="45" name="Shape 43"/>
          <p:cNvSpPr/>
          <p:nvPr/>
        </p:nvSpPr>
        <p:spPr>
          <a:xfrm>
            <a:off x="5989320" y="4709160"/>
            <a:ext cx="5623560" cy="1417320"/>
          </a:xfrm>
          <a:prstGeom prst="roundRect">
            <a:avLst>
              <a:gd name="adj" fmla="val 3871"/>
            </a:avLst>
          </a:prstGeom>
          <a:solidFill>
            <a:srgbClr val="FFFFFF"/>
          </a:solidFill>
          <a:ln/>
          <a:effectLst>
            <a:outerShdw blurRad="76200" dist="25400" dir="5400000" algn="bl" rotWithShape="0">
              <a:srgbClr val="1A1A1A">
                <a:alpha val="18000"/>
              </a:srgbClr>
            </a:outerShdw>
          </a:effectLst>
        </p:spPr>
      </p:sp>
      <p:sp>
        <p:nvSpPr>
          <p:cNvPr id="46" name="Text 44"/>
          <p:cNvSpPr txBox="1"/>
          <p:nvPr/>
        </p:nvSpPr>
        <p:spPr>
          <a:xfrm>
            <a:off x="6263640" y="4864608"/>
            <a:ext cx="5029200" cy="274320"/>
          </a:xfrm>
          <a:prstGeom prst="rect">
            <a:avLst/>
          </a:prstGeom>
          <a:noFill/>
          <a:ln/>
        </p:spPr>
        <p:txBody>
          <a:bodyPr wrap="square" rtlCol="0" anchor="ctr"/>
          <a:lstStyle/>
          <a:p>
            <a:pPr marL="0" indent="0">
              <a:buNone/>
            </a:pPr>
            <a:r>
              <a:rPr lang="en-US" sz="1250" b="1" dirty="0">
                <a:solidFill>
                  <a:srgbClr val="23272A"/>
                </a:solidFill>
                <a:latin typeface="Cambria" pitchFamily="34" charset="0"/>
                <a:ea typeface="Cambria" pitchFamily="34" charset="-122"/>
                <a:cs typeface="Cambria" pitchFamily="34" charset="-120"/>
              </a:rPr>
              <a:t>Design decision</a:t>
            </a:r>
            <a:endParaRPr lang="en-US" sz="1250" dirty="0"/>
          </a:p>
        </p:txBody>
      </p:sp>
      <p:sp>
        <p:nvSpPr>
          <p:cNvPr id="47" name="Text 45"/>
          <p:cNvSpPr txBox="1"/>
          <p:nvPr/>
        </p:nvSpPr>
        <p:spPr>
          <a:xfrm>
            <a:off x="6263640" y="5166360"/>
            <a:ext cx="5074920" cy="868680"/>
          </a:xfrm>
          <a:prstGeom prst="rect">
            <a:avLst/>
          </a:prstGeom>
          <a:noFill/>
          <a:ln/>
        </p:spPr>
        <p:txBody>
          <a:bodyPr wrap="square" lIns="0" tIns="0" rIns="0" bIns="0" rtlCol="0" anchor="ctr"/>
          <a:lstStyle/>
          <a:p>
            <a:pPr marL="0" indent="0">
              <a:buNone/>
            </a:pPr>
            <a:r>
              <a:rPr lang="en-US" sz="1100" dirty="0">
                <a:solidFill>
                  <a:srgbClr val="23272A"/>
                </a:solidFill>
                <a:latin typeface="Calibri" pitchFamily="34" charset="0"/>
                <a:ea typeface="Calibri" pitchFamily="34" charset="-122"/>
                <a:cs typeface="Calibri" pitchFamily="34" charset="-120"/>
              </a:rPr>
              <a:t>We don't just point a camera at the wall - imaging is controlled. The LED gives consistent illumination, the spacer keeps camera distance fixed, and the marker gives physical scale for calibration.</a:t>
            </a:r>
            <a:endParaRPr lang="en-US" sz="1100" dirty="0"/>
          </a:p>
        </p:txBody>
      </p:sp>
      <p:sp>
        <p:nvSpPr>
          <p:cNvPr id="48" name="Text 46"/>
          <p:cNvSpPr txBox="1"/>
          <p:nvPr/>
        </p:nvSpPr>
        <p:spPr>
          <a:xfrm>
            <a:off x="11292840" y="6510528"/>
            <a:ext cx="731520" cy="274320"/>
          </a:xfrm>
          <a:prstGeom prst="rect">
            <a:avLst/>
          </a:prstGeom>
          <a:noFill/>
          <a:ln/>
        </p:spPr>
        <p:txBody>
          <a:bodyPr wrap="square" rtlCol="0" anchor="ctr"/>
          <a:lstStyle/>
          <a:p>
            <a:pPr marL="0" indent="0" algn="r">
              <a:buNone/>
            </a:pPr>
            <a:r>
              <a:rPr lang="en-US" sz="900" dirty="0">
                <a:solidFill>
                  <a:srgbClr val="8C8C86"/>
                </a:solidFill>
                <a:latin typeface="Calibri" pitchFamily="34" charset="0"/>
                <a:ea typeface="Calibri" pitchFamily="34" charset="-122"/>
                <a:cs typeface="Calibri" pitchFamily="34" charset="-120"/>
              </a:rPr>
              <a:t>05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3E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F2661F"/>
                </a:solidFill>
                <a:latin typeface="Calibri" pitchFamily="34" charset="0"/>
                <a:ea typeface="Calibri" pitchFamily="34" charset="-122"/>
                <a:cs typeface="Calibri" pitchFamily="34" charset="-120"/>
              </a:rPr>
              <a:t>FULL STACK</a:t>
            </a:r>
            <a:endParaRPr lang="en-US" sz="1200" dirty="0"/>
          </a:p>
        </p:txBody>
      </p:sp>
      <p:sp>
        <p:nvSpPr>
          <p:cNvPr id="3" name="Text 1"/>
          <p:cNvSpPr txBox="1"/>
          <p:nvPr/>
        </p:nvSpPr>
        <p:spPr>
          <a:xfrm>
            <a:off x="548640" y="621792"/>
            <a:ext cx="10515600" cy="640080"/>
          </a:xfrm>
          <a:prstGeom prst="rect">
            <a:avLst/>
          </a:prstGeom>
          <a:noFill/>
          <a:ln/>
        </p:spPr>
        <p:txBody>
          <a:bodyPr wrap="square" lIns="0" tIns="0" rIns="0" bIns="0" rtlCol="0" anchor="ctr"/>
          <a:lstStyle/>
          <a:p>
            <a:pPr marL="0" indent="0">
              <a:buNone/>
            </a:pPr>
            <a:r>
              <a:rPr lang="en-US" sz="3000" b="1" dirty="0">
                <a:solidFill>
                  <a:srgbClr val="23272A"/>
                </a:solidFill>
                <a:latin typeface="Cambria" pitchFamily="34" charset="0"/>
                <a:ea typeface="Cambria" pitchFamily="34" charset="-122"/>
                <a:cs typeface="Cambria" pitchFamily="34" charset="-120"/>
              </a:rPr>
              <a:t>Complete System Architecture</a:t>
            </a:r>
            <a:endParaRPr lang="en-US" sz="3000" dirty="0"/>
          </a:p>
        </p:txBody>
      </p:sp>
      <p:sp>
        <p:nvSpPr>
          <p:cNvPr id="4" name="Shape 2"/>
          <p:cNvSpPr/>
          <p:nvPr/>
        </p:nvSpPr>
        <p:spPr>
          <a:xfrm>
            <a:off x="1051560" y="1371600"/>
            <a:ext cx="3931920" cy="384048"/>
          </a:xfrm>
          <a:prstGeom prst="roundRect">
            <a:avLst>
              <a:gd name="adj" fmla="val 14286"/>
            </a:avLst>
          </a:prstGeom>
          <a:solidFill>
            <a:srgbClr val="8C8C86"/>
          </a:solidFill>
          <a:ln/>
        </p:spPr>
      </p:sp>
      <p:sp>
        <p:nvSpPr>
          <p:cNvPr id="5" name="Text 3"/>
          <p:cNvSpPr txBox="1"/>
          <p:nvPr/>
        </p:nvSpPr>
        <p:spPr>
          <a:xfrm>
            <a:off x="1051560" y="1371600"/>
            <a:ext cx="393192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Camera + LED</a:t>
            </a:r>
            <a:endParaRPr lang="en-US" sz="1050" dirty="0"/>
          </a:p>
        </p:txBody>
      </p:sp>
      <p:sp>
        <p:nvSpPr>
          <p:cNvPr id="6" name="Shape 4"/>
          <p:cNvSpPr/>
          <p:nvPr/>
        </p:nvSpPr>
        <p:spPr>
          <a:xfrm>
            <a:off x="3017520" y="1755648"/>
            <a:ext cx="0" cy="91440"/>
          </a:xfrm>
          <a:prstGeom prst="line">
            <a:avLst/>
          </a:prstGeom>
          <a:noFill/>
          <a:ln w="25400">
            <a:solidFill>
              <a:srgbClr val="8C8C86"/>
            </a:solidFill>
            <a:prstDash val="solid"/>
            <a:tailEnd type="triangle"/>
          </a:ln>
        </p:spPr>
      </p:sp>
      <p:sp>
        <p:nvSpPr>
          <p:cNvPr id="7" name="Shape 5"/>
          <p:cNvSpPr/>
          <p:nvPr/>
        </p:nvSpPr>
        <p:spPr>
          <a:xfrm>
            <a:off x="1051560" y="1847088"/>
            <a:ext cx="3931920" cy="384048"/>
          </a:xfrm>
          <a:prstGeom prst="roundRect">
            <a:avLst>
              <a:gd name="adj" fmla="val 14286"/>
            </a:avLst>
          </a:prstGeom>
          <a:solidFill>
            <a:srgbClr val="8C8C86"/>
          </a:solidFill>
          <a:ln/>
        </p:spPr>
      </p:sp>
      <p:sp>
        <p:nvSpPr>
          <p:cNvPr id="8" name="Text 6"/>
          <p:cNvSpPr txBox="1"/>
          <p:nvPr/>
        </p:nvSpPr>
        <p:spPr>
          <a:xfrm>
            <a:off x="1051560" y="1847088"/>
            <a:ext cx="393192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Raspberry Pi - Image Capture</a:t>
            </a:r>
            <a:endParaRPr lang="en-US" sz="1050" dirty="0"/>
          </a:p>
        </p:txBody>
      </p:sp>
      <p:sp>
        <p:nvSpPr>
          <p:cNvPr id="9" name="Shape 7"/>
          <p:cNvSpPr/>
          <p:nvPr/>
        </p:nvSpPr>
        <p:spPr>
          <a:xfrm>
            <a:off x="3017520" y="2231136"/>
            <a:ext cx="0" cy="91440"/>
          </a:xfrm>
          <a:prstGeom prst="line">
            <a:avLst/>
          </a:prstGeom>
          <a:noFill/>
          <a:ln w="25400">
            <a:solidFill>
              <a:srgbClr val="8C8C86"/>
            </a:solidFill>
            <a:prstDash val="solid"/>
            <a:tailEnd type="triangle"/>
          </a:ln>
        </p:spPr>
      </p:sp>
      <p:sp>
        <p:nvSpPr>
          <p:cNvPr id="10" name="Shape 8"/>
          <p:cNvSpPr/>
          <p:nvPr/>
        </p:nvSpPr>
        <p:spPr>
          <a:xfrm>
            <a:off x="1051560" y="2322576"/>
            <a:ext cx="3931920" cy="384048"/>
          </a:xfrm>
          <a:prstGeom prst="roundRect">
            <a:avLst>
              <a:gd name="adj" fmla="val 14286"/>
            </a:avLst>
          </a:prstGeom>
          <a:solidFill>
            <a:srgbClr val="2E3336"/>
          </a:solidFill>
          <a:ln/>
        </p:spPr>
      </p:sp>
      <p:sp>
        <p:nvSpPr>
          <p:cNvPr id="11" name="Text 9"/>
          <p:cNvSpPr txBox="1"/>
          <p:nvPr/>
        </p:nvSpPr>
        <p:spPr>
          <a:xfrm>
            <a:off x="1051560" y="2322576"/>
            <a:ext cx="393192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Image Quality Check</a:t>
            </a:r>
            <a:endParaRPr lang="en-US" sz="1050" dirty="0"/>
          </a:p>
        </p:txBody>
      </p:sp>
      <p:sp>
        <p:nvSpPr>
          <p:cNvPr id="12" name="Shape 10"/>
          <p:cNvSpPr/>
          <p:nvPr/>
        </p:nvSpPr>
        <p:spPr>
          <a:xfrm>
            <a:off x="3017520" y="2706624"/>
            <a:ext cx="0" cy="91440"/>
          </a:xfrm>
          <a:prstGeom prst="line">
            <a:avLst/>
          </a:prstGeom>
          <a:noFill/>
          <a:ln w="25400">
            <a:solidFill>
              <a:srgbClr val="8C8C86"/>
            </a:solidFill>
            <a:prstDash val="solid"/>
            <a:tailEnd type="triangle"/>
          </a:ln>
        </p:spPr>
      </p:sp>
      <p:sp>
        <p:nvSpPr>
          <p:cNvPr id="13" name="Shape 11"/>
          <p:cNvSpPr/>
          <p:nvPr/>
        </p:nvSpPr>
        <p:spPr>
          <a:xfrm>
            <a:off x="1051560" y="2798064"/>
            <a:ext cx="3931920" cy="384048"/>
          </a:xfrm>
          <a:prstGeom prst="roundRect">
            <a:avLst>
              <a:gd name="adj" fmla="val 14286"/>
            </a:avLst>
          </a:prstGeom>
          <a:solidFill>
            <a:srgbClr val="2E3336"/>
          </a:solidFill>
          <a:ln/>
        </p:spPr>
      </p:sp>
      <p:sp>
        <p:nvSpPr>
          <p:cNvPr id="14" name="Text 12"/>
          <p:cNvSpPr txBox="1"/>
          <p:nvPr/>
        </p:nvSpPr>
        <p:spPr>
          <a:xfrm>
            <a:off x="1051560" y="2798064"/>
            <a:ext cx="393192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Calibration &amp; Perspective Correction</a:t>
            </a:r>
            <a:endParaRPr lang="en-US" sz="1050" dirty="0"/>
          </a:p>
        </p:txBody>
      </p:sp>
      <p:sp>
        <p:nvSpPr>
          <p:cNvPr id="15" name="Shape 13"/>
          <p:cNvSpPr/>
          <p:nvPr/>
        </p:nvSpPr>
        <p:spPr>
          <a:xfrm>
            <a:off x="3017520" y="3182112"/>
            <a:ext cx="0" cy="91440"/>
          </a:xfrm>
          <a:prstGeom prst="line">
            <a:avLst/>
          </a:prstGeom>
          <a:noFill/>
          <a:ln w="25400">
            <a:solidFill>
              <a:srgbClr val="8C8C86"/>
            </a:solidFill>
            <a:prstDash val="solid"/>
            <a:tailEnd type="triangle"/>
          </a:ln>
        </p:spPr>
      </p:sp>
      <p:sp>
        <p:nvSpPr>
          <p:cNvPr id="16" name="Shape 14"/>
          <p:cNvSpPr/>
          <p:nvPr/>
        </p:nvSpPr>
        <p:spPr>
          <a:xfrm>
            <a:off x="1051560" y="3273552"/>
            <a:ext cx="3931920" cy="384048"/>
          </a:xfrm>
          <a:prstGeom prst="roundRect">
            <a:avLst>
              <a:gd name="adj" fmla="val 14286"/>
            </a:avLst>
          </a:prstGeom>
          <a:solidFill>
            <a:srgbClr val="2E3336"/>
          </a:solidFill>
          <a:ln/>
        </p:spPr>
      </p:sp>
      <p:sp>
        <p:nvSpPr>
          <p:cNvPr id="17" name="Text 15"/>
          <p:cNvSpPr txBox="1"/>
          <p:nvPr/>
        </p:nvSpPr>
        <p:spPr>
          <a:xfrm>
            <a:off x="1051560" y="3273552"/>
            <a:ext cx="393192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Preprocessing</a:t>
            </a:r>
            <a:endParaRPr lang="en-US" sz="1050" dirty="0"/>
          </a:p>
        </p:txBody>
      </p:sp>
      <p:sp>
        <p:nvSpPr>
          <p:cNvPr id="18" name="Shape 16"/>
          <p:cNvSpPr/>
          <p:nvPr/>
        </p:nvSpPr>
        <p:spPr>
          <a:xfrm>
            <a:off x="3017520" y="3657600"/>
            <a:ext cx="0" cy="91440"/>
          </a:xfrm>
          <a:prstGeom prst="line">
            <a:avLst/>
          </a:prstGeom>
          <a:noFill/>
          <a:ln w="25400">
            <a:solidFill>
              <a:srgbClr val="8C8C86"/>
            </a:solidFill>
            <a:prstDash val="solid"/>
            <a:tailEnd type="triangle"/>
          </a:ln>
        </p:spPr>
      </p:sp>
      <p:sp>
        <p:nvSpPr>
          <p:cNvPr id="19" name="Shape 17"/>
          <p:cNvSpPr/>
          <p:nvPr/>
        </p:nvSpPr>
        <p:spPr>
          <a:xfrm>
            <a:off x="1051560" y="3749040"/>
            <a:ext cx="3931920" cy="384048"/>
          </a:xfrm>
          <a:prstGeom prst="roundRect">
            <a:avLst>
              <a:gd name="adj" fmla="val 14286"/>
            </a:avLst>
          </a:prstGeom>
          <a:solidFill>
            <a:srgbClr val="F2661F"/>
          </a:solidFill>
          <a:ln/>
        </p:spPr>
      </p:sp>
      <p:sp>
        <p:nvSpPr>
          <p:cNvPr id="20" name="Text 18"/>
          <p:cNvSpPr txBox="1"/>
          <p:nvPr/>
        </p:nvSpPr>
        <p:spPr>
          <a:xfrm>
            <a:off x="1051560" y="3749040"/>
            <a:ext cx="393192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Hessian / Ridge Filtering</a:t>
            </a:r>
            <a:endParaRPr lang="en-US" sz="1050" dirty="0"/>
          </a:p>
        </p:txBody>
      </p:sp>
      <p:sp>
        <p:nvSpPr>
          <p:cNvPr id="21" name="Shape 19"/>
          <p:cNvSpPr/>
          <p:nvPr/>
        </p:nvSpPr>
        <p:spPr>
          <a:xfrm>
            <a:off x="3017520" y="4133088"/>
            <a:ext cx="0" cy="91440"/>
          </a:xfrm>
          <a:prstGeom prst="line">
            <a:avLst/>
          </a:prstGeom>
          <a:noFill/>
          <a:ln w="25400">
            <a:solidFill>
              <a:srgbClr val="8C8C86"/>
            </a:solidFill>
            <a:prstDash val="solid"/>
            <a:tailEnd type="triangle"/>
          </a:ln>
        </p:spPr>
      </p:sp>
      <p:sp>
        <p:nvSpPr>
          <p:cNvPr id="22" name="Shape 20"/>
          <p:cNvSpPr/>
          <p:nvPr/>
        </p:nvSpPr>
        <p:spPr>
          <a:xfrm>
            <a:off x="1051560" y="4224528"/>
            <a:ext cx="3931920" cy="384048"/>
          </a:xfrm>
          <a:prstGeom prst="roundRect">
            <a:avLst>
              <a:gd name="adj" fmla="val 14286"/>
            </a:avLst>
          </a:prstGeom>
          <a:solidFill>
            <a:srgbClr val="F2661F"/>
          </a:solidFill>
          <a:ln/>
        </p:spPr>
      </p:sp>
      <p:sp>
        <p:nvSpPr>
          <p:cNvPr id="23" name="Text 21"/>
          <p:cNvSpPr txBox="1"/>
          <p:nvPr/>
        </p:nvSpPr>
        <p:spPr>
          <a:xfrm>
            <a:off x="1051560" y="4224528"/>
            <a:ext cx="393192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Adaptive Thresholding</a:t>
            </a:r>
            <a:endParaRPr lang="en-US" sz="1050" dirty="0"/>
          </a:p>
        </p:txBody>
      </p:sp>
      <p:sp>
        <p:nvSpPr>
          <p:cNvPr id="24" name="Shape 22"/>
          <p:cNvSpPr/>
          <p:nvPr/>
        </p:nvSpPr>
        <p:spPr>
          <a:xfrm>
            <a:off x="3017520" y="4608576"/>
            <a:ext cx="0" cy="91440"/>
          </a:xfrm>
          <a:prstGeom prst="line">
            <a:avLst/>
          </a:prstGeom>
          <a:noFill/>
          <a:ln w="25400">
            <a:solidFill>
              <a:srgbClr val="8C8C86"/>
            </a:solidFill>
            <a:prstDash val="solid"/>
            <a:tailEnd type="triangle"/>
          </a:ln>
        </p:spPr>
      </p:sp>
      <p:sp>
        <p:nvSpPr>
          <p:cNvPr id="25" name="Shape 23"/>
          <p:cNvSpPr/>
          <p:nvPr/>
        </p:nvSpPr>
        <p:spPr>
          <a:xfrm>
            <a:off x="1051560" y="4700016"/>
            <a:ext cx="3931920" cy="384048"/>
          </a:xfrm>
          <a:prstGeom prst="roundRect">
            <a:avLst>
              <a:gd name="adj" fmla="val 14286"/>
            </a:avLst>
          </a:prstGeom>
          <a:solidFill>
            <a:srgbClr val="2E3336"/>
          </a:solidFill>
          <a:ln/>
        </p:spPr>
      </p:sp>
      <p:sp>
        <p:nvSpPr>
          <p:cNvPr id="26" name="Text 24"/>
          <p:cNvSpPr txBox="1"/>
          <p:nvPr/>
        </p:nvSpPr>
        <p:spPr>
          <a:xfrm>
            <a:off x="1051560" y="4700016"/>
            <a:ext cx="393192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Crack Mask</a:t>
            </a:r>
            <a:endParaRPr lang="en-US" sz="1050" dirty="0"/>
          </a:p>
        </p:txBody>
      </p:sp>
      <p:sp>
        <p:nvSpPr>
          <p:cNvPr id="27" name="Shape 25"/>
          <p:cNvSpPr/>
          <p:nvPr/>
        </p:nvSpPr>
        <p:spPr>
          <a:xfrm>
            <a:off x="3017520" y="5175504"/>
            <a:ext cx="0" cy="164592"/>
          </a:xfrm>
          <a:prstGeom prst="line">
            <a:avLst/>
          </a:prstGeom>
          <a:noFill/>
          <a:ln w="25400">
            <a:solidFill>
              <a:srgbClr val="8C8C86"/>
            </a:solidFill>
            <a:prstDash val="solid"/>
            <a:tailEnd type="triangle"/>
          </a:ln>
        </p:spPr>
      </p:sp>
      <p:sp>
        <p:nvSpPr>
          <p:cNvPr id="28" name="Shape 26"/>
          <p:cNvSpPr/>
          <p:nvPr/>
        </p:nvSpPr>
        <p:spPr>
          <a:xfrm>
            <a:off x="1051560" y="5340096"/>
            <a:ext cx="1188720" cy="365760"/>
          </a:xfrm>
          <a:prstGeom prst="roundRect">
            <a:avLst>
              <a:gd name="adj" fmla="val 20000"/>
            </a:avLst>
          </a:prstGeom>
          <a:solidFill>
            <a:srgbClr val="F5A623"/>
          </a:solidFill>
          <a:ln/>
        </p:spPr>
      </p:sp>
      <p:sp>
        <p:nvSpPr>
          <p:cNvPr id="29" name="Text 27"/>
          <p:cNvSpPr txBox="1"/>
          <p:nvPr/>
        </p:nvSpPr>
        <p:spPr>
          <a:xfrm>
            <a:off x="1051560" y="5340096"/>
            <a:ext cx="1188720" cy="365760"/>
          </a:xfrm>
          <a:prstGeom prst="rect">
            <a:avLst/>
          </a:prstGeom>
          <a:noFill/>
          <a:ln/>
        </p:spPr>
        <p:txBody>
          <a:bodyPr wrap="square" lIns="0" tIns="0" rIns="0" bIns="0" rtlCol="0" anchor="ctr"/>
          <a:lstStyle/>
          <a:p>
            <a:pPr marL="0" indent="0" algn="ctr">
              <a:buNone/>
            </a:pPr>
            <a:r>
              <a:rPr lang="en-US" sz="1100" b="1" dirty="0">
                <a:solidFill>
                  <a:srgbClr val="23272A"/>
                </a:solidFill>
                <a:latin typeface="Calibri" pitchFamily="34" charset="0"/>
                <a:ea typeface="Calibri" pitchFamily="34" charset="-122"/>
                <a:cs typeface="Calibri" pitchFamily="34" charset="-120"/>
              </a:rPr>
              <a:t>Width</a:t>
            </a:r>
            <a:endParaRPr lang="en-US" sz="1100" dirty="0"/>
          </a:p>
        </p:txBody>
      </p:sp>
      <p:sp>
        <p:nvSpPr>
          <p:cNvPr id="30" name="Shape 28"/>
          <p:cNvSpPr/>
          <p:nvPr/>
        </p:nvSpPr>
        <p:spPr>
          <a:xfrm>
            <a:off x="2423160" y="5340096"/>
            <a:ext cx="1188720" cy="365760"/>
          </a:xfrm>
          <a:prstGeom prst="roundRect">
            <a:avLst>
              <a:gd name="adj" fmla="val 20000"/>
            </a:avLst>
          </a:prstGeom>
          <a:solidFill>
            <a:srgbClr val="F5A623"/>
          </a:solidFill>
          <a:ln/>
        </p:spPr>
      </p:sp>
      <p:sp>
        <p:nvSpPr>
          <p:cNvPr id="31" name="Text 29"/>
          <p:cNvSpPr txBox="1"/>
          <p:nvPr/>
        </p:nvSpPr>
        <p:spPr>
          <a:xfrm>
            <a:off x="2423160" y="5340096"/>
            <a:ext cx="1188720" cy="365760"/>
          </a:xfrm>
          <a:prstGeom prst="rect">
            <a:avLst/>
          </a:prstGeom>
          <a:noFill/>
          <a:ln/>
        </p:spPr>
        <p:txBody>
          <a:bodyPr wrap="square" lIns="0" tIns="0" rIns="0" bIns="0" rtlCol="0" anchor="ctr"/>
          <a:lstStyle/>
          <a:p>
            <a:pPr marL="0" indent="0" algn="ctr">
              <a:buNone/>
            </a:pPr>
            <a:r>
              <a:rPr lang="en-US" sz="1100" b="1" dirty="0">
                <a:solidFill>
                  <a:srgbClr val="23272A"/>
                </a:solidFill>
                <a:latin typeface="Calibri" pitchFamily="34" charset="0"/>
                <a:ea typeface="Calibri" pitchFamily="34" charset="-122"/>
                <a:cs typeface="Calibri" pitchFamily="34" charset="-120"/>
              </a:rPr>
              <a:t>Length</a:t>
            </a:r>
            <a:endParaRPr lang="en-US" sz="1100" dirty="0"/>
          </a:p>
        </p:txBody>
      </p:sp>
      <p:sp>
        <p:nvSpPr>
          <p:cNvPr id="32" name="Shape 30"/>
          <p:cNvSpPr/>
          <p:nvPr/>
        </p:nvSpPr>
        <p:spPr>
          <a:xfrm>
            <a:off x="3794760" y="5340096"/>
            <a:ext cx="1188720" cy="365760"/>
          </a:xfrm>
          <a:prstGeom prst="roundRect">
            <a:avLst>
              <a:gd name="adj" fmla="val 20000"/>
            </a:avLst>
          </a:prstGeom>
          <a:solidFill>
            <a:srgbClr val="F5A623"/>
          </a:solidFill>
          <a:ln/>
        </p:spPr>
      </p:sp>
      <p:sp>
        <p:nvSpPr>
          <p:cNvPr id="33" name="Text 31"/>
          <p:cNvSpPr txBox="1"/>
          <p:nvPr/>
        </p:nvSpPr>
        <p:spPr>
          <a:xfrm>
            <a:off x="3794760" y="5340096"/>
            <a:ext cx="1188720" cy="365760"/>
          </a:xfrm>
          <a:prstGeom prst="rect">
            <a:avLst/>
          </a:prstGeom>
          <a:noFill/>
          <a:ln/>
        </p:spPr>
        <p:txBody>
          <a:bodyPr wrap="square" lIns="0" tIns="0" rIns="0" bIns="0" rtlCol="0" anchor="ctr"/>
          <a:lstStyle/>
          <a:p>
            <a:pPr marL="0" indent="0" algn="ctr">
              <a:buNone/>
            </a:pPr>
            <a:r>
              <a:rPr lang="en-US" sz="1100" b="1" dirty="0">
                <a:solidFill>
                  <a:srgbClr val="23272A"/>
                </a:solidFill>
                <a:latin typeface="Calibri" pitchFamily="34" charset="0"/>
                <a:ea typeface="Calibri" pitchFamily="34" charset="-122"/>
                <a:cs typeface="Calibri" pitchFamily="34" charset="-120"/>
              </a:rPr>
              <a:t>Orientation</a:t>
            </a:r>
            <a:endParaRPr lang="en-US" sz="1100" dirty="0"/>
          </a:p>
        </p:txBody>
      </p:sp>
      <p:sp>
        <p:nvSpPr>
          <p:cNvPr id="34" name="Text 32"/>
          <p:cNvSpPr txBox="1"/>
          <p:nvPr/>
        </p:nvSpPr>
        <p:spPr>
          <a:xfrm>
            <a:off x="1051560" y="5843016"/>
            <a:ext cx="3931920" cy="457200"/>
          </a:xfrm>
          <a:prstGeom prst="rect">
            <a:avLst/>
          </a:prstGeom>
          <a:noFill/>
          <a:ln/>
        </p:spPr>
        <p:txBody>
          <a:bodyPr wrap="square" rtlCol="0" anchor="ctr"/>
          <a:lstStyle/>
          <a:p>
            <a:pPr marL="0" indent="0" algn="ctr">
              <a:buNone/>
            </a:pPr>
            <a:r>
              <a:rPr lang="en-US" sz="1050" i="1" dirty="0">
                <a:solidFill>
                  <a:srgbClr val="5B5F61"/>
                </a:solidFill>
                <a:latin typeface="Calibri" pitchFamily="34" charset="0"/>
                <a:ea typeface="Calibri" pitchFamily="34" charset="-122"/>
                <a:cs typeface="Calibri" pitchFamily="34" charset="-120"/>
              </a:rPr>
              <a:t>Calibrated to mm → stored in database &amp; PDF dashboard</a:t>
            </a:r>
            <a:endParaRPr lang="en-US" sz="1050" dirty="0"/>
          </a:p>
        </p:txBody>
      </p:sp>
      <p:sp>
        <p:nvSpPr>
          <p:cNvPr id="35" name="Shape 33"/>
          <p:cNvSpPr/>
          <p:nvPr/>
        </p:nvSpPr>
        <p:spPr>
          <a:xfrm>
            <a:off x="7818120" y="1417320"/>
            <a:ext cx="3840480" cy="4754880"/>
          </a:xfrm>
          <a:prstGeom prst="roundRect">
            <a:avLst>
              <a:gd name="adj" fmla="val 1429"/>
            </a:avLst>
          </a:prstGeom>
          <a:solidFill>
            <a:srgbClr val="FFFFFF"/>
          </a:solidFill>
          <a:ln/>
          <a:effectLst>
            <a:outerShdw blurRad="76200" dist="25400" dir="5400000" algn="bl" rotWithShape="0">
              <a:srgbClr val="1A1A1A">
                <a:alpha val="18000"/>
              </a:srgbClr>
            </a:outerShdw>
          </a:effectLst>
        </p:spPr>
      </p:sp>
      <p:sp>
        <p:nvSpPr>
          <p:cNvPr id="36" name="Text 34"/>
          <p:cNvSpPr txBox="1"/>
          <p:nvPr/>
        </p:nvSpPr>
        <p:spPr>
          <a:xfrm>
            <a:off x="8046720" y="1600200"/>
            <a:ext cx="3383280" cy="320040"/>
          </a:xfrm>
          <a:prstGeom prst="rect">
            <a:avLst/>
          </a:prstGeom>
          <a:noFill/>
          <a:ln/>
        </p:spPr>
        <p:txBody>
          <a:bodyPr wrap="square" rtlCol="0" anchor="ctr"/>
          <a:lstStyle/>
          <a:p>
            <a:pPr marL="0" indent="0">
              <a:buNone/>
            </a:pPr>
            <a:r>
              <a:rPr lang="en-US" sz="1500" b="1" dirty="0">
                <a:solidFill>
                  <a:srgbClr val="23272A"/>
                </a:solidFill>
                <a:latin typeface="Cambria" pitchFamily="34" charset="0"/>
                <a:ea typeface="Cambria" pitchFamily="34" charset="-122"/>
                <a:cs typeface="Cambria" pitchFamily="34" charset="-120"/>
              </a:rPr>
              <a:t>Three layers</a:t>
            </a:r>
            <a:endParaRPr lang="en-US" sz="1500" dirty="0"/>
          </a:p>
        </p:txBody>
      </p:sp>
      <p:sp>
        <p:nvSpPr>
          <p:cNvPr id="37" name="Shape 35"/>
          <p:cNvSpPr/>
          <p:nvPr/>
        </p:nvSpPr>
        <p:spPr>
          <a:xfrm>
            <a:off x="8046720" y="2057400"/>
            <a:ext cx="365760" cy="365760"/>
          </a:xfrm>
          <a:prstGeom prst="ellipse">
            <a:avLst/>
          </a:prstGeom>
          <a:solidFill>
            <a:srgbClr val="F2661F"/>
          </a:solidFill>
          <a:ln/>
        </p:spPr>
      </p:sp>
      <p:sp>
        <p:nvSpPr>
          <p:cNvPr id="38" name="Text 36"/>
          <p:cNvSpPr txBox="1"/>
          <p:nvPr/>
        </p:nvSpPr>
        <p:spPr>
          <a:xfrm>
            <a:off x="8046720" y="20574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9" name="Text 37"/>
          <p:cNvSpPr txBox="1"/>
          <p:nvPr/>
        </p:nvSpPr>
        <p:spPr>
          <a:xfrm>
            <a:off x="8549640" y="2029968"/>
            <a:ext cx="2926080" cy="320040"/>
          </a:xfrm>
          <a:prstGeom prst="rect">
            <a:avLst/>
          </a:prstGeom>
          <a:noFill/>
          <a:ln/>
        </p:spPr>
        <p:txBody>
          <a:bodyPr wrap="square" lIns="0" tIns="0" rIns="0" bIns="0" rtlCol="0" anchor="ctr"/>
          <a:lstStyle/>
          <a:p>
            <a:pPr marL="0" indent="0">
              <a:buNone/>
            </a:pPr>
            <a:r>
              <a:rPr lang="en-US" sz="1250" b="1" dirty="0">
                <a:solidFill>
                  <a:srgbClr val="23272A"/>
                </a:solidFill>
                <a:latin typeface="Cambria" pitchFamily="34" charset="0"/>
                <a:ea typeface="Cambria" pitchFamily="34" charset="-122"/>
                <a:cs typeface="Cambria" pitchFamily="34" charset="-120"/>
              </a:rPr>
              <a:t>Hardware</a:t>
            </a:r>
            <a:endParaRPr lang="en-US" sz="1250" dirty="0"/>
          </a:p>
        </p:txBody>
      </p:sp>
      <p:sp>
        <p:nvSpPr>
          <p:cNvPr id="40" name="Text 38"/>
          <p:cNvSpPr txBox="1"/>
          <p:nvPr/>
        </p:nvSpPr>
        <p:spPr>
          <a:xfrm>
            <a:off x="8549640" y="2350008"/>
            <a:ext cx="2971800" cy="685800"/>
          </a:xfrm>
          <a:prstGeom prst="rect">
            <a:avLst/>
          </a:prstGeom>
          <a:noFill/>
          <a:ln/>
        </p:spPr>
        <p:txBody>
          <a:bodyPr wrap="square" lIns="0" tIns="0" rIns="0" bIns="0" rtlCol="0" anchor="ctr"/>
          <a:lstStyle/>
          <a:p>
            <a:pPr marL="0" indent="0">
              <a:buNone/>
            </a:pPr>
            <a:r>
              <a:rPr lang="en-US" sz="1000" dirty="0">
                <a:solidFill>
                  <a:srgbClr val="5B5F61"/>
                </a:solidFill>
                <a:latin typeface="Calibri" pitchFamily="34" charset="0"/>
                <a:ea typeface="Calibri" pitchFamily="34" charset="-122"/>
                <a:cs typeface="Calibri" pitchFamily="34" charset="-120"/>
              </a:rPr>
              <a:t>Captures a controlled image of the concrete surface.</a:t>
            </a:r>
            <a:endParaRPr lang="en-US" sz="1000" dirty="0"/>
          </a:p>
        </p:txBody>
      </p:sp>
      <p:sp>
        <p:nvSpPr>
          <p:cNvPr id="41" name="Shape 39"/>
          <p:cNvSpPr/>
          <p:nvPr/>
        </p:nvSpPr>
        <p:spPr>
          <a:xfrm>
            <a:off x="8046720" y="3108960"/>
            <a:ext cx="365760" cy="365760"/>
          </a:xfrm>
          <a:prstGeom prst="ellipse">
            <a:avLst/>
          </a:prstGeom>
          <a:solidFill>
            <a:srgbClr val="F2661F"/>
          </a:solidFill>
          <a:ln/>
        </p:spPr>
      </p:sp>
      <p:sp>
        <p:nvSpPr>
          <p:cNvPr id="42" name="Text 40"/>
          <p:cNvSpPr txBox="1"/>
          <p:nvPr/>
        </p:nvSpPr>
        <p:spPr>
          <a:xfrm>
            <a:off x="8046720" y="31089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3" name="Text 41"/>
          <p:cNvSpPr txBox="1"/>
          <p:nvPr/>
        </p:nvSpPr>
        <p:spPr>
          <a:xfrm>
            <a:off x="8549640" y="3081528"/>
            <a:ext cx="2926080" cy="320040"/>
          </a:xfrm>
          <a:prstGeom prst="rect">
            <a:avLst/>
          </a:prstGeom>
          <a:noFill/>
          <a:ln/>
        </p:spPr>
        <p:txBody>
          <a:bodyPr wrap="square" lIns="0" tIns="0" rIns="0" bIns="0" rtlCol="0" anchor="ctr"/>
          <a:lstStyle/>
          <a:p>
            <a:pPr marL="0" indent="0">
              <a:buNone/>
            </a:pPr>
            <a:r>
              <a:rPr lang="en-US" sz="1250" b="1" dirty="0">
                <a:solidFill>
                  <a:srgbClr val="23272A"/>
                </a:solidFill>
                <a:latin typeface="Cambria" pitchFamily="34" charset="0"/>
                <a:ea typeface="Cambria" pitchFamily="34" charset="-122"/>
                <a:cs typeface="Cambria" pitchFamily="34" charset="-120"/>
              </a:rPr>
              <a:t>Vision Processing</a:t>
            </a:r>
            <a:endParaRPr lang="en-US" sz="1250" dirty="0"/>
          </a:p>
        </p:txBody>
      </p:sp>
      <p:sp>
        <p:nvSpPr>
          <p:cNvPr id="44" name="Text 42"/>
          <p:cNvSpPr txBox="1"/>
          <p:nvPr/>
        </p:nvSpPr>
        <p:spPr>
          <a:xfrm>
            <a:off x="8549640" y="3401568"/>
            <a:ext cx="2971800" cy="685800"/>
          </a:xfrm>
          <a:prstGeom prst="rect">
            <a:avLst/>
          </a:prstGeom>
          <a:noFill/>
          <a:ln/>
        </p:spPr>
        <p:txBody>
          <a:bodyPr wrap="square" lIns="0" tIns="0" rIns="0" bIns="0" rtlCol="0" anchor="ctr"/>
          <a:lstStyle/>
          <a:p>
            <a:pPr marL="0" indent="0">
              <a:buNone/>
            </a:pPr>
            <a:r>
              <a:rPr lang="en-US" sz="1000" dirty="0">
                <a:solidFill>
                  <a:srgbClr val="5B5F61"/>
                </a:solidFill>
                <a:latin typeface="Calibri" pitchFamily="34" charset="0"/>
                <a:ea typeface="Calibri" pitchFamily="34" charset="-122"/>
                <a:cs typeface="Calibri" pitchFamily="34" charset="-120"/>
              </a:rPr>
              <a:t>Segments the crack and extracts its geometric properties.</a:t>
            </a:r>
            <a:endParaRPr lang="en-US" sz="1000" dirty="0"/>
          </a:p>
        </p:txBody>
      </p:sp>
      <p:sp>
        <p:nvSpPr>
          <p:cNvPr id="45" name="Shape 43"/>
          <p:cNvSpPr/>
          <p:nvPr/>
        </p:nvSpPr>
        <p:spPr>
          <a:xfrm>
            <a:off x="8046720" y="4160520"/>
            <a:ext cx="365760" cy="365760"/>
          </a:xfrm>
          <a:prstGeom prst="ellipse">
            <a:avLst/>
          </a:prstGeom>
          <a:solidFill>
            <a:srgbClr val="F2661F"/>
          </a:solidFill>
          <a:ln/>
        </p:spPr>
      </p:sp>
      <p:sp>
        <p:nvSpPr>
          <p:cNvPr id="46" name="Text 44"/>
          <p:cNvSpPr txBox="1"/>
          <p:nvPr/>
        </p:nvSpPr>
        <p:spPr>
          <a:xfrm>
            <a:off x="8046720" y="41605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7" name="Text 45"/>
          <p:cNvSpPr txBox="1"/>
          <p:nvPr/>
        </p:nvSpPr>
        <p:spPr>
          <a:xfrm>
            <a:off x="8549640" y="4133088"/>
            <a:ext cx="2926080" cy="320040"/>
          </a:xfrm>
          <a:prstGeom prst="rect">
            <a:avLst/>
          </a:prstGeom>
          <a:noFill/>
          <a:ln/>
        </p:spPr>
        <p:txBody>
          <a:bodyPr wrap="square" lIns="0" tIns="0" rIns="0" bIns="0" rtlCol="0" anchor="ctr"/>
          <a:lstStyle/>
          <a:p>
            <a:pPr marL="0" indent="0">
              <a:buNone/>
            </a:pPr>
            <a:r>
              <a:rPr lang="en-US" sz="1250" b="1" dirty="0">
                <a:solidFill>
                  <a:srgbClr val="23272A"/>
                </a:solidFill>
                <a:latin typeface="Cambria" pitchFamily="34" charset="0"/>
                <a:ea typeface="Cambria" pitchFamily="34" charset="-122"/>
                <a:cs typeface="Cambria" pitchFamily="34" charset="-120"/>
              </a:rPr>
              <a:t>Digital Reporting</a:t>
            </a:r>
            <a:endParaRPr lang="en-US" sz="1250" dirty="0"/>
          </a:p>
        </p:txBody>
      </p:sp>
      <p:sp>
        <p:nvSpPr>
          <p:cNvPr id="48" name="Text 46"/>
          <p:cNvSpPr txBox="1"/>
          <p:nvPr/>
        </p:nvSpPr>
        <p:spPr>
          <a:xfrm>
            <a:off x="8549640" y="4453128"/>
            <a:ext cx="2971800" cy="685800"/>
          </a:xfrm>
          <a:prstGeom prst="rect">
            <a:avLst/>
          </a:prstGeom>
          <a:noFill/>
          <a:ln/>
        </p:spPr>
        <p:txBody>
          <a:bodyPr wrap="square" lIns="0" tIns="0" rIns="0" bIns="0" rtlCol="0" anchor="ctr"/>
          <a:lstStyle/>
          <a:p>
            <a:pPr marL="0" indent="0">
              <a:buNone/>
            </a:pPr>
            <a:r>
              <a:rPr lang="en-US" sz="1000" dirty="0">
                <a:solidFill>
                  <a:srgbClr val="5B5F61"/>
                </a:solidFill>
                <a:latin typeface="Calibri" pitchFamily="34" charset="0"/>
                <a:ea typeface="Calibri" pitchFamily="34" charset="-122"/>
                <a:cs typeface="Calibri" pitchFamily="34" charset="-120"/>
              </a:rPr>
              <a:t>Calibration converts pixels to millimeters; results are stored and displayed.</a:t>
            </a:r>
            <a:endParaRPr lang="en-US" sz="1000" dirty="0"/>
          </a:p>
        </p:txBody>
      </p:sp>
      <p:sp>
        <p:nvSpPr>
          <p:cNvPr id="49" name="Text 47"/>
          <p:cNvSpPr txBox="1"/>
          <p:nvPr/>
        </p:nvSpPr>
        <p:spPr>
          <a:xfrm>
            <a:off x="8046720" y="5349240"/>
            <a:ext cx="3429000" cy="640080"/>
          </a:xfrm>
          <a:prstGeom prst="rect">
            <a:avLst/>
          </a:prstGeom>
          <a:noFill/>
          <a:ln/>
        </p:spPr>
        <p:txBody>
          <a:bodyPr wrap="square" rtlCol="0" anchor="ctr"/>
          <a:lstStyle/>
          <a:p>
            <a:pPr marL="0" indent="0" algn="ctr">
              <a:buNone/>
            </a:pPr>
            <a:r>
              <a:rPr lang="en-US" sz="950" i="1" dirty="0">
                <a:solidFill>
                  <a:srgbClr val="C24C10"/>
                </a:solidFill>
                <a:latin typeface="Calibri" pitchFamily="34" charset="0"/>
                <a:ea typeface="Calibri" pitchFamily="34" charset="-122"/>
                <a:cs typeface="Calibri" pitchFamily="34" charset="-120"/>
              </a:rPr>
              <a:t>Don't read every box - walk the audience through hardware → vision → reporting.</a:t>
            </a:r>
            <a:endParaRPr lang="en-US" sz="950" dirty="0"/>
          </a:p>
        </p:txBody>
      </p:sp>
      <p:sp>
        <p:nvSpPr>
          <p:cNvPr id="50" name="Text 48"/>
          <p:cNvSpPr txBox="1"/>
          <p:nvPr/>
        </p:nvSpPr>
        <p:spPr>
          <a:xfrm>
            <a:off x="11292840" y="6510528"/>
            <a:ext cx="731520" cy="274320"/>
          </a:xfrm>
          <a:prstGeom prst="rect">
            <a:avLst/>
          </a:prstGeom>
          <a:noFill/>
          <a:ln/>
        </p:spPr>
        <p:txBody>
          <a:bodyPr wrap="square" rtlCol="0" anchor="ctr"/>
          <a:lstStyle/>
          <a:p>
            <a:pPr marL="0" indent="0" algn="r">
              <a:buNone/>
            </a:pPr>
            <a:r>
              <a:rPr lang="en-US" sz="900" dirty="0">
                <a:solidFill>
                  <a:srgbClr val="8C8C86"/>
                </a:solidFill>
                <a:latin typeface="Calibri" pitchFamily="34" charset="0"/>
                <a:ea typeface="Calibri" pitchFamily="34" charset="-122"/>
                <a:cs typeface="Calibri" pitchFamily="34" charset="-120"/>
              </a:rPr>
              <a:t>06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3E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F2661F"/>
                </a:solidFill>
                <a:latin typeface="Calibri" pitchFamily="34" charset="0"/>
                <a:ea typeface="Calibri" pitchFamily="34" charset="-122"/>
                <a:cs typeface="Calibri" pitchFamily="34" charset="-120"/>
              </a:rPr>
              <a:t>VISION PIPELINE</a:t>
            </a:r>
            <a:endParaRPr lang="en-US" sz="1200" dirty="0"/>
          </a:p>
        </p:txBody>
      </p:sp>
      <p:sp>
        <p:nvSpPr>
          <p:cNvPr id="3" name="Text 1"/>
          <p:cNvSpPr txBox="1"/>
          <p:nvPr/>
        </p:nvSpPr>
        <p:spPr>
          <a:xfrm>
            <a:off x="548640" y="621792"/>
            <a:ext cx="10515600" cy="640080"/>
          </a:xfrm>
          <a:prstGeom prst="rect">
            <a:avLst/>
          </a:prstGeom>
          <a:noFill/>
          <a:ln/>
        </p:spPr>
        <p:txBody>
          <a:bodyPr wrap="square" lIns="0" tIns="0" rIns="0" bIns="0" rtlCol="0" anchor="ctr"/>
          <a:lstStyle/>
          <a:p>
            <a:pPr marL="0" indent="0">
              <a:buNone/>
            </a:pPr>
            <a:r>
              <a:rPr lang="en-US" sz="3000" b="1" dirty="0">
                <a:solidFill>
                  <a:srgbClr val="23272A"/>
                </a:solidFill>
                <a:latin typeface="Cambria" pitchFamily="34" charset="0"/>
                <a:ea typeface="Cambria" pitchFamily="34" charset="-122"/>
                <a:cs typeface="Cambria" pitchFamily="34" charset="-120"/>
              </a:rPr>
              <a:t>How Will The Crack Be Detected?</a:t>
            </a:r>
            <a:endParaRPr lang="en-US" sz="3000" dirty="0"/>
          </a:p>
        </p:txBody>
      </p:sp>
      <p:sp>
        <p:nvSpPr>
          <p:cNvPr id="4" name="Shape 2"/>
          <p:cNvSpPr/>
          <p:nvPr/>
        </p:nvSpPr>
        <p:spPr>
          <a:xfrm>
            <a:off x="548640" y="1417320"/>
            <a:ext cx="4114800" cy="420624"/>
          </a:xfrm>
          <a:prstGeom prst="roundRect">
            <a:avLst>
              <a:gd name="adj" fmla="val 13043"/>
            </a:avLst>
          </a:prstGeom>
          <a:solidFill>
            <a:srgbClr val="2E3336"/>
          </a:solidFill>
          <a:ln/>
        </p:spPr>
      </p:sp>
      <p:sp>
        <p:nvSpPr>
          <p:cNvPr id="5" name="Text 3"/>
          <p:cNvSpPr txBox="1"/>
          <p:nvPr/>
        </p:nvSpPr>
        <p:spPr>
          <a:xfrm>
            <a:off x="548640" y="1417320"/>
            <a:ext cx="4114800" cy="42062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Input Image</a:t>
            </a:r>
            <a:endParaRPr lang="en-US" sz="1150" dirty="0"/>
          </a:p>
        </p:txBody>
      </p:sp>
      <p:sp>
        <p:nvSpPr>
          <p:cNvPr id="6" name="Shape 4"/>
          <p:cNvSpPr/>
          <p:nvPr/>
        </p:nvSpPr>
        <p:spPr>
          <a:xfrm>
            <a:off x="2606040" y="1837944"/>
            <a:ext cx="0" cy="91440"/>
          </a:xfrm>
          <a:prstGeom prst="line">
            <a:avLst/>
          </a:prstGeom>
          <a:noFill/>
          <a:ln w="25400">
            <a:solidFill>
              <a:srgbClr val="8C8C86"/>
            </a:solidFill>
            <a:prstDash val="solid"/>
            <a:tailEnd type="triangle"/>
          </a:ln>
        </p:spPr>
      </p:sp>
      <p:sp>
        <p:nvSpPr>
          <p:cNvPr id="7" name="Shape 5"/>
          <p:cNvSpPr/>
          <p:nvPr/>
        </p:nvSpPr>
        <p:spPr>
          <a:xfrm>
            <a:off x="548640" y="1929384"/>
            <a:ext cx="4114800" cy="420624"/>
          </a:xfrm>
          <a:prstGeom prst="roundRect">
            <a:avLst>
              <a:gd name="adj" fmla="val 13043"/>
            </a:avLst>
          </a:prstGeom>
          <a:solidFill>
            <a:srgbClr val="2E3336"/>
          </a:solidFill>
          <a:ln/>
        </p:spPr>
      </p:sp>
      <p:sp>
        <p:nvSpPr>
          <p:cNvPr id="8" name="Text 6"/>
          <p:cNvSpPr txBox="1"/>
          <p:nvPr/>
        </p:nvSpPr>
        <p:spPr>
          <a:xfrm>
            <a:off x="548640" y="1929384"/>
            <a:ext cx="4114800" cy="42062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Grayscale</a:t>
            </a:r>
            <a:endParaRPr lang="en-US" sz="1150" dirty="0"/>
          </a:p>
        </p:txBody>
      </p:sp>
      <p:sp>
        <p:nvSpPr>
          <p:cNvPr id="9" name="Shape 7"/>
          <p:cNvSpPr/>
          <p:nvPr/>
        </p:nvSpPr>
        <p:spPr>
          <a:xfrm>
            <a:off x="2606040" y="2350008"/>
            <a:ext cx="0" cy="91440"/>
          </a:xfrm>
          <a:prstGeom prst="line">
            <a:avLst/>
          </a:prstGeom>
          <a:noFill/>
          <a:ln w="25400">
            <a:solidFill>
              <a:srgbClr val="8C8C86"/>
            </a:solidFill>
            <a:prstDash val="solid"/>
            <a:tailEnd type="triangle"/>
          </a:ln>
        </p:spPr>
      </p:sp>
      <p:sp>
        <p:nvSpPr>
          <p:cNvPr id="10" name="Shape 8"/>
          <p:cNvSpPr/>
          <p:nvPr/>
        </p:nvSpPr>
        <p:spPr>
          <a:xfrm>
            <a:off x="548640" y="2441448"/>
            <a:ext cx="4114800" cy="420624"/>
          </a:xfrm>
          <a:prstGeom prst="roundRect">
            <a:avLst>
              <a:gd name="adj" fmla="val 13043"/>
            </a:avLst>
          </a:prstGeom>
          <a:solidFill>
            <a:srgbClr val="2E3336"/>
          </a:solidFill>
          <a:ln/>
        </p:spPr>
      </p:sp>
      <p:sp>
        <p:nvSpPr>
          <p:cNvPr id="11" name="Text 9"/>
          <p:cNvSpPr txBox="1"/>
          <p:nvPr/>
        </p:nvSpPr>
        <p:spPr>
          <a:xfrm>
            <a:off x="548640" y="2441448"/>
            <a:ext cx="4114800" cy="42062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Noise Reduction</a:t>
            </a:r>
            <a:endParaRPr lang="en-US" sz="1150" dirty="0"/>
          </a:p>
        </p:txBody>
      </p:sp>
      <p:sp>
        <p:nvSpPr>
          <p:cNvPr id="12" name="Shape 10"/>
          <p:cNvSpPr/>
          <p:nvPr/>
        </p:nvSpPr>
        <p:spPr>
          <a:xfrm>
            <a:off x="2606040" y="2862072"/>
            <a:ext cx="0" cy="91440"/>
          </a:xfrm>
          <a:prstGeom prst="line">
            <a:avLst/>
          </a:prstGeom>
          <a:noFill/>
          <a:ln w="25400">
            <a:solidFill>
              <a:srgbClr val="8C8C86"/>
            </a:solidFill>
            <a:prstDash val="solid"/>
            <a:tailEnd type="triangle"/>
          </a:ln>
        </p:spPr>
      </p:sp>
      <p:sp>
        <p:nvSpPr>
          <p:cNvPr id="13" name="Shape 11"/>
          <p:cNvSpPr/>
          <p:nvPr/>
        </p:nvSpPr>
        <p:spPr>
          <a:xfrm>
            <a:off x="548640" y="2953512"/>
            <a:ext cx="4114800" cy="420624"/>
          </a:xfrm>
          <a:prstGeom prst="roundRect">
            <a:avLst>
              <a:gd name="adj" fmla="val 13043"/>
            </a:avLst>
          </a:prstGeom>
          <a:solidFill>
            <a:srgbClr val="2E3336"/>
          </a:solidFill>
          <a:ln/>
        </p:spPr>
      </p:sp>
      <p:sp>
        <p:nvSpPr>
          <p:cNvPr id="14" name="Text 12"/>
          <p:cNvSpPr txBox="1"/>
          <p:nvPr/>
        </p:nvSpPr>
        <p:spPr>
          <a:xfrm>
            <a:off x="548640" y="2953512"/>
            <a:ext cx="4114800" cy="42062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Contrast Enhancement</a:t>
            </a:r>
            <a:endParaRPr lang="en-US" sz="1150" dirty="0"/>
          </a:p>
        </p:txBody>
      </p:sp>
      <p:sp>
        <p:nvSpPr>
          <p:cNvPr id="15" name="Shape 13"/>
          <p:cNvSpPr/>
          <p:nvPr/>
        </p:nvSpPr>
        <p:spPr>
          <a:xfrm>
            <a:off x="2606040" y="3374136"/>
            <a:ext cx="0" cy="91440"/>
          </a:xfrm>
          <a:prstGeom prst="line">
            <a:avLst/>
          </a:prstGeom>
          <a:noFill/>
          <a:ln w="25400">
            <a:solidFill>
              <a:srgbClr val="8C8C86"/>
            </a:solidFill>
            <a:prstDash val="solid"/>
            <a:tailEnd type="triangle"/>
          </a:ln>
        </p:spPr>
      </p:sp>
      <p:sp>
        <p:nvSpPr>
          <p:cNvPr id="16" name="Shape 14"/>
          <p:cNvSpPr/>
          <p:nvPr/>
        </p:nvSpPr>
        <p:spPr>
          <a:xfrm>
            <a:off x="548640" y="3465576"/>
            <a:ext cx="4114800" cy="420624"/>
          </a:xfrm>
          <a:prstGeom prst="roundRect">
            <a:avLst>
              <a:gd name="adj" fmla="val 13043"/>
            </a:avLst>
          </a:prstGeom>
          <a:solidFill>
            <a:srgbClr val="F2661F"/>
          </a:solidFill>
          <a:ln/>
        </p:spPr>
      </p:sp>
      <p:sp>
        <p:nvSpPr>
          <p:cNvPr id="17" name="Text 15"/>
          <p:cNvSpPr txBox="1"/>
          <p:nvPr/>
        </p:nvSpPr>
        <p:spPr>
          <a:xfrm>
            <a:off x="548640" y="3465576"/>
            <a:ext cx="4114800" cy="42062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Hessian / Ridge Filtering</a:t>
            </a:r>
            <a:endParaRPr lang="en-US" sz="1150" dirty="0"/>
          </a:p>
        </p:txBody>
      </p:sp>
      <p:sp>
        <p:nvSpPr>
          <p:cNvPr id="18" name="Shape 16"/>
          <p:cNvSpPr/>
          <p:nvPr/>
        </p:nvSpPr>
        <p:spPr>
          <a:xfrm>
            <a:off x="2606040" y="3886200"/>
            <a:ext cx="0" cy="91440"/>
          </a:xfrm>
          <a:prstGeom prst="line">
            <a:avLst/>
          </a:prstGeom>
          <a:noFill/>
          <a:ln w="25400">
            <a:solidFill>
              <a:srgbClr val="8C8C86"/>
            </a:solidFill>
            <a:prstDash val="solid"/>
            <a:tailEnd type="triangle"/>
          </a:ln>
        </p:spPr>
      </p:sp>
      <p:sp>
        <p:nvSpPr>
          <p:cNvPr id="19" name="Shape 17"/>
          <p:cNvSpPr/>
          <p:nvPr/>
        </p:nvSpPr>
        <p:spPr>
          <a:xfrm>
            <a:off x="548640" y="3977640"/>
            <a:ext cx="4114800" cy="420624"/>
          </a:xfrm>
          <a:prstGeom prst="roundRect">
            <a:avLst>
              <a:gd name="adj" fmla="val 13043"/>
            </a:avLst>
          </a:prstGeom>
          <a:solidFill>
            <a:srgbClr val="F2661F"/>
          </a:solidFill>
          <a:ln/>
        </p:spPr>
      </p:sp>
      <p:sp>
        <p:nvSpPr>
          <p:cNvPr id="20" name="Text 18"/>
          <p:cNvSpPr txBox="1"/>
          <p:nvPr/>
        </p:nvSpPr>
        <p:spPr>
          <a:xfrm>
            <a:off x="548640" y="3977640"/>
            <a:ext cx="4114800" cy="42062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Adaptive Thresholding</a:t>
            </a:r>
            <a:endParaRPr lang="en-US" sz="1150" dirty="0"/>
          </a:p>
        </p:txBody>
      </p:sp>
      <p:sp>
        <p:nvSpPr>
          <p:cNvPr id="21" name="Shape 19"/>
          <p:cNvSpPr/>
          <p:nvPr/>
        </p:nvSpPr>
        <p:spPr>
          <a:xfrm>
            <a:off x="2606040" y="4398264"/>
            <a:ext cx="0" cy="91440"/>
          </a:xfrm>
          <a:prstGeom prst="line">
            <a:avLst/>
          </a:prstGeom>
          <a:noFill/>
          <a:ln w="25400">
            <a:solidFill>
              <a:srgbClr val="8C8C86"/>
            </a:solidFill>
            <a:prstDash val="solid"/>
            <a:tailEnd type="triangle"/>
          </a:ln>
        </p:spPr>
      </p:sp>
      <p:sp>
        <p:nvSpPr>
          <p:cNvPr id="22" name="Shape 20"/>
          <p:cNvSpPr/>
          <p:nvPr/>
        </p:nvSpPr>
        <p:spPr>
          <a:xfrm>
            <a:off x="548640" y="4489704"/>
            <a:ext cx="4114800" cy="420624"/>
          </a:xfrm>
          <a:prstGeom prst="roundRect">
            <a:avLst>
              <a:gd name="adj" fmla="val 13043"/>
            </a:avLst>
          </a:prstGeom>
          <a:solidFill>
            <a:srgbClr val="2E3336"/>
          </a:solidFill>
          <a:ln/>
        </p:spPr>
      </p:sp>
      <p:sp>
        <p:nvSpPr>
          <p:cNvPr id="23" name="Text 21"/>
          <p:cNvSpPr txBox="1"/>
          <p:nvPr/>
        </p:nvSpPr>
        <p:spPr>
          <a:xfrm>
            <a:off x="548640" y="4489704"/>
            <a:ext cx="4114800" cy="42062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Morphological Processing</a:t>
            </a:r>
            <a:endParaRPr lang="en-US" sz="1150" dirty="0"/>
          </a:p>
        </p:txBody>
      </p:sp>
      <p:sp>
        <p:nvSpPr>
          <p:cNvPr id="24" name="Shape 22"/>
          <p:cNvSpPr/>
          <p:nvPr/>
        </p:nvSpPr>
        <p:spPr>
          <a:xfrm>
            <a:off x="2606040" y="4910328"/>
            <a:ext cx="0" cy="91440"/>
          </a:xfrm>
          <a:prstGeom prst="line">
            <a:avLst/>
          </a:prstGeom>
          <a:noFill/>
          <a:ln w="25400">
            <a:solidFill>
              <a:srgbClr val="8C8C86"/>
            </a:solidFill>
            <a:prstDash val="solid"/>
            <a:tailEnd type="triangle"/>
          </a:ln>
        </p:spPr>
      </p:sp>
      <p:sp>
        <p:nvSpPr>
          <p:cNvPr id="25" name="Shape 23"/>
          <p:cNvSpPr/>
          <p:nvPr/>
        </p:nvSpPr>
        <p:spPr>
          <a:xfrm>
            <a:off x="548640" y="5001768"/>
            <a:ext cx="4114800" cy="420624"/>
          </a:xfrm>
          <a:prstGeom prst="roundRect">
            <a:avLst>
              <a:gd name="adj" fmla="val 13043"/>
            </a:avLst>
          </a:prstGeom>
          <a:solidFill>
            <a:srgbClr val="2E3336"/>
          </a:solidFill>
          <a:ln/>
        </p:spPr>
      </p:sp>
      <p:sp>
        <p:nvSpPr>
          <p:cNvPr id="26" name="Text 24"/>
          <p:cNvSpPr txBox="1"/>
          <p:nvPr/>
        </p:nvSpPr>
        <p:spPr>
          <a:xfrm>
            <a:off x="548640" y="5001768"/>
            <a:ext cx="4114800" cy="42062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Crack Segmentation</a:t>
            </a:r>
            <a:endParaRPr lang="en-US" sz="1150" dirty="0"/>
          </a:p>
        </p:txBody>
      </p:sp>
      <p:sp>
        <p:nvSpPr>
          <p:cNvPr id="27" name="Text 25"/>
          <p:cNvSpPr txBox="1"/>
          <p:nvPr/>
        </p:nvSpPr>
        <p:spPr>
          <a:xfrm>
            <a:off x="5074920" y="1417320"/>
            <a:ext cx="6492240" cy="320040"/>
          </a:xfrm>
          <a:prstGeom prst="rect">
            <a:avLst/>
          </a:prstGeom>
          <a:noFill/>
          <a:ln/>
        </p:spPr>
        <p:txBody>
          <a:bodyPr wrap="square" rtlCol="0" anchor="ctr"/>
          <a:lstStyle/>
          <a:p>
            <a:pPr marL="0" indent="0">
              <a:buNone/>
            </a:pPr>
            <a:r>
              <a:rPr lang="en-US" sz="1500" b="1" dirty="0">
                <a:solidFill>
                  <a:srgbClr val="23272A"/>
                </a:solidFill>
                <a:latin typeface="Cambria" pitchFamily="34" charset="0"/>
                <a:ea typeface="Cambria" pitchFamily="34" charset="-122"/>
                <a:cs typeface="Cambria" pitchFamily="34" charset="-120"/>
              </a:rPr>
              <a:t>Why these techniques?</a:t>
            </a:r>
            <a:endParaRPr lang="en-US" sz="1500" dirty="0"/>
          </a:p>
        </p:txBody>
      </p:sp>
      <p:sp>
        <p:nvSpPr>
          <p:cNvPr id="28" name="Shape 26"/>
          <p:cNvSpPr/>
          <p:nvPr/>
        </p:nvSpPr>
        <p:spPr>
          <a:xfrm>
            <a:off x="5074920" y="1828800"/>
            <a:ext cx="6492240" cy="658368"/>
          </a:xfrm>
          <a:prstGeom prst="roundRect">
            <a:avLst>
              <a:gd name="adj" fmla="val 8333"/>
            </a:avLst>
          </a:prstGeom>
          <a:solidFill>
            <a:srgbClr val="FFFFFF"/>
          </a:solidFill>
          <a:ln/>
          <a:effectLst>
            <a:outerShdw blurRad="76200" dist="25400" dir="5400000" algn="bl" rotWithShape="0">
              <a:srgbClr val="1A1A1A">
                <a:alpha val="18000"/>
              </a:srgbClr>
            </a:outerShdw>
          </a:effectLst>
        </p:spPr>
      </p:sp>
      <p:sp>
        <p:nvSpPr>
          <p:cNvPr id="29" name="Shape 27"/>
          <p:cNvSpPr/>
          <p:nvPr/>
        </p:nvSpPr>
        <p:spPr>
          <a:xfrm>
            <a:off x="5074920" y="1828800"/>
            <a:ext cx="73152" cy="658368"/>
          </a:xfrm>
          <a:prstGeom prst="rect">
            <a:avLst/>
          </a:prstGeom>
          <a:solidFill>
            <a:srgbClr val="F2661F"/>
          </a:solidFill>
          <a:ln/>
        </p:spPr>
      </p:sp>
      <p:sp>
        <p:nvSpPr>
          <p:cNvPr id="30" name="Text 28"/>
          <p:cNvSpPr txBox="1"/>
          <p:nvPr/>
        </p:nvSpPr>
        <p:spPr>
          <a:xfrm>
            <a:off x="5349240" y="1883664"/>
            <a:ext cx="6035040" cy="274320"/>
          </a:xfrm>
          <a:prstGeom prst="rect">
            <a:avLst/>
          </a:prstGeom>
          <a:noFill/>
          <a:ln/>
        </p:spPr>
        <p:txBody>
          <a:bodyPr wrap="square" lIns="0" tIns="0" rIns="0" bIns="0" rtlCol="0" anchor="ctr"/>
          <a:lstStyle/>
          <a:p>
            <a:pPr marL="0" indent="0">
              <a:buNone/>
            </a:pPr>
            <a:r>
              <a:rPr lang="en-US" sz="1200" b="1" dirty="0">
                <a:solidFill>
                  <a:srgbClr val="23272A"/>
                </a:solidFill>
                <a:latin typeface="Cambria" pitchFamily="34" charset="0"/>
                <a:ea typeface="Cambria" pitchFamily="34" charset="-122"/>
                <a:cs typeface="Cambria" pitchFamily="34" charset="-120"/>
              </a:rPr>
              <a:t>Hessian / Ridge Filtering</a:t>
            </a:r>
            <a:endParaRPr lang="en-US" sz="1200" dirty="0"/>
          </a:p>
        </p:txBody>
      </p:sp>
      <p:sp>
        <p:nvSpPr>
          <p:cNvPr id="31" name="Text 29"/>
          <p:cNvSpPr txBox="1"/>
          <p:nvPr/>
        </p:nvSpPr>
        <p:spPr>
          <a:xfrm>
            <a:off x="5349240" y="2148840"/>
            <a:ext cx="6035040" cy="292608"/>
          </a:xfrm>
          <a:prstGeom prst="rect">
            <a:avLst/>
          </a:prstGeom>
          <a:noFill/>
          <a:ln/>
        </p:spPr>
        <p:txBody>
          <a:bodyPr wrap="square" lIns="0" tIns="0" rIns="0" bIns="0" rtlCol="0" anchor="ctr"/>
          <a:lstStyle/>
          <a:p>
            <a:pPr marL="0" indent="0">
              <a:buNone/>
            </a:pPr>
            <a:r>
              <a:rPr lang="en-US" sz="1050" dirty="0">
                <a:solidFill>
                  <a:srgbClr val="5B5F61"/>
                </a:solidFill>
                <a:latin typeface="Calibri" pitchFamily="34" charset="0"/>
                <a:ea typeface="Calibri" pitchFamily="34" charset="-122"/>
                <a:cs typeface="Calibri" pitchFamily="34" charset="-120"/>
              </a:rPr>
              <a:t>Emphasizes thin, elongated crack-like structures.</a:t>
            </a:r>
            <a:endParaRPr lang="en-US" sz="1050" dirty="0"/>
          </a:p>
        </p:txBody>
      </p:sp>
      <p:sp>
        <p:nvSpPr>
          <p:cNvPr id="32" name="Shape 30"/>
          <p:cNvSpPr/>
          <p:nvPr/>
        </p:nvSpPr>
        <p:spPr>
          <a:xfrm>
            <a:off x="5074920" y="2606040"/>
            <a:ext cx="6492240" cy="658368"/>
          </a:xfrm>
          <a:prstGeom prst="roundRect">
            <a:avLst>
              <a:gd name="adj" fmla="val 8333"/>
            </a:avLst>
          </a:prstGeom>
          <a:solidFill>
            <a:srgbClr val="FFFFFF"/>
          </a:solidFill>
          <a:ln/>
          <a:effectLst>
            <a:outerShdw blurRad="76200" dist="25400" dir="5400000" algn="bl" rotWithShape="0">
              <a:srgbClr val="1A1A1A">
                <a:alpha val="18000"/>
              </a:srgbClr>
            </a:outerShdw>
          </a:effectLst>
        </p:spPr>
      </p:sp>
      <p:sp>
        <p:nvSpPr>
          <p:cNvPr id="33" name="Shape 31"/>
          <p:cNvSpPr/>
          <p:nvPr/>
        </p:nvSpPr>
        <p:spPr>
          <a:xfrm>
            <a:off x="5074920" y="2606040"/>
            <a:ext cx="73152" cy="658368"/>
          </a:xfrm>
          <a:prstGeom prst="rect">
            <a:avLst/>
          </a:prstGeom>
          <a:solidFill>
            <a:srgbClr val="F2661F"/>
          </a:solidFill>
          <a:ln/>
        </p:spPr>
      </p:sp>
      <p:sp>
        <p:nvSpPr>
          <p:cNvPr id="34" name="Text 32"/>
          <p:cNvSpPr txBox="1"/>
          <p:nvPr/>
        </p:nvSpPr>
        <p:spPr>
          <a:xfrm>
            <a:off x="5349240" y="2660904"/>
            <a:ext cx="6035040" cy="274320"/>
          </a:xfrm>
          <a:prstGeom prst="rect">
            <a:avLst/>
          </a:prstGeom>
          <a:noFill/>
          <a:ln/>
        </p:spPr>
        <p:txBody>
          <a:bodyPr wrap="square" lIns="0" tIns="0" rIns="0" bIns="0" rtlCol="0" anchor="ctr"/>
          <a:lstStyle/>
          <a:p>
            <a:pPr marL="0" indent="0">
              <a:buNone/>
            </a:pPr>
            <a:r>
              <a:rPr lang="en-US" sz="1200" b="1" dirty="0">
                <a:solidFill>
                  <a:srgbClr val="23272A"/>
                </a:solidFill>
                <a:latin typeface="Cambria" pitchFamily="34" charset="0"/>
                <a:ea typeface="Cambria" pitchFamily="34" charset="-122"/>
                <a:cs typeface="Cambria" pitchFamily="34" charset="-120"/>
              </a:rPr>
              <a:t>Adaptive Thresholding</a:t>
            </a:r>
            <a:endParaRPr lang="en-US" sz="1200" dirty="0"/>
          </a:p>
        </p:txBody>
      </p:sp>
      <p:sp>
        <p:nvSpPr>
          <p:cNvPr id="35" name="Text 33"/>
          <p:cNvSpPr txBox="1"/>
          <p:nvPr/>
        </p:nvSpPr>
        <p:spPr>
          <a:xfrm>
            <a:off x="5349240" y="2926080"/>
            <a:ext cx="6035040" cy="292608"/>
          </a:xfrm>
          <a:prstGeom prst="rect">
            <a:avLst/>
          </a:prstGeom>
          <a:noFill/>
          <a:ln/>
        </p:spPr>
        <p:txBody>
          <a:bodyPr wrap="square" lIns="0" tIns="0" rIns="0" bIns="0" rtlCol="0" anchor="ctr"/>
          <a:lstStyle/>
          <a:p>
            <a:pPr marL="0" indent="0">
              <a:buNone/>
            </a:pPr>
            <a:r>
              <a:rPr lang="en-US" sz="1050" dirty="0">
                <a:solidFill>
                  <a:srgbClr val="5B5F61"/>
                </a:solidFill>
                <a:latin typeface="Calibri" pitchFamily="34" charset="0"/>
                <a:ea typeface="Calibri" pitchFamily="34" charset="-122"/>
                <a:cs typeface="Calibri" pitchFamily="34" charset="-120"/>
              </a:rPr>
              <a:t>Handles uneven illumination better than one global threshold.</a:t>
            </a:r>
            <a:endParaRPr lang="en-US" sz="1050" dirty="0"/>
          </a:p>
        </p:txBody>
      </p:sp>
      <p:sp>
        <p:nvSpPr>
          <p:cNvPr id="36" name="Shape 34"/>
          <p:cNvSpPr/>
          <p:nvPr/>
        </p:nvSpPr>
        <p:spPr>
          <a:xfrm>
            <a:off x="5074920" y="3383280"/>
            <a:ext cx="6492240" cy="658368"/>
          </a:xfrm>
          <a:prstGeom prst="roundRect">
            <a:avLst>
              <a:gd name="adj" fmla="val 8333"/>
            </a:avLst>
          </a:prstGeom>
          <a:solidFill>
            <a:srgbClr val="FFFFFF"/>
          </a:solidFill>
          <a:ln/>
          <a:effectLst>
            <a:outerShdw blurRad="76200" dist="25400" dir="5400000" algn="bl" rotWithShape="0">
              <a:srgbClr val="1A1A1A">
                <a:alpha val="18000"/>
              </a:srgbClr>
            </a:outerShdw>
          </a:effectLst>
        </p:spPr>
      </p:sp>
      <p:sp>
        <p:nvSpPr>
          <p:cNvPr id="37" name="Shape 35"/>
          <p:cNvSpPr/>
          <p:nvPr/>
        </p:nvSpPr>
        <p:spPr>
          <a:xfrm>
            <a:off x="5074920" y="3383280"/>
            <a:ext cx="73152" cy="658368"/>
          </a:xfrm>
          <a:prstGeom prst="rect">
            <a:avLst/>
          </a:prstGeom>
          <a:solidFill>
            <a:srgbClr val="F2661F"/>
          </a:solidFill>
          <a:ln/>
        </p:spPr>
      </p:sp>
      <p:sp>
        <p:nvSpPr>
          <p:cNvPr id="38" name="Text 36"/>
          <p:cNvSpPr txBox="1"/>
          <p:nvPr/>
        </p:nvSpPr>
        <p:spPr>
          <a:xfrm>
            <a:off x="5349240" y="3438144"/>
            <a:ext cx="6035040" cy="274320"/>
          </a:xfrm>
          <a:prstGeom prst="rect">
            <a:avLst/>
          </a:prstGeom>
          <a:noFill/>
          <a:ln/>
        </p:spPr>
        <p:txBody>
          <a:bodyPr wrap="square" lIns="0" tIns="0" rIns="0" bIns="0" rtlCol="0" anchor="ctr"/>
          <a:lstStyle/>
          <a:p>
            <a:pPr marL="0" indent="0">
              <a:buNone/>
            </a:pPr>
            <a:r>
              <a:rPr lang="en-US" sz="1200" b="1" dirty="0">
                <a:solidFill>
                  <a:srgbClr val="23272A"/>
                </a:solidFill>
                <a:latin typeface="Cambria" pitchFamily="34" charset="0"/>
                <a:ea typeface="Cambria" pitchFamily="34" charset="-122"/>
                <a:cs typeface="Cambria" pitchFamily="34" charset="-120"/>
              </a:rPr>
              <a:t>Morphological Processing</a:t>
            </a:r>
            <a:endParaRPr lang="en-US" sz="1200" dirty="0"/>
          </a:p>
        </p:txBody>
      </p:sp>
      <p:sp>
        <p:nvSpPr>
          <p:cNvPr id="39" name="Text 37"/>
          <p:cNvSpPr txBox="1"/>
          <p:nvPr/>
        </p:nvSpPr>
        <p:spPr>
          <a:xfrm>
            <a:off x="5349240" y="3703320"/>
            <a:ext cx="6035040" cy="292608"/>
          </a:xfrm>
          <a:prstGeom prst="rect">
            <a:avLst/>
          </a:prstGeom>
          <a:noFill/>
          <a:ln/>
        </p:spPr>
        <p:txBody>
          <a:bodyPr wrap="square" lIns="0" tIns="0" rIns="0" bIns="0" rtlCol="0" anchor="ctr"/>
          <a:lstStyle/>
          <a:p>
            <a:pPr marL="0" indent="0">
              <a:buNone/>
            </a:pPr>
            <a:r>
              <a:rPr lang="en-US" sz="1050" dirty="0">
                <a:solidFill>
                  <a:srgbClr val="5B5F61"/>
                </a:solidFill>
                <a:latin typeface="Calibri" pitchFamily="34" charset="0"/>
                <a:ea typeface="Calibri" pitchFamily="34" charset="-122"/>
                <a:cs typeface="Calibri" pitchFamily="34" charset="-120"/>
              </a:rPr>
              <a:t>Removes noise and cleans up the crack mask.</a:t>
            </a:r>
            <a:endParaRPr lang="en-US" sz="1050" dirty="0"/>
          </a:p>
        </p:txBody>
      </p:sp>
      <p:sp>
        <p:nvSpPr>
          <p:cNvPr id="40" name="Text 38"/>
          <p:cNvSpPr txBox="1"/>
          <p:nvPr/>
        </p:nvSpPr>
        <p:spPr>
          <a:xfrm>
            <a:off x="5074920" y="4343400"/>
            <a:ext cx="2743200" cy="274320"/>
          </a:xfrm>
          <a:prstGeom prst="rect">
            <a:avLst/>
          </a:prstGeom>
          <a:noFill/>
          <a:ln/>
        </p:spPr>
        <p:txBody>
          <a:bodyPr wrap="square" rtlCol="0" anchor="ctr"/>
          <a:lstStyle/>
          <a:p>
            <a:pPr marL="0" indent="0">
              <a:buNone/>
            </a:pPr>
            <a:r>
              <a:rPr lang="en-US" sz="1300" b="1" dirty="0">
                <a:solidFill>
                  <a:srgbClr val="23272A"/>
                </a:solidFill>
                <a:latin typeface="Cambria" pitchFamily="34" charset="0"/>
                <a:ea typeface="Cambria" pitchFamily="34" charset="-122"/>
                <a:cs typeface="Cambria" pitchFamily="34" charset="-120"/>
              </a:rPr>
              <a:t>Output</a:t>
            </a:r>
            <a:endParaRPr lang="en-US" sz="1300" dirty="0"/>
          </a:p>
        </p:txBody>
      </p:sp>
      <p:sp>
        <p:nvSpPr>
          <p:cNvPr id="41" name="Shape 39"/>
          <p:cNvSpPr/>
          <p:nvPr/>
        </p:nvSpPr>
        <p:spPr>
          <a:xfrm>
            <a:off x="5074920" y="4663440"/>
            <a:ext cx="3108960" cy="1508760"/>
          </a:xfrm>
          <a:prstGeom prst="roundRect">
            <a:avLst>
              <a:gd name="adj" fmla="val 3636"/>
            </a:avLst>
          </a:prstGeom>
          <a:solidFill>
            <a:srgbClr val="2E3336"/>
          </a:solidFill>
          <a:ln/>
          <a:effectLst>
            <a:outerShdw blurRad="76200" dist="25400" dir="5400000" algn="bl" rotWithShape="0">
              <a:srgbClr val="1A1A1A">
                <a:alpha val="18000"/>
              </a:srgbClr>
            </a:outerShdw>
          </a:effectLst>
        </p:spPr>
      </p:sp>
      <p:sp>
        <p:nvSpPr>
          <p:cNvPr id="42" name="Text 40"/>
          <p:cNvSpPr txBox="1"/>
          <p:nvPr/>
        </p:nvSpPr>
        <p:spPr>
          <a:xfrm>
            <a:off x="5074920" y="4736592"/>
            <a:ext cx="3108960" cy="228600"/>
          </a:xfrm>
          <a:prstGeom prst="rect">
            <a:avLst/>
          </a:prstGeom>
          <a:noFill/>
          <a:ln/>
        </p:spPr>
        <p:txBody>
          <a:bodyPr wrap="square" rtlCol="0" anchor="ctr"/>
          <a:lstStyle/>
          <a:p>
            <a:pPr marL="0" indent="0" algn="ctr">
              <a:buNone/>
            </a:pPr>
            <a:r>
              <a:rPr lang="en-US" sz="900" b="1" dirty="0">
                <a:solidFill>
                  <a:srgbClr val="E7E6E1"/>
                </a:solidFill>
                <a:latin typeface="Calibri" pitchFamily="34" charset="0"/>
                <a:ea typeface="Calibri" pitchFamily="34" charset="-122"/>
                <a:cs typeface="Calibri" pitchFamily="34" charset="-120"/>
              </a:rPr>
              <a:t>ORIGINAL IMAGE</a:t>
            </a:r>
            <a:endParaRPr lang="en-US" sz="900" dirty="0"/>
          </a:p>
        </p:txBody>
      </p:sp>
      <p:sp>
        <p:nvSpPr>
          <p:cNvPr id="43" name="Shape 41"/>
          <p:cNvSpPr/>
          <p:nvPr/>
        </p:nvSpPr>
        <p:spPr>
          <a:xfrm>
            <a:off x="6035040" y="5074920"/>
            <a:ext cx="1005840" cy="868680"/>
          </a:xfrm>
          <a:prstGeom prst="line">
            <a:avLst/>
          </a:prstGeom>
          <a:noFill/>
          <a:ln w="31750">
            <a:solidFill>
              <a:srgbClr val="F2661F"/>
            </a:solidFill>
            <a:prstDash val="solid"/>
          </a:ln>
        </p:spPr>
      </p:sp>
      <p:sp>
        <p:nvSpPr>
          <p:cNvPr id="44" name="Shape 42"/>
          <p:cNvSpPr/>
          <p:nvPr/>
        </p:nvSpPr>
        <p:spPr>
          <a:xfrm>
            <a:off x="8458200" y="4663440"/>
            <a:ext cx="3108960" cy="1508760"/>
          </a:xfrm>
          <a:prstGeom prst="roundRect">
            <a:avLst>
              <a:gd name="adj" fmla="val 3636"/>
            </a:avLst>
          </a:prstGeom>
          <a:solidFill>
            <a:srgbClr val="23272A"/>
          </a:solidFill>
          <a:ln/>
          <a:effectLst>
            <a:outerShdw blurRad="76200" dist="25400" dir="5400000" algn="bl" rotWithShape="0">
              <a:srgbClr val="1A1A1A">
                <a:alpha val="18000"/>
              </a:srgbClr>
            </a:outerShdw>
          </a:effectLst>
        </p:spPr>
      </p:sp>
      <p:sp>
        <p:nvSpPr>
          <p:cNvPr id="45" name="Text 43"/>
          <p:cNvSpPr txBox="1"/>
          <p:nvPr/>
        </p:nvSpPr>
        <p:spPr>
          <a:xfrm>
            <a:off x="8458200" y="4736592"/>
            <a:ext cx="3108960" cy="228600"/>
          </a:xfrm>
          <a:prstGeom prst="rect">
            <a:avLst/>
          </a:prstGeom>
          <a:noFill/>
          <a:ln/>
        </p:spPr>
        <p:txBody>
          <a:bodyPr wrap="square" rtlCol="0" anchor="ctr"/>
          <a:lstStyle/>
          <a:p>
            <a:pPr marL="0" indent="0" algn="ctr">
              <a:buNone/>
            </a:pPr>
            <a:r>
              <a:rPr lang="en-US" sz="900" b="1" dirty="0">
                <a:solidFill>
                  <a:srgbClr val="E7E6E1"/>
                </a:solidFill>
                <a:latin typeface="Calibri" pitchFamily="34" charset="0"/>
                <a:ea typeface="Calibri" pitchFamily="34" charset="-122"/>
                <a:cs typeface="Calibri" pitchFamily="34" charset="-120"/>
              </a:rPr>
              <a:t>CRACK MASK</a:t>
            </a:r>
            <a:endParaRPr lang="en-US" sz="900" dirty="0"/>
          </a:p>
        </p:txBody>
      </p:sp>
      <p:sp>
        <p:nvSpPr>
          <p:cNvPr id="46" name="Shape 44"/>
          <p:cNvSpPr/>
          <p:nvPr/>
        </p:nvSpPr>
        <p:spPr>
          <a:xfrm>
            <a:off x="9601200" y="5074920"/>
            <a:ext cx="45720" cy="868680"/>
          </a:xfrm>
          <a:prstGeom prst="line">
            <a:avLst/>
          </a:prstGeom>
          <a:noFill/>
          <a:ln w="38100">
            <a:solidFill>
              <a:srgbClr val="FFFFFF"/>
            </a:solidFill>
            <a:prstDash val="solid"/>
          </a:ln>
        </p:spPr>
      </p:sp>
      <p:sp>
        <p:nvSpPr>
          <p:cNvPr id="47" name="Shape 45"/>
          <p:cNvSpPr/>
          <p:nvPr/>
        </p:nvSpPr>
        <p:spPr>
          <a:xfrm>
            <a:off x="8183880" y="5394960"/>
            <a:ext cx="274320" cy="0"/>
          </a:xfrm>
          <a:prstGeom prst="line">
            <a:avLst/>
          </a:prstGeom>
          <a:noFill/>
          <a:ln w="25400">
            <a:solidFill>
              <a:srgbClr val="8C8C86"/>
            </a:solidFill>
            <a:prstDash val="solid"/>
            <a:tailEnd type="triangle"/>
          </a:ln>
        </p:spPr>
      </p:sp>
      <p:sp>
        <p:nvSpPr>
          <p:cNvPr id="48" name="Text 46"/>
          <p:cNvSpPr txBox="1"/>
          <p:nvPr/>
        </p:nvSpPr>
        <p:spPr>
          <a:xfrm>
            <a:off x="11292840" y="6510528"/>
            <a:ext cx="731520" cy="274320"/>
          </a:xfrm>
          <a:prstGeom prst="rect">
            <a:avLst/>
          </a:prstGeom>
          <a:noFill/>
          <a:ln/>
        </p:spPr>
        <p:txBody>
          <a:bodyPr wrap="square" rtlCol="0" anchor="ctr"/>
          <a:lstStyle/>
          <a:p>
            <a:pPr marL="0" indent="0" algn="r">
              <a:buNone/>
            </a:pPr>
            <a:r>
              <a:rPr lang="en-US" sz="900" dirty="0">
                <a:solidFill>
                  <a:srgbClr val="8C8C86"/>
                </a:solidFill>
                <a:latin typeface="Calibri" pitchFamily="34" charset="0"/>
                <a:ea typeface="Calibri" pitchFamily="34" charset="-122"/>
                <a:cs typeface="Calibri" pitchFamily="34" charset="-120"/>
              </a:rPr>
              <a:t>07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3E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F2661F"/>
                </a:solidFill>
                <a:latin typeface="Calibri" pitchFamily="34" charset="0"/>
                <a:ea typeface="Calibri" pitchFamily="34" charset="-122"/>
                <a:cs typeface="Calibri" pitchFamily="34" charset="-120"/>
              </a:rPr>
              <a:t>FROM PIXELS TO GEOMETRY</a:t>
            </a:r>
            <a:endParaRPr lang="en-US" sz="1200" dirty="0"/>
          </a:p>
        </p:txBody>
      </p:sp>
      <p:sp>
        <p:nvSpPr>
          <p:cNvPr id="3" name="Text 1"/>
          <p:cNvSpPr txBox="1"/>
          <p:nvPr/>
        </p:nvSpPr>
        <p:spPr>
          <a:xfrm>
            <a:off x="548640" y="621792"/>
            <a:ext cx="10515600" cy="640080"/>
          </a:xfrm>
          <a:prstGeom prst="rect">
            <a:avLst/>
          </a:prstGeom>
          <a:noFill/>
          <a:ln/>
        </p:spPr>
        <p:txBody>
          <a:bodyPr wrap="square" lIns="0" tIns="0" rIns="0" bIns="0" rtlCol="0" anchor="ctr"/>
          <a:lstStyle/>
          <a:p>
            <a:pPr marL="0" indent="0">
              <a:buNone/>
            </a:pPr>
            <a:r>
              <a:rPr lang="en-US" sz="3000" b="1" dirty="0">
                <a:solidFill>
                  <a:srgbClr val="23272A"/>
                </a:solidFill>
                <a:latin typeface="Cambria" pitchFamily="34" charset="0"/>
                <a:ea typeface="Cambria" pitchFamily="34" charset="-122"/>
                <a:cs typeface="Cambria" pitchFamily="34" charset="-120"/>
              </a:rPr>
              <a:t>How Will We Measure The Crack?</a:t>
            </a:r>
            <a:endParaRPr lang="en-US" sz="3000" dirty="0"/>
          </a:p>
        </p:txBody>
      </p:sp>
      <p:sp>
        <p:nvSpPr>
          <p:cNvPr id="4" name="Text 2"/>
          <p:cNvSpPr txBox="1"/>
          <p:nvPr/>
        </p:nvSpPr>
        <p:spPr>
          <a:xfrm>
            <a:off x="548640" y="1234440"/>
            <a:ext cx="7315200" cy="274320"/>
          </a:xfrm>
          <a:prstGeom prst="rect">
            <a:avLst/>
          </a:prstGeom>
          <a:noFill/>
          <a:ln/>
        </p:spPr>
        <p:txBody>
          <a:bodyPr wrap="square" rtlCol="0" anchor="ctr"/>
          <a:lstStyle/>
          <a:p>
            <a:pPr marL="0" indent="0">
              <a:buNone/>
            </a:pPr>
            <a:r>
              <a:rPr lang="en-US" sz="1200" i="1" dirty="0">
                <a:solidFill>
                  <a:srgbClr val="5B5F61"/>
                </a:solidFill>
                <a:latin typeface="Calibri" pitchFamily="34" charset="0"/>
                <a:ea typeface="Calibri" pitchFamily="34" charset="-122"/>
                <a:cs typeface="Calibri" pitchFamily="34" charset="-120"/>
              </a:rPr>
              <a:t>From crack mask → physical measurement</a:t>
            </a:r>
            <a:endParaRPr lang="en-US" sz="1200" dirty="0"/>
          </a:p>
        </p:txBody>
      </p:sp>
      <p:sp>
        <p:nvSpPr>
          <p:cNvPr id="5" name="Shape 3"/>
          <p:cNvSpPr/>
          <p:nvPr/>
        </p:nvSpPr>
        <p:spPr>
          <a:xfrm>
            <a:off x="548640" y="1691640"/>
            <a:ext cx="3611880" cy="411480"/>
          </a:xfrm>
          <a:prstGeom prst="roundRect">
            <a:avLst>
              <a:gd name="adj" fmla="val 17778"/>
            </a:avLst>
          </a:prstGeom>
          <a:solidFill>
            <a:srgbClr val="F2661F"/>
          </a:solidFill>
          <a:ln/>
        </p:spPr>
      </p:sp>
      <p:sp>
        <p:nvSpPr>
          <p:cNvPr id="6" name="Text 4"/>
          <p:cNvSpPr txBox="1"/>
          <p:nvPr/>
        </p:nvSpPr>
        <p:spPr>
          <a:xfrm>
            <a:off x="548640" y="1691640"/>
            <a:ext cx="361188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Width</a:t>
            </a:r>
            <a:endParaRPr lang="en-US" sz="1100" dirty="0"/>
          </a:p>
        </p:txBody>
      </p:sp>
      <p:sp>
        <p:nvSpPr>
          <p:cNvPr id="7" name="Shape 5"/>
          <p:cNvSpPr/>
          <p:nvPr/>
        </p:nvSpPr>
        <p:spPr>
          <a:xfrm>
            <a:off x="548640" y="2286000"/>
            <a:ext cx="3611880" cy="402336"/>
          </a:xfrm>
          <a:prstGeom prst="roundRect">
            <a:avLst>
              <a:gd name="adj" fmla="val 13636"/>
            </a:avLst>
          </a:prstGeom>
          <a:solidFill>
            <a:srgbClr val="FFFFFF"/>
          </a:solidFill>
          <a:ln w="12700">
            <a:solidFill>
              <a:srgbClr val="D8D6CF"/>
            </a:solidFill>
            <a:prstDash val="solid"/>
          </a:ln>
        </p:spPr>
      </p:sp>
      <p:sp>
        <p:nvSpPr>
          <p:cNvPr id="8" name="Text 6"/>
          <p:cNvSpPr txBox="1"/>
          <p:nvPr/>
        </p:nvSpPr>
        <p:spPr>
          <a:xfrm>
            <a:off x="548640" y="2286000"/>
            <a:ext cx="3611880" cy="402336"/>
          </a:xfrm>
          <a:prstGeom prst="rect">
            <a:avLst/>
          </a:prstGeom>
          <a:noFill/>
          <a:ln/>
        </p:spPr>
        <p:txBody>
          <a:bodyPr wrap="square" lIns="0" tIns="0" rIns="0" bIns="0" rtlCol="0" anchor="ctr"/>
          <a:lstStyle/>
          <a:p>
            <a:pPr marL="0" indent="0" algn="ctr">
              <a:buNone/>
            </a:pPr>
            <a:r>
              <a:rPr lang="en-US" sz="1100" dirty="0">
                <a:solidFill>
                  <a:srgbClr val="23272A"/>
                </a:solidFill>
                <a:latin typeface="Calibri" pitchFamily="34" charset="0"/>
                <a:ea typeface="Calibri" pitchFamily="34" charset="-122"/>
                <a:cs typeface="Calibri" pitchFamily="34" charset="-120"/>
              </a:rPr>
              <a:t>Crack Mask</a:t>
            </a:r>
            <a:endParaRPr lang="en-US" sz="1100" dirty="0"/>
          </a:p>
        </p:txBody>
      </p:sp>
      <p:sp>
        <p:nvSpPr>
          <p:cNvPr id="9" name="Shape 7"/>
          <p:cNvSpPr/>
          <p:nvPr/>
        </p:nvSpPr>
        <p:spPr>
          <a:xfrm>
            <a:off x="2354580" y="2688336"/>
            <a:ext cx="0" cy="109728"/>
          </a:xfrm>
          <a:prstGeom prst="line">
            <a:avLst/>
          </a:prstGeom>
          <a:noFill/>
          <a:ln w="25400">
            <a:solidFill>
              <a:srgbClr val="8C8C86"/>
            </a:solidFill>
            <a:prstDash val="solid"/>
            <a:tailEnd type="triangle"/>
          </a:ln>
        </p:spPr>
      </p:sp>
      <p:sp>
        <p:nvSpPr>
          <p:cNvPr id="10" name="Shape 8"/>
          <p:cNvSpPr/>
          <p:nvPr/>
        </p:nvSpPr>
        <p:spPr>
          <a:xfrm>
            <a:off x="548640" y="2798064"/>
            <a:ext cx="3611880" cy="402336"/>
          </a:xfrm>
          <a:prstGeom prst="roundRect">
            <a:avLst>
              <a:gd name="adj" fmla="val 13636"/>
            </a:avLst>
          </a:prstGeom>
          <a:solidFill>
            <a:srgbClr val="FFFFFF"/>
          </a:solidFill>
          <a:ln w="12700">
            <a:solidFill>
              <a:srgbClr val="D8D6CF"/>
            </a:solidFill>
            <a:prstDash val="solid"/>
          </a:ln>
        </p:spPr>
      </p:sp>
      <p:sp>
        <p:nvSpPr>
          <p:cNvPr id="11" name="Text 9"/>
          <p:cNvSpPr txBox="1"/>
          <p:nvPr/>
        </p:nvSpPr>
        <p:spPr>
          <a:xfrm>
            <a:off x="548640" y="2798064"/>
            <a:ext cx="3611880" cy="402336"/>
          </a:xfrm>
          <a:prstGeom prst="rect">
            <a:avLst/>
          </a:prstGeom>
          <a:noFill/>
          <a:ln/>
        </p:spPr>
        <p:txBody>
          <a:bodyPr wrap="square" lIns="0" tIns="0" rIns="0" bIns="0" rtlCol="0" anchor="ctr"/>
          <a:lstStyle/>
          <a:p>
            <a:pPr marL="0" indent="0" algn="ctr">
              <a:buNone/>
            </a:pPr>
            <a:r>
              <a:rPr lang="en-US" sz="1100" dirty="0">
                <a:solidFill>
                  <a:srgbClr val="23272A"/>
                </a:solidFill>
                <a:latin typeface="Calibri" pitchFamily="34" charset="0"/>
                <a:ea typeface="Calibri" pitchFamily="34" charset="-122"/>
                <a:cs typeface="Calibri" pitchFamily="34" charset="-120"/>
              </a:rPr>
              <a:t>Skeletonization</a:t>
            </a:r>
            <a:endParaRPr lang="en-US" sz="1100" dirty="0"/>
          </a:p>
        </p:txBody>
      </p:sp>
      <p:sp>
        <p:nvSpPr>
          <p:cNvPr id="12" name="Shape 10"/>
          <p:cNvSpPr/>
          <p:nvPr/>
        </p:nvSpPr>
        <p:spPr>
          <a:xfrm>
            <a:off x="2354580" y="3200400"/>
            <a:ext cx="0" cy="109728"/>
          </a:xfrm>
          <a:prstGeom prst="line">
            <a:avLst/>
          </a:prstGeom>
          <a:noFill/>
          <a:ln w="25400">
            <a:solidFill>
              <a:srgbClr val="8C8C86"/>
            </a:solidFill>
            <a:prstDash val="solid"/>
            <a:tailEnd type="triangle"/>
          </a:ln>
        </p:spPr>
      </p:sp>
      <p:sp>
        <p:nvSpPr>
          <p:cNvPr id="13" name="Shape 11"/>
          <p:cNvSpPr/>
          <p:nvPr/>
        </p:nvSpPr>
        <p:spPr>
          <a:xfrm>
            <a:off x="548640" y="3310128"/>
            <a:ext cx="3611880" cy="402336"/>
          </a:xfrm>
          <a:prstGeom prst="roundRect">
            <a:avLst>
              <a:gd name="adj" fmla="val 13636"/>
            </a:avLst>
          </a:prstGeom>
          <a:solidFill>
            <a:srgbClr val="FFFFFF"/>
          </a:solidFill>
          <a:ln w="12700">
            <a:solidFill>
              <a:srgbClr val="D8D6CF"/>
            </a:solidFill>
            <a:prstDash val="solid"/>
          </a:ln>
        </p:spPr>
      </p:sp>
      <p:sp>
        <p:nvSpPr>
          <p:cNvPr id="14" name="Text 12"/>
          <p:cNvSpPr txBox="1"/>
          <p:nvPr/>
        </p:nvSpPr>
        <p:spPr>
          <a:xfrm>
            <a:off x="548640" y="3310128"/>
            <a:ext cx="3611880" cy="402336"/>
          </a:xfrm>
          <a:prstGeom prst="rect">
            <a:avLst/>
          </a:prstGeom>
          <a:noFill/>
          <a:ln/>
        </p:spPr>
        <p:txBody>
          <a:bodyPr wrap="square" lIns="0" tIns="0" rIns="0" bIns="0" rtlCol="0" anchor="ctr"/>
          <a:lstStyle/>
          <a:p>
            <a:pPr marL="0" indent="0" algn="ctr">
              <a:buNone/>
            </a:pPr>
            <a:r>
              <a:rPr lang="en-US" sz="1100" dirty="0">
                <a:solidFill>
                  <a:srgbClr val="23272A"/>
                </a:solidFill>
                <a:latin typeface="Calibri" pitchFamily="34" charset="0"/>
                <a:ea typeface="Calibri" pitchFamily="34" charset="-122"/>
                <a:cs typeface="Calibri" pitchFamily="34" charset="-120"/>
              </a:rPr>
              <a:t>Distance Transform</a:t>
            </a:r>
            <a:endParaRPr lang="en-US" sz="1100" dirty="0"/>
          </a:p>
        </p:txBody>
      </p:sp>
      <p:sp>
        <p:nvSpPr>
          <p:cNvPr id="15" name="Shape 13"/>
          <p:cNvSpPr/>
          <p:nvPr/>
        </p:nvSpPr>
        <p:spPr>
          <a:xfrm>
            <a:off x="2354580" y="3712464"/>
            <a:ext cx="0" cy="109728"/>
          </a:xfrm>
          <a:prstGeom prst="line">
            <a:avLst/>
          </a:prstGeom>
          <a:noFill/>
          <a:ln w="25400">
            <a:solidFill>
              <a:srgbClr val="8C8C86"/>
            </a:solidFill>
            <a:prstDash val="solid"/>
            <a:tailEnd type="triangle"/>
          </a:ln>
        </p:spPr>
      </p:sp>
      <p:sp>
        <p:nvSpPr>
          <p:cNvPr id="16" name="Shape 14"/>
          <p:cNvSpPr/>
          <p:nvPr/>
        </p:nvSpPr>
        <p:spPr>
          <a:xfrm>
            <a:off x="548640" y="3822192"/>
            <a:ext cx="3611880" cy="402336"/>
          </a:xfrm>
          <a:prstGeom prst="roundRect">
            <a:avLst>
              <a:gd name="adj" fmla="val 13636"/>
            </a:avLst>
          </a:prstGeom>
          <a:solidFill>
            <a:srgbClr val="23272A"/>
          </a:solidFill>
          <a:ln w="12700">
            <a:solidFill>
              <a:srgbClr val="D8D6CF"/>
            </a:solidFill>
            <a:prstDash val="solid"/>
          </a:ln>
        </p:spPr>
      </p:sp>
      <p:sp>
        <p:nvSpPr>
          <p:cNvPr id="17" name="Text 15"/>
          <p:cNvSpPr txBox="1"/>
          <p:nvPr/>
        </p:nvSpPr>
        <p:spPr>
          <a:xfrm>
            <a:off x="548640" y="3822192"/>
            <a:ext cx="361188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Local Width</a:t>
            </a:r>
            <a:endParaRPr lang="en-US" sz="1100" dirty="0"/>
          </a:p>
        </p:txBody>
      </p:sp>
      <p:sp>
        <p:nvSpPr>
          <p:cNvPr id="18" name="Shape 16"/>
          <p:cNvSpPr/>
          <p:nvPr/>
        </p:nvSpPr>
        <p:spPr>
          <a:xfrm>
            <a:off x="548640" y="4407408"/>
            <a:ext cx="3611880" cy="1051560"/>
          </a:xfrm>
          <a:prstGeom prst="roundRect">
            <a:avLst>
              <a:gd name="adj" fmla="val 5217"/>
            </a:avLst>
          </a:prstGeom>
          <a:solidFill>
            <a:srgbClr val="E7E6E1"/>
          </a:solidFill>
          <a:ln/>
        </p:spPr>
      </p:sp>
      <p:sp>
        <p:nvSpPr>
          <p:cNvPr id="19" name="Text 17"/>
          <p:cNvSpPr txBox="1"/>
          <p:nvPr/>
        </p:nvSpPr>
        <p:spPr>
          <a:xfrm>
            <a:off x="685800" y="4517136"/>
            <a:ext cx="3337560" cy="868680"/>
          </a:xfrm>
          <a:prstGeom prst="rect">
            <a:avLst/>
          </a:prstGeom>
          <a:noFill/>
          <a:ln/>
        </p:spPr>
        <p:txBody>
          <a:bodyPr wrap="square" lIns="0" tIns="0" rIns="0" bIns="0" rtlCol="0" anchor="ctr"/>
          <a:lstStyle/>
          <a:p>
            <a:pPr marL="0" indent="0" algn="ctr">
              <a:buNone/>
            </a:pPr>
            <a:r>
              <a:rPr lang="en-US" sz="1000" dirty="0">
                <a:solidFill>
                  <a:srgbClr val="23272A"/>
                </a:solidFill>
                <a:latin typeface="Calibri" pitchFamily="34" charset="0"/>
                <a:ea typeface="Calibri" pitchFamily="34" charset="-122"/>
                <a:cs typeface="Calibri" pitchFamily="34" charset="-120"/>
              </a:rPr>
              <a:t>If distance from skeleton to boundary = D pixels</a:t>
            </a:r>
            <a:endParaRPr lang="en-US" sz="1000" dirty="0"/>
          </a:p>
          <a:p>
            <a:pPr marL="0" indent="0" algn="ctr">
              <a:buNone/>
            </a:pPr>
            <a:endParaRPr lang="en-US" sz="1000" dirty="0"/>
          </a:p>
          <a:p>
            <a:pPr marL="0" indent="0" algn="ctr">
              <a:buNone/>
            </a:pPr>
            <a:r>
              <a:rPr lang="en-US" sz="1000" dirty="0">
                <a:solidFill>
                  <a:srgbClr val="23272A"/>
                </a:solidFill>
                <a:latin typeface="Calibri" pitchFamily="34" charset="0"/>
                <a:ea typeface="Calibri" pitchFamily="34" charset="-122"/>
                <a:cs typeface="Calibri" pitchFamily="34" charset="-120"/>
              </a:rPr>
              <a:t>Width ≈ 2D pixels</a:t>
            </a:r>
            <a:endParaRPr lang="en-US" sz="1000" dirty="0"/>
          </a:p>
        </p:txBody>
      </p:sp>
      <p:sp>
        <p:nvSpPr>
          <p:cNvPr id="20" name="Shape 18"/>
          <p:cNvSpPr/>
          <p:nvPr/>
        </p:nvSpPr>
        <p:spPr>
          <a:xfrm>
            <a:off x="4379976" y="1691640"/>
            <a:ext cx="3611880" cy="411480"/>
          </a:xfrm>
          <a:prstGeom prst="roundRect">
            <a:avLst>
              <a:gd name="adj" fmla="val 17778"/>
            </a:avLst>
          </a:prstGeom>
          <a:solidFill>
            <a:srgbClr val="F2661F"/>
          </a:solidFill>
          <a:ln/>
        </p:spPr>
      </p:sp>
      <p:sp>
        <p:nvSpPr>
          <p:cNvPr id="21" name="Text 19"/>
          <p:cNvSpPr txBox="1"/>
          <p:nvPr/>
        </p:nvSpPr>
        <p:spPr>
          <a:xfrm>
            <a:off x="4379976" y="1691640"/>
            <a:ext cx="361188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Length</a:t>
            </a:r>
            <a:endParaRPr lang="en-US" sz="1100" dirty="0"/>
          </a:p>
        </p:txBody>
      </p:sp>
      <p:sp>
        <p:nvSpPr>
          <p:cNvPr id="22" name="Shape 20"/>
          <p:cNvSpPr/>
          <p:nvPr/>
        </p:nvSpPr>
        <p:spPr>
          <a:xfrm>
            <a:off x="4379976" y="2286000"/>
            <a:ext cx="3611880" cy="402336"/>
          </a:xfrm>
          <a:prstGeom prst="roundRect">
            <a:avLst>
              <a:gd name="adj" fmla="val 13636"/>
            </a:avLst>
          </a:prstGeom>
          <a:solidFill>
            <a:srgbClr val="FFFFFF"/>
          </a:solidFill>
          <a:ln w="12700">
            <a:solidFill>
              <a:srgbClr val="D8D6CF"/>
            </a:solidFill>
            <a:prstDash val="solid"/>
          </a:ln>
        </p:spPr>
      </p:sp>
      <p:sp>
        <p:nvSpPr>
          <p:cNvPr id="23" name="Text 21"/>
          <p:cNvSpPr txBox="1"/>
          <p:nvPr/>
        </p:nvSpPr>
        <p:spPr>
          <a:xfrm>
            <a:off x="4379976" y="2286000"/>
            <a:ext cx="3611880" cy="402336"/>
          </a:xfrm>
          <a:prstGeom prst="rect">
            <a:avLst/>
          </a:prstGeom>
          <a:noFill/>
          <a:ln/>
        </p:spPr>
        <p:txBody>
          <a:bodyPr wrap="square" lIns="0" tIns="0" rIns="0" bIns="0" rtlCol="0" anchor="ctr"/>
          <a:lstStyle/>
          <a:p>
            <a:pPr marL="0" indent="0" algn="ctr">
              <a:buNone/>
            </a:pPr>
            <a:r>
              <a:rPr lang="en-US" sz="1100" dirty="0">
                <a:solidFill>
                  <a:srgbClr val="23272A"/>
                </a:solidFill>
                <a:latin typeface="Calibri" pitchFamily="34" charset="0"/>
                <a:ea typeface="Calibri" pitchFamily="34" charset="-122"/>
                <a:cs typeface="Calibri" pitchFamily="34" charset="-120"/>
              </a:rPr>
              <a:t>Crack Skeleton</a:t>
            </a:r>
            <a:endParaRPr lang="en-US" sz="1100" dirty="0"/>
          </a:p>
        </p:txBody>
      </p:sp>
      <p:sp>
        <p:nvSpPr>
          <p:cNvPr id="24" name="Shape 22"/>
          <p:cNvSpPr/>
          <p:nvPr/>
        </p:nvSpPr>
        <p:spPr>
          <a:xfrm>
            <a:off x="6185916" y="2688336"/>
            <a:ext cx="0" cy="109728"/>
          </a:xfrm>
          <a:prstGeom prst="line">
            <a:avLst/>
          </a:prstGeom>
          <a:noFill/>
          <a:ln w="25400">
            <a:solidFill>
              <a:srgbClr val="8C8C86"/>
            </a:solidFill>
            <a:prstDash val="solid"/>
            <a:tailEnd type="triangle"/>
          </a:ln>
        </p:spPr>
      </p:sp>
      <p:sp>
        <p:nvSpPr>
          <p:cNvPr id="25" name="Shape 23"/>
          <p:cNvSpPr/>
          <p:nvPr/>
        </p:nvSpPr>
        <p:spPr>
          <a:xfrm>
            <a:off x="4379976" y="2798064"/>
            <a:ext cx="3611880" cy="402336"/>
          </a:xfrm>
          <a:prstGeom prst="roundRect">
            <a:avLst>
              <a:gd name="adj" fmla="val 13636"/>
            </a:avLst>
          </a:prstGeom>
          <a:solidFill>
            <a:srgbClr val="FFFFFF"/>
          </a:solidFill>
          <a:ln w="12700">
            <a:solidFill>
              <a:srgbClr val="D8D6CF"/>
            </a:solidFill>
            <a:prstDash val="solid"/>
          </a:ln>
        </p:spPr>
      </p:sp>
      <p:sp>
        <p:nvSpPr>
          <p:cNvPr id="26" name="Text 24"/>
          <p:cNvSpPr txBox="1"/>
          <p:nvPr/>
        </p:nvSpPr>
        <p:spPr>
          <a:xfrm>
            <a:off x="4379976" y="2798064"/>
            <a:ext cx="3611880" cy="402336"/>
          </a:xfrm>
          <a:prstGeom prst="rect">
            <a:avLst/>
          </a:prstGeom>
          <a:noFill/>
          <a:ln/>
        </p:spPr>
        <p:txBody>
          <a:bodyPr wrap="square" lIns="0" tIns="0" rIns="0" bIns="0" rtlCol="0" anchor="ctr"/>
          <a:lstStyle/>
          <a:p>
            <a:pPr marL="0" indent="0" algn="ctr">
              <a:buNone/>
            </a:pPr>
            <a:r>
              <a:rPr lang="en-US" sz="1100" dirty="0">
                <a:solidFill>
                  <a:srgbClr val="23272A"/>
                </a:solidFill>
                <a:latin typeface="Calibri" pitchFamily="34" charset="0"/>
                <a:ea typeface="Calibri" pitchFamily="34" charset="-122"/>
                <a:cs typeface="Calibri" pitchFamily="34" charset="-120"/>
              </a:rPr>
              <a:t>Path Length</a:t>
            </a:r>
            <a:endParaRPr lang="en-US" sz="1100" dirty="0"/>
          </a:p>
        </p:txBody>
      </p:sp>
      <p:sp>
        <p:nvSpPr>
          <p:cNvPr id="27" name="Shape 25"/>
          <p:cNvSpPr/>
          <p:nvPr/>
        </p:nvSpPr>
        <p:spPr>
          <a:xfrm>
            <a:off x="6185916" y="3200400"/>
            <a:ext cx="0" cy="109728"/>
          </a:xfrm>
          <a:prstGeom prst="line">
            <a:avLst/>
          </a:prstGeom>
          <a:noFill/>
          <a:ln w="25400">
            <a:solidFill>
              <a:srgbClr val="8C8C86"/>
            </a:solidFill>
            <a:prstDash val="solid"/>
            <a:tailEnd type="triangle"/>
          </a:ln>
        </p:spPr>
      </p:sp>
      <p:sp>
        <p:nvSpPr>
          <p:cNvPr id="28" name="Shape 26"/>
          <p:cNvSpPr/>
          <p:nvPr/>
        </p:nvSpPr>
        <p:spPr>
          <a:xfrm>
            <a:off x="4379976" y="3310128"/>
            <a:ext cx="3611880" cy="402336"/>
          </a:xfrm>
          <a:prstGeom prst="roundRect">
            <a:avLst>
              <a:gd name="adj" fmla="val 13636"/>
            </a:avLst>
          </a:prstGeom>
          <a:solidFill>
            <a:srgbClr val="FFFFFF"/>
          </a:solidFill>
          <a:ln w="12700">
            <a:solidFill>
              <a:srgbClr val="D8D6CF"/>
            </a:solidFill>
            <a:prstDash val="solid"/>
          </a:ln>
        </p:spPr>
      </p:sp>
      <p:sp>
        <p:nvSpPr>
          <p:cNvPr id="29" name="Text 27"/>
          <p:cNvSpPr txBox="1"/>
          <p:nvPr/>
        </p:nvSpPr>
        <p:spPr>
          <a:xfrm>
            <a:off x="4379976" y="3310128"/>
            <a:ext cx="3611880" cy="402336"/>
          </a:xfrm>
          <a:prstGeom prst="rect">
            <a:avLst/>
          </a:prstGeom>
          <a:noFill/>
          <a:ln/>
        </p:spPr>
        <p:txBody>
          <a:bodyPr wrap="square" lIns="0" tIns="0" rIns="0" bIns="0" rtlCol="0" anchor="ctr"/>
          <a:lstStyle/>
          <a:p>
            <a:pPr marL="0" indent="0" algn="ctr">
              <a:buNone/>
            </a:pPr>
            <a:r>
              <a:rPr lang="en-US" sz="1100" dirty="0">
                <a:solidFill>
                  <a:srgbClr val="23272A"/>
                </a:solidFill>
                <a:latin typeface="Calibri" pitchFamily="34" charset="0"/>
                <a:ea typeface="Calibri" pitchFamily="34" charset="-122"/>
                <a:cs typeface="Calibri" pitchFamily="34" charset="-120"/>
              </a:rPr>
              <a:t>Pixel Length</a:t>
            </a:r>
            <a:endParaRPr lang="en-US" sz="1100" dirty="0"/>
          </a:p>
        </p:txBody>
      </p:sp>
      <p:sp>
        <p:nvSpPr>
          <p:cNvPr id="30" name="Shape 28"/>
          <p:cNvSpPr/>
          <p:nvPr/>
        </p:nvSpPr>
        <p:spPr>
          <a:xfrm>
            <a:off x="6185916" y="3712464"/>
            <a:ext cx="0" cy="109728"/>
          </a:xfrm>
          <a:prstGeom prst="line">
            <a:avLst/>
          </a:prstGeom>
          <a:noFill/>
          <a:ln w="25400">
            <a:solidFill>
              <a:srgbClr val="8C8C86"/>
            </a:solidFill>
            <a:prstDash val="solid"/>
            <a:tailEnd type="triangle"/>
          </a:ln>
        </p:spPr>
      </p:sp>
      <p:sp>
        <p:nvSpPr>
          <p:cNvPr id="31" name="Shape 29"/>
          <p:cNvSpPr/>
          <p:nvPr/>
        </p:nvSpPr>
        <p:spPr>
          <a:xfrm>
            <a:off x="4379976" y="3822192"/>
            <a:ext cx="3611880" cy="402336"/>
          </a:xfrm>
          <a:prstGeom prst="roundRect">
            <a:avLst>
              <a:gd name="adj" fmla="val 13636"/>
            </a:avLst>
          </a:prstGeom>
          <a:solidFill>
            <a:srgbClr val="23272A"/>
          </a:solidFill>
          <a:ln w="12700">
            <a:solidFill>
              <a:srgbClr val="D8D6CF"/>
            </a:solidFill>
            <a:prstDash val="solid"/>
          </a:ln>
        </p:spPr>
      </p:sp>
      <p:sp>
        <p:nvSpPr>
          <p:cNvPr id="32" name="Text 30"/>
          <p:cNvSpPr txBox="1"/>
          <p:nvPr/>
        </p:nvSpPr>
        <p:spPr>
          <a:xfrm>
            <a:off x="4379976" y="3822192"/>
            <a:ext cx="361188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mm Length</a:t>
            </a:r>
            <a:endParaRPr lang="en-US" sz="1100" dirty="0"/>
          </a:p>
        </p:txBody>
      </p:sp>
      <p:sp>
        <p:nvSpPr>
          <p:cNvPr id="33" name="Shape 31"/>
          <p:cNvSpPr/>
          <p:nvPr/>
        </p:nvSpPr>
        <p:spPr>
          <a:xfrm>
            <a:off x="4379976" y="4407408"/>
            <a:ext cx="3611880" cy="1051560"/>
          </a:xfrm>
          <a:prstGeom prst="roundRect">
            <a:avLst>
              <a:gd name="adj" fmla="val 5217"/>
            </a:avLst>
          </a:prstGeom>
          <a:solidFill>
            <a:srgbClr val="E7E6E1"/>
          </a:solidFill>
          <a:ln/>
        </p:spPr>
      </p:sp>
      <p:sp>
        <p:nvSpPr>
          <p:cNvPr id="34" name="Text 32"/>
          <p:cNvSpPr txBox="1"/>
          <p:nvPr/>
        </p:nvSpPr>
        <p:spPr>
          <a:xfrm>
            <a:off x="4517136" y="4517136"/>
            <a:ext cx="3337560" cy="868680"/>
          </a:xfrm>
          <a:prstGeom prst="rect">
            <a:avLst/>
          </a:prstGeom>
          <a:noFill/>
          <a:ln/>
        </p:spPr>
        <p:txBody>
          <a:bodyPr wrap="square" lIns="0" tIns="0" rIns="0" bIns="0" rtlCol="0" anchor="ctr"/>
          <a:lstStyle/>
          <a:p>
            <a:pPr marL="0" indent="0" algn="ctr">
              <a:buNone/>
            </a:pPr>
            <a:r>
              <a:rPr lang="en-US" sz="1000" dirty="0">
                <a:solidFill>
                  <a:srgbClr val="23272A"/>
                </a:solidFill>
                <a:latin typeface="Calibri" pitchFamily="34" charset="0"/>
                <a:ea typeface="Calibri" pitchFamily="34" charset="-122"/>
                <a:cs typeface="Calibri" pitchFamily="34" charset="-120"/>
              </a:rPr>
              <a:t>Skeleton path length, scaled from pixels to millimeters.</a:t>
            </a:r>
            <a:endParaRPr lang="en-US" sz="1000" dirty="0"/>
          </a:p>
        </p:txBody>
      </p:sp>
      <p:sp>
        <p:nvSpPr>
          <p:cNvPr id="35" name="Shape 33"/>
          <p:cNvSpPr/>
          <p:nvPr/>
        </p:nvSpPr>
        <p:spPr>
          <a:xfrm>
            <a:off x="8211312" y="1691640"/>
            <a:ext cx="3611880" cy="411480"/>
          </a:xfrm>
          <a:prstGeom prst="roundRect">
            <a:avLst>
              <a:gd name="adj" fmla="val 17778"/>
            </a:avLst>
          </a:prstGeom>
          <a:solidFill>
            <a:srgbClr val="F2661F"/>
          </a:solidFill>
          <a:ln/>
        </p:spPr>
      </p:sp>
      <p:sp>
        <p:nvSpPr>
          <p:cNvPr id="36" name="Text 34"/>
          <p:cNvSpPr txBox="1"/>
          <p:nvPr/>
        </p:nvSpPr>
        <p:spPr>
          <a:xfrm>
            <a:off x="8211312" y="1691640"/>
            <a:ext cx="361188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Orientation</a:t>
            </a:r>
            <a:endParaRPr lang="en-US" sz="1100" dirty="0"/>
          </a:p>
        </p:txBody>
      </p:sp>
      <p:sp>
        <p:nvSpPr>
          <p:cNvPr id="37" name="Shape 35"/>
          <p:cNvSpPr/>
          <p:nvPr/>
        </p:nvSpPr>
        <p:spPr>
          <a:xfrm>
            <a:off x="8211312" y="2286000"/>
            <a:ext cx="3611880" cy="402336"/>
          </a:xfrm>
          <a:prstGeom prst="roundRect">
            <a:avLst>
              <a:gd name="adj" fmla="val 13636"/>
            </a:avLst>
          </a:prstGeom>
          <a:solidFill>
            <a:srgbClr val="FFFFFF"/>
          </a:solidFill>
          <a:ln w="12700">
            <a:solidFill>
              <a:srgbClr val="D8D6CF"/>
            </a:solidFill>
            <a:prstDash val="solid"/>
          </a:ln>
        </p:spPr>
      </p:sp>
      <p:sp>
        <p:nvSpPr>
          <p:cNvPr id="38" name="Text 36"/>
          <p:cNvSpPr txBox="1"/>
          <p:nvPr/>
        </p:nvSpPr>
        <p:spPr>
          <a:xfrm>
            <a:off x="8211312" y="2286000"/>
            <a:ext cx="3611880" cy="402336"/>
          </a:xfrm>
          <a:prstGeom prst="rect">
            <a:avLst/>
          </a:prstGeom>
          <a:noFill/>
          <a:ln/>
        </p:spPr>
        <p:txBody>
          <a:bodyPr wrap="square" lIns="0" tIns="0" rIns="0" bIns="0" rtlCol="0" anchor="ctr"/>
          <a:lstStyle/>
          <a:p>
            <a:pPr marL="0" indent="0" algn="ctr">
              <a:buNone/>
            </a:pPr>
            <a:r>
              <a:rPr lang="en-US" sz="1100" dirty="0">
                <a:solidFill>
                  <a:srgbClr val="23272A"/>
                </a:solidFill>
                <a:latin typeface="Calibri" pitchFamily="34" charset="0"/>
                <a:ea typeface="Calibri" pitchFamily="34" charset="-122"/>
                <a:cs typeface="Calibri" pitchFamily="34" charset="-120"/>
              </a:rPr>
              <a:t>Crack Coordinates</a:t>
            </a:r>
            <a:endParaRPr lang="en-US" sz="1100" dirty="0"/>
          </a:p>
        </p:txBody>
      </p:sp>
      <p:sp>
        <p:nvSpPr>
          <p:cNvPr id="39" name="Shape 37"/>
          <p:cNvSpPr/>
          <p:nvPr/>
        </p:nvSpPr>
        <p:spPr>
          <a:xfrm>
            <a:off x="10017252" y="2688336"/>
            <a:ext cx="0" cy="109728"/>
          </a:xfrm>
          <a:prstGeom prst="line">
            <a:avLst/>
          </a:prstGeom>
          <a:noFill/>
          <a:ln w="25400">
            <a:solidFill>
              <a:srgbClr val="8C8C86"/>
            </a:solidFill>
            <a:prstDash val="solid"/>
            <a:tailEnd type="triangle"/>
          </a:ln>
        </p:spPr>
      </p:sp>
      <p:sp>
        <p:nvSpPr>
          <p:cNvPr id="40" name="Shape 38"/>
          <p:cNvSpPr/>
          <p:nvPr/>
        </p:nvSpPr>
        <p:spPr>
          <a:xfrm>
            <a:off x="8211312" y="2798064"/>
            <a:ext cx="3611880" cy="402336"/>
          </a:xfrm>
          <a:prstGeom prst="roundRect">
            <a:avLst>
              <a:gd name="adj" fmla="val 13636"/>
            </a:avLst>
          </a:prstGeom>
          <a:solidFill>
            <a:srgbClr val="FFFFFF"/>
          </a:solidFill>
          <a:ln w="12700">
            <a:solidFill>
              <a:srgbClr val="D8D6CF"/>
            </a:solidFill>
            <a:prstDash val="solid"/>
          </a:ln>
        </p:spPr>
      </p:sp>
      <p:sp>
        <p:nvSpPr>
          <p:cNvPr id="41" name="Text 39"/>
          <p:cNvSpPr txBox="1"/>
          <p:nvPr/>
        </p:nvSpPr>
        <p:spPr>
          <a:xfrm>
            <a:off x="8211312" y="2798064"/>
            <a:ext cx="3611880" cy="402336"/>
          </a:xfrm>
          <a:prstGeom prst="rect">
            <a:avLst/>
          </a:prstGeom>
          <a:noFill/>
          <a:ln/>
        </p:spPr>
        <p:txBody>
          <a:bodyPr wrap="square" lIns="0" tIns="0" rIns="0" bIns="0" rtlCol="0" anchor="ctr"/>
          <a:lstStyle/>
          <a:p>
            <a:pPr marL="0" indent="0" algn="ctr">
              <a:buNone/>
            </a:pPr>
            <a:r>
              <a:rPr lang="en-US" sz="1100" dirty="0">
                <a:solidFill>
                  <a:srgbClr val="23272A"/>
                </a:solidFill>
                <a:latin typeface="Calibri" pitchFamily="34" charset="0"/>
                <a:ea typeface="Calibri" pitchFamily="34" charset="-122"/>
                <a:cs typeface="Calibri" pitchFamily="34" charset="-120"/>
              </a:rPr>
              <a:t>PCA</a:t>
            </a:r>
            <a:endParaRPr lang="en-US" sz="1100" dirty="0"/>
          </a:p>
        </p:txBody>
      </p:sp>
      <p:sp>
        <p:nvSpPr>
          <p:cNvPr id="42" name="Shape 40"/>
          <p:cNvSpPr/>
          <p:nvPr/>
        </p:nvSpPr>
        <p:spPr>
          <a:xfrm>
            <a:off x="10017252" y="3200400"/>
            <a:ext cx="0" cy="109728"/>
          </a:xfrm>
          <a:prstGeom prst="line">
            <a:avLst/>
          </a:prstGeom>
          <a:noFill/>
          <a:ln w="25400">
            <a:solidFill>
              <a:srgbClr val="8C8C86"/>
            </a:solidFill>
            <a:prstDash val="solid"/>
            <a:tailEnd type="triangle"/>
          </a:ln>
        </p:spPr>
      </p:sp>
      <p:sp>
        <p:nvSpPr>
          <p:cNvPr id="43" name="Shape 41"/>
          <p:cNvSpPr/>
          <p:nvPr/>
        </p:nvSpPr>
        <p:spPr>
          <a:xfrm>
            <a:off x="8211312" y="3310128"/>
            <a:ext cx="3611880" cy="402336"/>
          </a:xfrm>
          <a:prstGeom prst="roundRect">
            <a:avLst>
              <a:gd name="adj" fmla="val 13636"/>
            </a:avLst>
          </a:prstGeom>
          <a:solidFill>
            <a:srgbClr val="FFFFFF"/>
          </a:solidFill>
          <a:ln w="12700">
            <a:solidFill>
              <a:srgbClr val="D8D6CF"/>
            </a:solidFill>
            <a:prstDash val="solid"/>
          </a:ln>
        </p:spPr>
      </p:sp>
      <p:sp>
        <p:nvSpPr>
          <p:cNvPr id="44" name="Text 42"/>
          <p:cNvSpPr txBox="1"/>
          <p:nvPr/>
        </p:nvSpPr>
        <p:spPr>
          <a:xfrm>
            <a:off x="8211312" y="3310128"/>
            <a:ext cx="3611880" cy="402336"/>
          </a:xfrm>
          <a:prstGeom prst="rect">
            <a:avLst/>
          </a:prstGeom>
          <a:noFill/>
          <a:ln/>
        </p:spPr>
        <p:txBody>
          <a:bodyPr wrap="square" lIns="0" tIns="0" rIns="0" bIns="0" rtlCol="0" anchor="ctr"/>
          <a:lstStyle/>
          <a:p>
            <a:pPr marL="0" indent="0" algn="ctr">
              <a:buNone/>
            </a:pPr>
            <a:r>
              <a:rPr lang="en-US" sz="1100" dirty="0">
                <a:solidFill>
                  <a:srgbClr val="23272A"/>
                </a:solidFill>
                <a:latin typeface="Calibri" pitchFamily="34" charset="0"/>
                <a:ea typeface="Calibri" pitchFamily="34" charset="-122"/>
                <a:cs typeface="Calibri" pitchFamily="34" charset="-120"/>
              </a:rPr>
              <a:t>Dominant Direction</a:t>
            </a:r>
            <a:endParaRPr lang="en-US" sz="1100" dirty="0"/>
          </a:p>
        </p:txBody>
      </p:sp>
      <p:sp>
        <p:nvSpPr>
          <p:cNvPr id="45" name="Shape 43"/>
          <p:cNvSpPr/>
          <p:nvPr/>
        </p:nvSpPr>
        <p:spPr>
          <a:xfrm>
            <a:off x="10017252" y="3712464"/>
            <a:ext cx="0" cy="109728"/>
          </a:xfrm>
          <a:prstGeom prst="line">
            <a:avLst/>
          </a:prstGeom>
          <a:noFill/>
          <a:ln w="25400">
            <a:solidFill>
              <a:srgbClr val="8C8C86"/>
            </a:solidFill>
            <a:prstDash val="solid"/>
            <a:tailEnd type="triangle"/>
          </a:ln>
        </p:spPr>
      </p:sp>
      <p:sp>
        <p:nvSpPr>
          <p:cNvPr id="46" name="Shape 44"/>
          <p:cNvSpPr/>
          <p:nvPr/>
        </p:nvSpPr>
        <p:spPr>
          <a:xfrm>
            <a:off x="8211312" y="3822192"/>
            <a:ext cx="3611880" cy="402336"/>
          </a:xfrm>
          <a:prstGeom prst="roundRect">
            <a:avLst>
              <a:gd name="adj" fmla="val 13636"/>
            </a:avLst>
          </a:prstGeom>
          <a:solidFill>
            <a:srgbClr val="23272A"/>
          </a:solidFill>
          <a:ln w="12700">
            <a:solidFill>
              <a:srgbClr val="D8D6CF"/>
            </a:solidFill>
            <a:prstDash val="solid"/>
          </a:ln>
        </p:spPr>
      </p:sp>
      <p:sp>
        <p:nvSpPr>
          <p:cNvPr id="47" name="Text 45"/>
          <p:cNvSpPr txBox="1"/>
          <p:nvPr/>
        </p:nvSpPr>
        <p:spPr>
          <a:xfrm>
            <a:off x="8211312" y="3822192"/>
            <a:ext cx="361188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Angle in Degrees</a:t>
            </a:r>
            <a:endParaRPr lang="en-US" sz="1100" dirty="0"/>
          </a:p>
        </p:txBody>
      </p:sp>
      <p:sp>
        <p:nvSpPr>
          <p:cNvPr id="48" name="Shape 46"/>
          <p:cNvSpPr/>
          <p:nvPr/>
        </p:nvSpPr>
        <p:spPr>
          <a:xfrm>
            <a:off x="8211312" y="4407408"/>
            <a:ext cx="3611880" cy="1051560"/>
          </a:xfrm>
          <a:prstGeom prst="roundRect">
            <a:avLst>
              <a:gd name="adj" fmla="val 5217"/>
            </a:avLst>
          </a:prstGeom>
          <a:solidFill>
            <a:srgbClr val="E7E6E1"/>
          </a:solidFill>
          <a:ln/>
        </p:spPr>
      </p:sp>
      <p:sp>
        <p:nvSpPr>
          <p:cNvPr id="49" name="Text 47"/>
          <p:cNvSpPr txBox="1"/>
          <p:nvPr/>
        </p:nvSpPr>
        <p:spPr>
          <a:xfrm>
            <a:off x="8348472" y="4517136"/>
            <a:ext cx="3337560" cy="868680"/>
          </a:xfrm>
          <a:prstGeom prst="rect">
            <a:avLst/>
          </a:prstGeom>
          <a:noFill/>
          <a:ln/>
        </p:spPr>
        <p:txBody>
          <a:bodyPr wrap="square" lIns="0" tIns="0" rIns="0" bIns="0" rtlCol="0" anchor="ctr"/>
          <a:lstStyle/>
          <a:p>
            <a:pPr marL="0" indent="0" algn="ctr">
              <a:buNone/>
            </a:pPr>
            <a:r>
              <a:rPr lang="en-US" sz="1000" dirty="0">
                <a:solidFill>
                  <a:srgbClr val="23272A"/>
                </a:solidFill>
                <a:latin typeface="Calibri" pitchFamily="34" charset="0"/>
                <a:ea typeface="Calibri" pitchFamily="34" charset="-122"/>
                <a:cs typeface="Calibri" pitchFamily="34" charset="-120"/>
              </a:rPr>
              <a:t>Principal Component Analysis finds the crack's dominant direction.</a:t>
            </a:r>
            <a:endParaRPr lang="en-US" sz="1000" dirty="0"/>
          </a:p>
        </p:txBody>
      </p:sp>
      <p:sp>
        <p:nvSpPr>
          <p:cNvPr id="50" name="Text 48"/>
          <p:cNvSpPr txBox="1"/>
          <p:nvPr/>
        </p:nvSpPr>
        <p:spPr>
          <a:xfrm>
            <a:off x="548640" y="5989320"/>
            <a:ext cx="11064240" cy="457200"/>
          </a:xfrm>
          <a:prstGeom prst="rect">
            <a:avLst/>
          </a:prstGeom>
          <a:noFill/>
          <a:ln/>
        </p:spPr>
        <p:txBody>
          <a:bodyPr wrap="square" rtlCol="0" anchor="ctr"/>
          <a:lstStyle/>
          <a:p>
            <a:pPr marL="0" indent="0" algn="ctr">
              <a:buNone/>
            </a:pPr>
            <a:r>
              <a:rPr lang="en-US" sz="1150" i="1" dirty="0">
                <a:solidFill>
                  <a:srgbClr val="C24C10"/>
                </a:solidFill>
                <a:latin typeface="Calibri" pitchFamily="34" charset="0"/>
                <a:ea typeface="Calibri" pitchFamily="34" charset="-122"/>
                <a:cs typeface="Calibri" pitchFamily="34" charset="-120"/>
              </a:rPr>
              <a:t>After segmentation, the skeleton gives the crack's centerline; distance-transform gives local width; the skeleton path gives length; PCA gives dominant orientation.</a:t>
            </a:r>
            <a:endParaRPr lang="en-US" sz="1150" dirty="0"/>
          </a:p>
        </p:txBody>
      </p:sp>
      <p:sp>
        <p:nvSpPr>
          <p:cNvPr id="51" name="Text 49"/>
          <p:cNvSpPr txBox="1"/>
          <p:nvPr/>
        </p:nvSpPr>
        <p:spPr>
          <a:xfrm>
            <a:off x="11292840" y="6510528"/>
            <a:ext cx="731520" cy="274320"/>
          </a:xfrm>
          <a:prstGeom prst="rect">
            <a:avLst/>
          </a:prstGeom>
          <a:noFill/>
          <a:ln/>
        </p:spPr>
        <p:txBody>
          <a:bodyPr wrap="square" rtlCol="0" anchor="ctr"/>
          <a:lstStyle/>
          <a:p>
            <a:pPr marL="0" indent="0" algn="r">
              <a:buNone/>
            </a:pPr>
            <a:r>
              <a:rPr lang="en-US" sz="900" dirty="0">
                <a:solidFill>
                  <a:srgbClr val="8C8C86"/>
                </a:solidFill>
                <a:latin typeface="Calibri" pitchFamily="34" charset="0"/>
                <a:ea typeface="Calibri" pitchFamily="34" charset="-122"/>
                <a:cs typeface="Calibri" pitchFamily="34" charset="-120"/>
              </a:rPr>
              <a:t>08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3E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F2661F"/>
                </a:solidFill>
                <a:latin typeface="Calibri" pitchFamily="34" charset="0"/>
                <a:ea typeface="Calibri" pitchFamily="34" charset="-122"/>
                <a:cs typeface="Calibri" pitchFamily="34" charset="-120"/>
              </a:rPr>
              <a:t>CALIBRATION</a:t>
            </a:r>
            <a:endParaRPr lang="en-US" sz="1200" dirty="0"/>
          </a:p>
        </p:txBody>
      </p:sp>
      <p:sp>
        <p:nvSpPr>
          <p:cNvPr id="3" name="Text 1"/>
          <p:cNvSpPr txBox="1"/>
          <p:nvPr/>
        </p:nvSpPr>
        <p:spPr>
          <a:xfrm>
            <a:off x="548640" y="621792"/>
            <a:ext cx="10515600" cy="640080"/>
          </a:xfrm>
          <a:prstGeom prst="rect">
            <a:avLst/>
          </a:prstGeom>
          <a:noFill/>
          <a:ln/>
        </p:spPr>
        <p:txBody>
          <a:bodyPr wrap="square" lIns="0" tIns="0" rIns="0" bIns="0" rtlCol="0" anchor="ctr"/>
          <a:lstStyle/>
          <a:p>
            <a:pPr marL="0" indent="0">
              <a:buNone/>
            </a:pPr>
            <a:r>
              <a:rPr lang="en-US" sz="3000" b="1" dirty="0">
                <a:solidFill>
                  <a:srgbClr val="23272A"/>
                </a:solidFill>
                <a:latin typeface="Cambria" pitchFamily="34" charset="0"/>
                <a:ea typeface="Cambria" pitchFamily="34" charset="-122"/>
                <a:cs typeface="Cambria" pitchFamily="34" charset="-120"/>
              </a:rPr>
              <a:t>How Do Pixels Become Millimeters?</a:t>
            </a:r>
            <a:endParaRPr lang="en-US" sz="3000" dirty="0"/>
          </a:p>
        </p:txBody>
      </p:sp>
      <p:sp>
        <p:nvSpPr>
          <p:cNvPr id="4" name="Text 2"/>
          <p:cNvSpPr txBox="1"/>
          <p:nvPr/>
        </p:nvSpPr>
        <p:spPr>
          <a:xfrm>
            <a:off x="548640" y="1325880"/>
            <a:ext cx="5486400" cy="548640"/>
          </a:xfrm>
          <a:prstGeom prst="rect">
            <a:avLst/>
          </a:prstGeom>
          <a:noFill/>
          <a:ln/>
        </p:spPr>
        <p:txBody>
          <a:bodyPr wrap="square" rtlCol="0" anchor="ctr"/>
          <a:lstStyle/>
          <a:p>
            <a:pPr marL="0" indent="0">
              <a:buNone/>
            </a:pPr>
            <a:r>
              <a:rPr lang="en-US" sz="1300" dirty="0">
                <a:solidFill>
                  <a:srgbClr val="23272A"/>
                </a:solidFill>
                <a:latin typeface="Calibri" pitchFamily="34" charset="0"/>
                <a:ea typeface="Calibri" pitchFamily="34" charset="-122"/>
                <a:cs typeface="Calibri" pitchFamily="34" charset="-120"/>
              </a:rPr>
              <a:t>The camera sees pixels. The engineer needs millimeters. So, we use a known physical reference.</a:t>
            </a:r>
            <a:endParaRPr lang="en-US" sz="1300" dirty="0"/>
          </a:p>
        </p:txBody>
      </p:sp>
      <p:sp>
        <p:nvSpPr>
          <p:cNvPr id="5" name="Shape 3"/>
          <p:cNvSpPr/>
          <p:nvPr/>
        </p:nvSpPr>
        <p:spPr>
          <a:xfrm>
            <a:off x="548640" y="1965960"/>
            <a:ext cx="5486400" cy="2286000"/>
          </a:xfrm>
          <a:prstGeom prst="roundRect">
            <a:avLst>
              <a:gd name="adj" fmla="val 2400"/>
            </a:avLst>
          </a:prstGeom>
          <a:solidFill>
            <a:srgbClr val="23272A"/>
          </a:solidFill>
          <a:ln/>
          <a:effectLst>
            <a:outerShdw blurRad="76200" dist="25400" dir="5400000" algn="bl" rotWithShape="0">
              <a:srgbClr val="1A1A1A">
                <a:alpha val="18000"/>
              </a:srgbClr>
            </a:outerShdw>
          </a:effectLst>
        </p:spPr>
      </p:sp>
      <p:sp>
        <p:nvSpPr>
          <p:cNvPr id="6" name="Text 4"/>
          <p:cNvSpPr txBox="1"/>
          <p:nvPr/>
        </p:nvSpPr>
        <p:spPr>
          <a:xfrm>
            <a:off x="777240" y="2103120"/>
            <a:ext cx="2743200" cy="274320"/>
          </a:xfrm>
          <a:prstGeom prst="rect">
            <a:avLst/>
          </a:prstGeom>
          <a:noFill/>
          <a:ln/>
        </p:spPr>
        <p:txBody>
          <a:bodyPr wrap="square" rtlCol="0" anchor="ctr"/>
          <a:lstStyle/>
          <a:p>
            <a:pPr marL="0" indent="0">
              <a:buNone/>
            </a:pPr>
            <a:r>
              <a:rPr lang="en-US" sz="1100" b="1" kern="0" spc="150" dirty="0">
                <a:solidFill>
                  <a:srgbClr val="F2661F"/>
                </a:solidFill>
                <a:latin typeface="Calibri" pitchFamily="34" charset="0"/>
                <a:ea typeface="Calibri" pitchFamily="34" charset="-122"/>
                <a:cs typeface="Calibri" pitchFamily="34" charset="-120"/>
              </a:rPr>
              <a:t>EXAMPLE</a:t>
            </a:r>
            <a:endParaRPr lang="en-US" sz="1100" dirty="0"/>
          </a:p>
        </p:txBody>
      </p:sp>
      <p:sp>
        <p:nvSpPr>
          <p:cNvPr id="7" name="Text 5"/>
          <p:cNvSpPr txBox="1"/>
          <p:nvPr/>
        </p:nvSpPr>
        <p:spPr>
          <a:xfrm>
            <a:off x="777240" y="2423160"/>
            <a:ext cx="5029200" cy="365760"/>
          </a:xfrm>
          <a:prstGeom prst="rect">
            <a:avLst/>
          </a:prstGeom>
          <a:noFill/>
          <a:ln/>
        </p:spPr>
        <p:txBody>
          <a:bodyPr wrap="square" lIns="0" tIns="0" rIns="0" bIns="0" rtlCol="0" anchor="ctr"/>
          <a:lstStyle/>
          <a:p>
            <a:pPr marL="0" indent="0">
              <a:buNone/>
            </a:pPr>
            <a:r>
              <a:rPr lang="en-US" sz="1350" dirty="0">
                <a:solidFill>
                  <a:srgbClr val="E7E6E1"/>
                </a:solidFill>
                <a:latin typeface="Calibri" pitchFamily="34" charset="0"/>
                <a:ea typeface="Calibri" pitchFamily="34" charset="-122"/>
                <a:cs typeface="Calibri" pitchFamily="34" charset="-120"/>
              </a:rPr>
              <a:t>Reference marker = 50 mm</a:t>
            </a:r>
            <a:endParaRPr lang="en-US" sz="1350" dirty="0"/>
          </a:p>
        </p:txBody>
      </p:sp>
      <p:sp>
        <p:nvSpPr>
          <p:cNvPr id="8" name="Text 6"/>
          <p:cNvSpPr txBox="1"/>
          <p:nvPr/>
        </p:nvSpPr>
        <p:spPr>
          <a:xfrm>
            <a:off x="777240" y="2807208"/>
            <a:ext cx="5029200" cy="365760"/>
          </a:xfrm>
          <a:prstGeom prst="rect">
            <a:avLst/>
          </a:prstGeom>
          <a:noFill/>
          <a:ln/>
        </p:spPr>
        <p:txBody>
          <a:bodyPr wrap="square" lIns="0" tIns="0" rIns="0" bIns="0" rtlCol="0" anchor="ctr"/>
          <a:lstStyle/>
          <a:p>
            <a:pPr marL="0" indent="0">
              <a:buNone/>
            </a:pPr>
            <a:r>
              <a:rPr lang="en-US" sz="1350" dirty="0">
                <a:solidFill>
                  <a:srgbClr val="E7E6E1"/>
                </a:solidFill>
                <a:latin typeface="Calibri" pitchFamily="34" charset="0"/>
                <a:ea typeface="Calibri" pitchFamily="34" charset="-122"/>
                <a:cs typeface="Calibri" pitchFamily="34" charset="-120"/>
              </a:rPr>
              <a:t>Detected marker = 400 pixels</a:t>
            </a:r>
            <a:endParaRPr lang="en-US" sz="1350" dirty="0"/>
          </a:p>
        </p:txBody>
      </p:sp>
      <p:sp>
        <p:nvSpPr>
          <p:cNvPr id="9" name="Text 7"/>
          <p:cNvSpPr txBox="1"/>
          <p:nvPr/>
        </p:nvSpPr>
        <p:spPr>
          <a:xfrm>
            <a:off x="777240" y="3191256"/>
            <a:ext cx="5029200" cy="365760"/>
          </a:xfrm>
          <a:prstGeom prst="rect">
            <a:avLst/>
          </a:prstGeom>
          <a:noFill/>
          <a:ln/>
        </p:spPr>
        <p:txBody>
          <a:bodyPr wrap="square" lIns="0" tIns="0" rIns="0" bIns="0" rtlCol="0" anchor="ctr"/>
          <a:lstStyle/>
          <a:p>
            <a:pPr marL="0" indent="0">
              <a:buNone/>
            </a:pPr>
            <a:r>
              <a:rPr lang="en-US" sz="1350" dirty="0">
                <a:solidFill>
                  <a:srgbClr val="E7E6E1"/>
                </a:solidFill>
                <a:latin typeface="Calibri" pitchFamily="34" charset="0"/>
                <a:ea typeface="Calibri" pitchFamily="34" charset="-122"/>
                <a:cs typeface="Calibri" pitchFamily="34" charset="-120"/>
              </a:rPr>
              <a:t>Scale = 400 / 50 = 8 pixels/mm</a:t>
            </a:r>
            <a:endParaRPr lang="en-US" sz="1350" dirty="0"/>
          </a:p>
        </p:txBody>
      </p:sp>
      <p:sp>
        <p:nvSpPr>
          <p:cNvPr id="10" name="Shape 8"/>
          <p:cNvSpPr/>
          <p:nvPr/>
        </p:nvSpPr>
        <p:spPr>
          <a:xfrm>
            <a:off x="777240" y="3611880"/>
            <a:ext cx="5029200" cy="0"/>
          </a:xfrm>
          <a:prstGeom prst="line">
            <a:avLst/>
          </a:prstGeom>
          <a:noFill/>
          <a:ln w="12700">
            <a:solidFill>
              <a:srgbClr val="3A4043"/>
            </a:solidFill>
            <a:prstDash val="solid"/>
          </a:ln>
        </p:spPr>
      </p:sp>
      <p:sp>
        <p:nvSpPr>
          <p:cNvPr id="11" name="Text 9"/>
          <p:cNvSpPr txBox="1"/>
          <p:nvPr/>
        </p:nvSpPr>
        <p:spPr>
          <a:xfrm>
            <a:off x="777240" y="3703320"/>
            <a:ext cx="5029200" cy="502920"/>
          </a:xfrm>
          <a:prstGeom prst="rect">
            <a:avLst/>
          </a:prstGeom>
          <a:noFill/>
          <a:ln/>
        </p:spPr>
        <p:txBody>
          <a:bodyPr wrap="square" lIns="0" tIns="0" rIns="0" bIns="0" rtlCol="0" anchor="ctr"/>
          <a:lstStyle/>
          <a:p>
            <a:pPr marL="0" indent="0">
              <a:buNone/>
            </a:pPr>
            <a:r>
              <a:rPr lang="en-US" sz="1500" b="1" dirty="0">
                <a:solidFill>
                  <a:srgbClr val="F2661F"/>
                </a:solidFill>
                <a:latin typeface="Cambria" pitchFamily="34" charset="0"/>
                <a:ea typeface="Cambria" pitchFamily="34" charset="-122"/>
                <a:cs typeface="Cambria" pitchFamily="34" charset="-120"/>
              </a:rPr>
              <a:t>If crack width = 12 pixels:</a:t>
            </a:r>
            <a:endParaRPr lang="en-US" sz="1500" dirty="0"/>
          </a:p>
          <a:p>
            <a:pPr marL="0" indent="0">
              <a:buNone/>
            </a:pPr>
            <a:r>
              <a:rPr lang="en-US" sz="1500" b="1" dirty="0">
                <a:solidFill>
                  <a:srgbClr val="F2661F"/>
                </a:solidFill>
                <a:latin typeface="Cambria" pitchFamily="34" charset="0"/>
                <a:ea typeface="Cambria" pitchFamily="34" charset="-122"/>
                <a:cs typeface="Cambria" pitchFamily="34" charset="-120"/>
              </a:rPr>
              <a:t>Crack Width = 12 / 8 = 1.5 mm</a:t>
            </a:r>
            <a:endParaRPr lang="en-US" sz="1500" dirty="0"/>
          </a:p>
        </p:txBody>
      </p:sp>
      <p:sp>
        <p:nvSpPr>
          <p:cNvPr id="12" name="Text 10"/>
          <p:cNvSpPr txBox="1"/>
          <p:nvPr/>
        </p:nvSpPr>
        <p:spPr>
          <a:xfrm>
            <a:off x="548640" y="4434840"/>
            <a:ext cx="5486400" cy="914400"/>
          </a:xfrm>
          <a:prstGeom prst="rect">
            <a:avLst/>
          </a:prstGeom>
          <a:noFill/>
          <a:ln/>
        </p:spPr>
        <p:txBody>
          <a:bodyPr wrap="square" rtlCol="0" anchor="ctr"/>
          <a:lstStyle/>
          <a:p>
            <a:pPr marL="0" indent="0" algn="just">
              <a:buNone/>
            </a:pPr>
            <a:r>
              <a:rPr lang="en-US" sz="1100" b="1" i="1" dirty="0">
                <a:latin typeface="Calibri" pitchFamily="34" charset="0"/>
                <a:ea typeface="Calibri" pitchFamily="34" charset="-122"/>
                <a:cs typeface="Calibri" pitchFamily="34" charset="-120"/>
              </a:rPr>
              <a:t>Calibration matters because a pixel has no fixed physical size across imaging conditions - the reference marker and controlled camera geometry fix the pixel-to-mm scale before we calculate crack dimensions.</a:t>
            </a:r>
            <a:endParaRPr lang="en-US" sz="1100" b="1" dirty="0"/>
          </a:p>
        </p:txBody>
      </p:sp>
      <p:sp>
        <p:nvSpPr>
          <p:cNvPr id="13" name="Shape 11"/>
          <p:cNvSpPr/>
          <p:nvPr/>
        </p:nvSpPr>
        <p:spPr>
          <a:xfrm>
            <a:off x="6446520" y="1325880"/>
            <a:ext cx="5166360" cy="5074920"/>
          </a:xfrm>
          <a:prstGeom prst="roundRect">
            <a:avLst>
              <a:gd name="adj" fmla="val 1081"/>
            </a:avLst>
          </a:prstGeom>
          <a:solidFill>
            <a:srgbClr val="FFFFFF"/>
          </a:solidFill>
          <a:ln/>
          <a:effectLst>
            <a:outerShdw blurRad="76200" dist="25400" dir="5400000" algn="bl" rotWithShape="0">
              <a:srgbClr val="1A1A1A">
                <a:alpha val="18000"/>
              </a:srgbClr>
            </a:outerShdw>
          </a:effectLst>
        </p:spPr>
      </p:sp>
      <p:sp>
        <p:nvSpPr>
          <p:cNvPr id="14" name="Shape 12"/>
          <p:cNvSpPr/>
          <p:nvPr/>
        </p:nvSpPr>
        <p:spPr>
          <a:xfrm>
            <a:off x="6446520" y="1325880"/>
            <a:ext cx="5166360" cy="548640"/>
          </a:xfrm>
          <a:prstGeom prst="roundRect">
            <a:avLst/>
          </a:prstGeom>
          <a:solidFill>
            <a:srgbClr val="F2661F"/>
          </a:solidFill>
          <a:ln/>
        </p:spPr>
      </p:sp>
      <p:sp>
        <p:nvSpPr>
          <p:cNvPr id="15" name="Text 13"/>
          <p:cNvSpPr txBox="1"/>
          <p:nvPr/>
        </p:nvSpPr>
        <p:spPr>
          <a:xfrm>
            <a:off x="6446520" y="1325880"/>
            <a:ext cx="516636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CRACKGAUGE REPORT</a:t>
            </a:r>
            <a:endParaRPr lang="en-US" sz="1600" dirty="0"/>
          </a:p>
        </p:txBody>
      </p:sp>
      <p:sp>
        <p:nvSpPr>
          <p:cNvPr id="16" name="Text 14"/>
          <p:cNvSpPr txBox="1"/>
          <p:nvPr/>
        </p:nvSpPr>
        <p:spPr>
          <a:xfrm>
            <a:off x="6720840" y="2057400"/>
            <a:ext cx="2468880" cy="320040"/>
          </a:xfrm>
          <a:prstGeom prst="rect">
            <a:avLst/>
          </a:prstGeom>
          <a:noFill/>
          <a:ln/>
        </p:spPr>
        <p:txBody>
          <a:bodyPr wrap="square" lIns="0" tIns="0" rIns="0" bIns="0" rtlCol="0" anchor="ctr"/>
          <a:lstStyle/>
          <a:p>
            <a:pPr marL="0" indent="0">
              <a:buNone/>
            </a:pPr>
            <a:r>
              <a:rPr lang="en-US" sz="1200" dirty="0">
                <a:solidFill>
                  <a:srgbClr val="5B5F61"/>
                </a:solidFill>
                <a:latin typeface="Calibri" pitchFamily="34" charset="0"/>
                <a:ea typeface="Calibri" pitchFamily="34" charset="-122"/>
                <a:cs typeface="Calibri" pitchFamily="34" charset="-120"/>
              </a:rPr>
              <a:t>Maximum Width</a:t>
            </a:r>
            <a:endParaRPr lang="en-US" sz="1200" dirty="0"/>
          </a:p>
        </p:txBody>
      </p:sp>
      <p:sp>
        <p:nvSpPr>
          <p:cNvPr id="17" name="Text 15"/>
          <p:cNvSpPr txBox="1"/>
          <p:nvPr/>
        </p:nvSpPr>
        <p:spPr>
          <a:xfrm>
            <a:off x="9235440" y="2057400"/>
            <a:ext cx="2103120" cy="320040"/>
          </a:xfrm>
          <a:prstGeom prst="rect">
            <a:avLst/>
          </a:prstGeom>
          <a:noFill/>
          <a:ln/>
        </p:spPr>
        <p:txBody>
          <a:bodyPr wrap="square" lIns="0" tIns="0" rIns="0" bIns="0" rtlCol="0" anchor="ctr"/>
          <a:lstStyle/>
          <a:p>
            <a:pPr marL="0" indent="0" algn="r">
              <a:buNone/>
            </a:pPr>
            <a:r>
              <a:rPr lang="en-US" sz="1200" b="1" dirty="0">
                <a:solidFill>
                  <a:srgbClr val="23272A"/>
                </a:solidFill>
                <a:latin typeface="Calibri" pitchFamily="34" charset="0"/>
                <a:ea typeface="Calibri" pitchFamily="34" charset="-122"/>
                <a:cs typeface="Calibri" pitchFamily="34" charset="-120"/>
              </a:rPr>
              <a:t>1.50 mm</a:t>
            </a:r>
            <a:endParaRPr lang="en-US" sz="1200" dirty="0"/>
          </a:p>
        </p:txBody>
      </p:sp>
      <p:sp>
        <p:nvSpPr>
          <p:cNvPr id="18" name="Text 16"/>
          <p:cNvSpPr txBox="1"/>
          <p:nvPr/>
        </p:nvSpPr>
        <p:spPr>
          <a:xfrm>
            <a:off x="6720840" y="2423160"/>
            <a:ext cx="2468880" cy="320040"/>
          </a:xfrm>
          <a:prstGeom prst="rect">
            <a:avLst/>
          </a:prstGeom>
          <a:noFill/>
          <a:ln/>
        </p:spPr>
        <p:txBody>
          <a:bodyPr wrap="square" lIns="0" tIns="0" rIns="0" bIns="0" rtlCol="0" anchor="ctr"/>
          <a:lstStyle/>
          <a:p>
            <a:pPr marL="0" indent="0">
              <a:buNone/>
            </a:pPr>
            <a:r>
              <a:rPr lang="en-US" sz="1200" dirty="0">
                <a:solidFill>
                  <a:srgbClr val="5B5F61"/>
                </a:solidFill>
                <a:latin typeface="Calibri" pitchFamily="34" charset="0"/>
                <a:ea typeface="Calibri" pitchFamily="34" charset="-122"/>
                <a:cs typeface="Calibri" pitchFamily="34" charset="-120"/>
              </a:rPr>
              <a:t>Average Width</a:t>
            </a:r>
            <a:endParaRPr lang="en-US" sz="1200" dirty="0"/>
          </a:p>
        </p:txBody>
      </p:sp>
      <p:sp>
        <p:nvSpPr>
          <p:cNvPr id="19" name="Text 17"/>
          <p:cNvSpPr txBox="1"/>
          <p:nvPr/>
        </p:nvSpPr>
        <p:spPr>
          <a:xfrm>
            <a:off x="9235440" y="2423160"/>
            <a:ext cx="2103120" cy="320040"/>
          </a:xfrm>
          <a:prstGeom prst="rect">
            <a:avLst/>
          </a:prstGeom>
          <a:noFill/>
          <a:ln/>
        </p:spPr>
        <p:txBody>
          <a:bodyPr wrap="square" lIns="0" tIns="0" rIns="0" bIns="0" rtlCol="0" anchor="ctr"/>
          <a:lstStyle/>
          <a:p>
            <a:pPr marL="0" indent="0" algn="r">
              <a:buNone/>
            </a:pPr>
            <a:r>
              <a:rPr lang="en-US" sz="1200" b="1" dirty="0">
                <a:solidFill>
                  <a:srgbClr val="23272A"/>
                </a:solidFill>
                <a:latin typeface="Calibri" pitchFamily="34" charset="0"/>
                <a:ea typeface="Calibri" pitchFamily="34" charset="-122"/>
                <a:cs typeface="Calibri" pitchFamily="34" charset="-120"/>
              </a:rPr>
              <a:t>0.82 mm</a:t>
            </a:r>
            <a:endParaRPr lang="en-US" sz="1200" dirty="0"/>
          </a:p>
        </p:txBody>
      </p:sp>
      <p:sp>
        <p:nvSpPr>
          <p:cNvPr id="20" name="Text 18"/>
          <p:cNvSpPr txBox="1"/>
          <p:nvPr/>
        </p:nvSpPr>
        <p:spPr>
          <a:xfrm>
            <a:off x="6720840" y="2788920"/>
            <a:ext cx="2468880" cy="320040"/>
          </a:xfrm>
          <a:prstGeom prst="rect">
            <a:avLst/>
          </a:prstGeom>
          <a:noFill/>
          <a:ln/>
        </p:spPr>
        <p:txBody>
          <a:bodyPr wrap="square" lIns="0" tIns="0" rIns="0" bIns="0" rtlCol="0" anchor="ctr"/>
          <a:lstStyle/>
          <a:p>
            <a:pPr marL="0" indent="0">
              <a:buNone/>
            </a:pPr>
            <a:r>
              <a:rPr lang="en-US" sz="1200" dirty="0">
                <a:solidFill>
                  <a:srgbClr val="5B5F61"/>
                </a:solidFill>
                <a:latin typeface="Calibri" pitchFamily="34" charset="0"/>
                <a:ea typeface="Calibri" pitchFamily="34" charset="-122"/>
                <a:cs typeface="Calibri" pitchFamily="34" charset="-120"/>
              </a:rPr>
              <a:t>Length</a:t>
            </a:r>
            <a:endParaRPr lang="en-US" sz="1200" dirty="0"/>
          </a:p>
        </p:txBody>
      </p:sp>
      <p:sp>
        <p:nvSpPr>
          <p:cNvPr id="21" name="Text 19"/>
          <p:cNvSpPr txBox="1"/>
          <p:nvPr/>
        </p:nvSpPr>
        <p:spPr>
          <a:xfrm>
            <a:off x="9235440" y="2788920"/>
            <a:ext cx="2103120" cy="320040"/>
          </a:xfrm>
          <a:prstGeom prst="rect">
            <a:avLst/>
          </a:prstGeom>
          <a:noFill/>
          <a:ln/>
        </p:spPr>
        <p:txBody>
          <a:bodyPr wrap="square" lIns="0" tIns="0" rIns="0" bIns="0" rtlCol="0" anchor="ctr"/>
          <a:lstStyle/>
          <a:p>
            <a:pPr marL="0" indent="0" algn="r">
              <a:buNone/>
            </a:pPr>
            <a:r>
              <a:rPr lang="en-US" sz="1200" b="1" dirty="0">
                <a:solidFill>
                  <a:srgbClr val="23272A"/>
                </a:solidFill>
                <a:latin typeface="Calibri" pitchFamily="34" charset="0"/>
                <a:ea typeface="Calibri" pitchFamily="34" charset="-122"/>
                <a:cs typeface="Calibri" pitchFamily="34" charset="-120"/>
              </a:rPr>
              <a:t>84.3 mm</a:t>
            </a:r>
            <a:endParaRPr lang="en-US" sz="1200" dirty="0"/>
          </a:p>
        </p:txBody>
      </p:sp>
      <p:sp>
        <p:nvSpPr>
          <p:cNvPr id="22" name="Text 20"/>
          <p:cNvSpPr txBox="1"/>
          <p:nvPr/>
        </p:nvSpPr>
        <p:spPr>
          <a:xfrm>
            <a:off x="6720840" y="3154680"/>
            <a:ext cx="2468880" cy="320040"/>
          </a:xfrm>
          <a:prstGeom prst="rect">
            <a:avLst/>
          </a:prstGeom>
          <a:noFill/>
          <a:ln/>
        </p:spPr>
        <p:txBody>
          <a:bodyPr wrap="square" lIns="0" tIns="0" rIns="0" bIns="0" rtlCol="0" anchor="ctr"/>
          <a:lstStyle/>
          <a:p>
            <a:pPr marL="0" indent="0">
              <a:buNone/>
            </a:pPr>
            <a:r>
              <a:rPr lang="en-US" sz="1200" dirty="0">
                <a:solidFill>
                  <a:srgbClr val="5B5F61"/>
                </a:solidFill>
                <a:latin typeface="Calibri" pitchFamily="34" charset="0"/>
                <a:ea typeface="Calibri" pitchFamily="34" charset="-122"/>
                <a:cs typeface="Calibri" pitchFamily="34" charset="-120"/>
              </a:rPr>
              <a:t>Orientation</a:t>
            </a:r>
            <a:endParaRPr lang="en-US" sz="1200" dirty="0"/>
          </a:p>
        </p:txBody>
      </p:sp>
      <p:sp>
        <p:nvSpPr>
          <p:cNvPr id="23" name="Text 21"/>
          <p:cNvSpPr txBox="1"/>
          <p:nvPr/>
        </p:nvSpPr>
        <p:spPr>
          <a:xfrm>
            <a:off x="9235440" y="3154680"/>
            <a:ext cx="2103120" cy="320040"/>
          </a:xfrm>
          <a:prstGeom prst="rect">
            <a:avLst/>
          </a:prstGeom>
          <a:noFill/>
          <a:ln/>
        </p:spPr>
        <p:txBody>
          <a:bodyPr wrap="square" lIns="0" tIns="0" rIns="0" bIns="0" rtlCol="0" anchor="ctr"/>
          <a:lstStyle/>
          <a:p>
            <a:pPr marL="0" indent="0" algn="r">
              <a:buNone/>
            </a:pPr>
            <a:r>
              <a:rPr lang="en-US" sz="1200" b="1" dirty="0">
                <a:solidFill>
                  <a:srgbClr val="23272A"/>
                </a:solidFill>
                <a:latin typeface="Calibri" pitchFamily="34" charset="0"/>
                <a:ea typeface="Calibri" pitchFamily="34" charset="-122"/>
                <a:cs typeface="Calibri" pitchFamily="34" charset="-120"/>
              </a:rPr>
              <a:t>47°</a:t>
            </a:r>
            <a:endParaRPr lang="en-US" sz="1200" dirty="0"/>
          </a:p>
        </p:txBody>
      </p:sp>
      <p:sp>
        <p:nvSpPr>
          <p:cNvPr id="24" name="Text 22"/>
          <p:cNvSpPr txBox="1"/>
          <p:nvPr/>
        </p:nvSpPr>
        <p:spPr>
          <a:xfrm>
            <a:off x="6720840" y="3520440"/>
            <a:ext cx="2468880" cy="320040"/>
          </a:xfrm>
          <a:prstGeom prst="rect">
            <a:avLst/>
          </a:prstGeom>
          <a:noFill/>
          <a:ln/>
        </p:spPr>
        <p:txBody>
          <a:bodyPr wrap="square" lIns="0" tIns="0" rIns="0" bIns="0" rtlCol="0" anchor="ctr"/>
          <a:lstStyle/>
          <a:p>
            <a:pPr marL="0" indent="0">
              <a:buNone/>
            </a:pPr>
            <a:r>
              <a:rPr lang="en-US" sz="1200" dirty="0">
                <a:solidFill>
                  <a:srgbClr val="5B5F61"/>
                </a:solidFill>
                <a:latin typeface="Calibri" pitchFamily="34" charset="0"/>
                <a:ea typeface="Calibri" pitchFamily="34" charset="-122"/>
                <a:cs typeface="Calibri" pitchFamily="34" charset="-120"/>
              </a:rPr>
              <a:t>Severity</a:t>
            </a:r>
            <a:endParaRPr lang="en-US" sz="1200" dirty="0"/>
          </a:p>
        </p:txBody>
      </p:sp>
      <p:sp>
        <p:nvSpPr>
          <p:cNvPr id="25" name="Text 23"/>
          <p:cNvSpPr txBox="1"/>
          <p:nvPr/>
        </p:nvSpPr>
        <p:spPr>
          <a:xfrm>
            <a:off x="9235440" y="3520440"/>
            <a:ext cx="2103120" cy="320040"/>
          </a:xfrm>
          <a:prstGeom prst="rect">
            <a:avLst/>
          </a:prstGeom>
          <a:noFill/>
          <a:ln/>
        </p:spPr>
        <p:txBody>
          <a:bodyPr wrap="square" lIns="0" tIns="0" rIns="0" bIns="0" rtlCol="0" anchor="ctr"/>
          <a:lstStyle/>
          <a:p>
            <a:pPr marL="0" indent="0" algn="r">
              <a:buNone/>
            </a:pPr>
            <a:r>
              <a:rPr lang="en-US" sz="1200" b="1" dirty="0">
                <a:solidFill>
                  <a:srgbClr val="23272A"/>
                </a:solidFill>
                <a:latin typeface="Calibri" pitchFamily="34" charset="0"/>
                <a:ea typeface="Calibri" pitchFamily="34" charset="-122"/>
                <a:cs typeface="Calibri" pitchFamily="34" charset="-120"/>
              </a:rPr>
              <a:t>Moderate*</a:t>
            </a:r>
            <a:endParaRPr lang="en-US" sz="1200" dirty="0"/>
          </a:p>
        </p:txBody>
      </p:sp>
      <p:sp>
        <p:nvSpPr>
          <p:cNvPr id="26" name="Text 24"/>
          <p:cNvSpPr txBox="1"/>
          <p:nvPr/>
        </p:nvSpPr>
        <p:spPr>
          <a:xfrm>
            <a:off x="6720840" y="3886200"/>
            <a:ext cx="2468880" cy="320040"/>
          </a:xfrm>
          <a:prstGeom prst="rect">
            <a:avLst/>
          </a:prstGeom>
          <a:noFill/>
          <a:ln/>
        </p:spPr>
        <p:txBody>
          <a:bodyPr wrap="square" lIns="0" tIns="0" rIns="0" bIns="0" rtlCol="0" anchor="ctr"/>
          <a:lstStyle/>
          <a:p>
            <a:pPr marL="0" indent="0">
              <a:buNone/>
            </a:pPr>
            <a:r>
              <a:rPr lang="en-US" sz="1200" dirty="0">
                <a:solidFill>
                  <a:srgbClr val="5B5F61"/>
                </a:solidFill>
                <a:latin typeface="Calibri" pitchFamily="34" charset="0"/>
                <a:ea typeface="Calibri" pitchFamily="34" charset="-122"/>
                <a:cs typeface="Calibri" pitchFamily="34" charset="-120"/>
              </a:rPr>
              <a:t>Date</a:t>
            </a:r>
            <a:endParaRPr lang="en-US" sz="1200" dirty="0"/>
          </a:p>
        </p:txBody>
      </p:sp>
      <p:sp>
        <p:nvSpPr>
          <p:cNvPr id="27" name="Text 25"/>
          <p:cNvSpPr txBox="1"/>
          <p:nvPr/>
        </p:nvSpPr>
        <p:spPr>
          <a:xfrm>
            <a:off x="9235440" y="3886200"/>
            <a:ext cx="2103120" cy="320040"/>
          </a:xfrm>
          <a:prstGeom prst="rect">
            <a:avLst/>
          </a:prstGeom>
          <a:noFill/>
          <a:ln/>
        </p:spPr>
        <p:txBody>
          <a:bodyPr wrap="square" lIns="0" tIns="0" rIns="0" bIns="0" rtlCol="0" anchor="ctr"/>
          <a:lstStyle/>
          <a:p>
            <a:pPr marL="0" indent="0" algn="r">
              <a:buNone/>
            </a:pPr>
            <a:r>
              <a:rPr lang="en-US" sz="1200" b="1" dirty="0">
                <a:solidFill>
                  <a:srgbClr val="23272A"/>
                </a:solidFill>
                <a:latin typeface="Calibri" pitchFamily="34" charset="0"/>
                <a:ea typeface="Calibri" pitchFamily="34" charset="-122"/>
                <a:cs typeface="Calibri" pitchFamily="34" charset="-120"/>
              </a:rPr>
              <a:t>04/09/26</a:t>
            </a:r>
            <a:endParaRPr lang="en-US" sz="1200" dirty="0"/>
          </a:p>
        </p:txBody>
      </p:sp>
      <p:sp>
        <p:nvSpPr>
          <p:cNvPr id="28" name="Shape 26"/>
          <p:cNvSpPr/>
          <p:nvPr/>
        </p:nvSpPr>
        <p:spPr>
          <a:xfrm>
            <a:off x="6720840" y="4297680"/>
            <a:ext cx="4617720" cy="0"/>
          </a:xfrm>
          <a:prstGeom prst="line">
            <a:avLst/>
          </a:prstGeom>
          <a:noFill/>
          <a:ln w="12700">
            <a:solidFill>
              <a:srgbClr val="D8D6CF"/>
            </a:solidFill>
            <a:prstDash val="solid"/>
          </a:ln>
        </p:spPr>
      </p:sp>
      <p:sp>
        <p:nvSpPr>
          <p:cNvPr id="29" name="Shape 27"/>
          <p:cNvSpPr/>
          <p:nvPr/>
        </p:nvSpPr>
        <p:spPr>
          <a:xfrm>
            <a:off x="6720840" y="4434840"/>
            <a:ext cx="2263140" cy="1371600"/>
          </a:xfrm>
          <a:prstGeom prst="roundRect">
            <a:avLst>
              <a:gd name="adj" fmla="val 4000"/>
            </a:avLst>
          </a:prstGeom>
          <a:solidFill>
            <a:srgbClr val="2E3336"/>
          </a:solidFill>
          <a:ln/>
        </p:spPr>
      </p:sp>
      <p:sp>
        <p:nvSpPr>
          <p:cNvPr id="30" name="Text 28"/>
          <p:cNvSpPr txBox="1"/>
          <p:nvPr/>
        </p:nvSpPr>
        <p:spPr>
          <a:xfrm>
            <a:off x="6720840" y="5532120"/>
            <a:ext cx="2263140" cy="274320"/>
          </a:xfrm>
          <a:prstGeom prst="rect">
            <a:avLst/>
          </a:prstGeom>
          <a:noFill/>
          <a:ln/>
        </p:spPr>
        <p:txBody>
          <a:bodyPr wrap="square" rtlCol="0" anchor="ctr"/>
          <a:lstStyle/>
          <a:p>
            <a:pPr marL="0" indent="0" algn="ctr">
              <a:buNone/>
            </a:pPr>
            <a:r>
              <a:rPr lang="en-US" sz="900" dirty="0">
                <a:solidFill>
                  <a:srgbClr val="E7E6E1"/>
                </a:solidFill>
                <a:latin typeface="Calibri" pitchFamily="34" charset="0"/>
                <a:ea typeface="Calibri" pitchFamily="34" charset="-122"/>
                <a:cs typeface="Calibri" pitchFamily="34" charset="-120"/>
              </a:rPr>
              <a:t>Original Image</a:t>
            </a:r>
            <a:endParaRPr lang="en-US" sz="900" dirty="0"/>
          </a:p>
        </p:txBody>
      </p:sp>
      <p:sp>
        <p:nvSpPr>
          <p:cNvPr id="31" name="Shape 29"/>
          <p:cNvSpPr/>
          <p:nvPr/>
        </p:nvSpPr>
        <p:spPr>
          <a:xfrm>
            <a:off x="9075420" y="4434840"/>
            <a:ext cx="2263140" cy="1371600"/>
          </a:xfrm>
          <a:prstGeom prst="roundRect">
            <a:avLst>
              <a:gd name="adj" fmla="val 4000"/>
            </a:avLst>
          </a:prstGeom>
          <a:solidFill>
            <a:srgbClr val="23272A"/>
          </a:solidFill>
          <a:ln/>
        </p:spPr>
      </p:sp>
      <p:sp>
        <p:nvSpPr>
          <p:cNvPr id="32" name="Text 30"/>
          <p:cNvSpPr txBox="1"/>
          <p:nvPr/>
        </p:nvSpPr>
        <p:spPr>
          <a:xfrm>
            <a:off x="9075420" y="5532120"/>
            <a:ext cx="2263140" cy="274320"/>
          </a:xfrm>
          <a:prstGeom prst="rect">
            <a:avLst/>
          </a:prstGeom>
          <a:noFill/>
          <a:ln/>
        </p:spPr>
        <p:txBody>
          <a:bodyPr wrap="square" rtlCol="0" anchor="ctr"/>
          <a:lstStyle/>
          <a:p>
            <a:pPr marL="0" indent="0" algn="ctr">
              <a:buNone/>
            </a:pPr>
            <a:r>
              <a:rPr lang="en-US" sz="900" dirty="0">
                <a:solidFill>
                  <a:srgbClr val="E7E6E1"/>
                </a:solidFill>
                <a:latin typeface="Calibri" pitchFamily="34" charset="0"/>
                <a:ea typeface="Calibri" pitchFamily="34" charset="-122"/>
                <a:cs typeface="Calibri" pitchFamily="34" charset="-120"/>
              </a:rPr>
              <a:t>Crack Mask</a:t>
            </a:r>
            <a:endParaRPr lang="en-US" sz="900" dirty="0"/>
          </a:p>
        </p:txBody>
      </p:sp>
      <p:sp>
        <p:nvSpPr>
          <p:cNvPr id="33" name="Text 31"/>
          <p:cNvSpPr txBox="1"/>
          <p:nvPr/>
        </p:nvSpPr>
        <p:spPr>
          <a:xfrm>
            <a:off x="6720840" y="5943600"/>
            <a:ext cx="4617720" cy="457200"/>
          </a:xfrm>
          <a:prstGeom prst="rect">
            <a:avLst/>
          </a:prstGeom>
          <a:noFill/>
          <a:ln/>
        </p:spPr>
        <p:txBody>
          <a:bodyPr wrap="square" rtlCol="0" anchor="ctr"/>
          <a:lstStyle/>
          <a:p>
            <a:pPr marL="0" indent="0" algn="ctr">
              <a:buNone/>
            </a:pPr>
            <a:r>
              <a:rPr lang="en-US" sz="850" i="1" dirty="0">
                <a:solidFill>
                  <a:srgbClr val="5B5F61"/>
                </a:solidFill>
                <a:latin typeface="Calibri" pitchFamily="34" charset="0"/>
                <a:ea typeface="Calibri" pitchFamily="34" charset="-122"/>
                <a:cs typeface="Calibri" pitchFamily="34" charset="-120"/>
              </a:rPr>
              <a:t>*Severity thresholds are configurable and will be validated against engineering references; the prototype alone does not determine structural safety.</a:t>
            </a:r>
            <a:endParaRPr lang="en-US" sz="850" dirty="0"/>
          </a:p>
        </p:txBody>
      </p:sp>
      <p:sp>
        <p:nvSpPr>
          <p:cNvPr id="34" name="Text 32"/>
          <p:cNvSpPr txBox="1"/>
          <p:nvPr/>
        </p:nvSpPr>
        <p:spPr>
          <a:xfrm>
            <a:off x="11292840" y="6510528"/>
            <a:ext cx="731520" cy="274320"/>
          </a:xfrm>
          <a:prstGeom prst="rect">
            <a:avLst/>
          </a:prstGeom>
          <a:noFill/>
          <a:ln/>
        </p:spPr>
        <p:txBody>
          <a:bodyPr wrap="square" rtlCol="0" anchor="ctr"/>
          <a:lstStyle/>
          <a:p>
            <a:pPr marL="0" indent="0" algn="r">
              <a:buNone/>
            </a:pPr>
            <a:r>
              <a:rPr lang="en-US" sz="900" dirty="0">
                <a:solidFill>
                  <a:srgbClr val="8C8C86"/>
                </a:solidFill>
                <a:latin typeface="Calibri" pitchFamily="34" charset="0"/>
                <a:ea typeface="Calibri" pitchFamily="34" charset="-122"/>
                <a:cs typeface="Calibri" pitchFamily="34" charset="-120"/>
              </a:rPr>
              <a:t>09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3E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F2661F"/>
                </a:solidFill>
                <a:latin typeface="Calibri" pitchFamily="34" charset="0"/>
                <a:ea typeface="Calibri" pitchFamily="34" charset="-122"/>
                <a:cs typeface="Calibri" pitchFamily="34" charset="-120"/>
              </a:rPr>
              <a:t>MARKET LANDSCAPE</a:t>
            </a:r>
            <a:endParaRPr lang="en-US" sz="1200" dirty="0"/>
          </a:p>
        </p:txBody>
      </p:sp>
      <p:sp>
        <p:nvSpPr>
          <p:cNvPr id="3" name="Text 1"/>
          <p:cNvSpPr txBox="1"/>
          <p:nvPr/>
        </p:nvSpPr>
        <p:spPr>
          <a:xfrm>
            <a:off x="548640" y="621792"/>
            <a:ext cx="10515600" cy="640080"/>
          </a:xfrm>
          <a:prstGeom prst="rect">
            <a:avLst/>
          </a:prstGeom>
          <a:noFill/>
          <a:ln/>
        </p:spPr>
        <p:txBody>
          <a:bodyPr wrap="square" lIns="0" tIns="0" rIns="0" bIns="0" rtlCol="0" anchor="ctr"/>
          <a:lstStyle/>
          <a:p>
            <a:pPr marL="0" indent="0">
              <a:buNone/>
            </a:pPr>
            <a:r>
              <a:rPr lang="en-US" sz="3000" b="1" dirty="0">
                <a:solidFill>
                  <a:srgbClr val="23272A"/>
                </a:solidFill>
                <a:latin typeface="Cambria" pitchFamily="34" charset="0"/>
                <a:ea typeface="Cambria" pitchFamily="34" charset="-122"/>
                <a:cs typeface="Cambria" pitchFamily="34" charset="-120"/>
              </a:rPr>
              <a:t>Where Does Our Solution Stand?</a:t>
            </a:r>
            <a:endParaRPr lang="en-US" sz="3000" dirty="0"/>
          </a:p>
        </p:txBody>
      </p:sp>
      <p:sp>
        <p:nvSpPr>
          <p:cNvPr id="4" name="Shape 2"/>
          <p:cNvSpPr/>
          <p:nvPr/>
        </p:nvSpPr>
        <p:spPr>
          <a:xfrm>
            <a:off x="548640" y="1417320"/>
            <a:ext cx="2834640" cy="411480"/>
          </a:xfrm>
          <a:prstGeom prst="rect">
            <a:avLst/>
          </a:prstGeom>
          <a:solidFill>
            <a:srgbClr val="23272A"/>
          </a:solidFill>
          <a:ln/>
        </p:spPr>
      </p:sp>
      <p:sp>
        <p:nvSpPr>
          <p:cNvPr id="5" name="Text 3"/>
          <p:cNvSpPr txBox="1"/>
          <p:nvPr/>
        </p:nvSpPr>
        <p:spPr>
          <a:xfrm>
            <a:off x="548640" y="1417320"/>
            <a:ext cx="283464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p>
        </p:txBody>
      </p:sp>
      <p:sp>
        <p:nvSpPr>
          <p:cNvPr id="6" name="Shape 4"/>
          <p:cNvSpPr/>
          <p:nvPr/>
        </p:nvSpPr>
        <p:spPr>
          <a:xfrm>
            <a:off x="3383280" y="1417320"/>
            <a:ext cx="2148840" cy="411480"/>
          </a:xfrm>
          <a:prstGeom prst="rect">
            <a:avLst/>
          </a:prstGeom>
          <a:solidFill>
            <a:srgbClr val="23272A"/>
          </a:solidFill>
          <a:ln/>
        </p:spPr>
      </p:sp>
      <p:sp>
        <p:nvSpPr>
          <p:cNvPr id="7" name="Text 5"/>
          <p:cNvSpPr txBox="1"/>
          <p:nvPr/>
        </p:nvSpPr>
        <p:spPr>
          <a:xfrm>
            <a:off x="3383280" y="1417320"/>
            <a:ext cx="214884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Manual Gauge</a:t>
            </a:r>
            <a:endParaRPr lang="en-US" sz="1100" dirty="0"/>
          </a:p>
        </p:txBody>
      </p:sp>
      <p:sp>
        <p:nvSpPr>
          <p:cNvPr id="8" name="Shape 6"/>
          <p:cNvSpPr/>
          <p:nvPr/>
        </p:nvSpPr>
        <p:spPr>
          <a:xfrm>
            <a:off x="5532120" y="1417320"/>
            <a:ext cx="2148840" cy="411480"/>
          </a:xfrm>
          <a:prstGeom prst="rect">
            <a:avLst/>
          </a:prstGeom>
          <a:solidFill>
            <a:srgbClr val="23272A"/>
          </a:solidFill>
          <a:ln/>
        </p:spPr>
      </p:sp>
      <p:sp>
        <p:nvSpPr>
          <p:cNvPr id="9" name="Text 7"/>
          <p:cNvSpPr txBox="1"/>
          <p:nvPr/>
        </p:nvSpPr>
        <p:spPr>
          <a:xfrm>
            <a:off x="5532120" y="1417320"/>
            <a:ext cx="214884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Digital Gauge</a:t>
            </a:r>
            <a:endParaRPr lang="en-US" sz="1100" dirty="0"/>
          </a:p>
        </p:txBody>
      </p:sp>
      <p:sp>
        <p:nvSpPr>
          <p:cNvPr id="10" name="Shape 8"/>
          <p:cNvSpPr/>
          <p:nvPr/>
        </p:nvSpPr>
        <p:spPr>
          <a:xfrm>
            <a:off x="7680960" y="1417320"/>
            <a:ext cx="2148840" cy="411480"/>
          </a:xfrm>
          <a:prstGeom prst="rect">
            <a:avLst/>
          </a:prstGeom>
          <a:solidFill>
            <a:srgbClr val="23272A"/>
          </a:solidFill>
          <a:ln/>
        </p:spPr>
      </p:sp>
      <p:sp>
        <p:nvSpPr>
          <p:cNvPr id="11" name="Text 9"/>
          <p:cNvSpPr txBox="1"/>
          <p:nvPr/>
        </p:nvSpPr>
        <p:spPr>
          <a:xfrm>
            <a:off x="7680960" y="1417320"/>
            <a:ext cx="214884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Smartphone App</a:t>
            </a:r>
            <a:endParaRPr lang="en-US" sz="1100" dirty="0"/>
          </a:p>
        </p:txBody>
      </p:sp>
      <p:sp>
        <p:nvSpPr>
          <p:cNvPr id="12" name="Shape 10"/>
          <p:cNvSpPr/>
          <p:nvPr/>
        </p:nvSpPr>
        <p:spPr>
          <a:xfrm>
            <a:off x="9829800" y="1417320"/>
            <a:ext cx="2148840" cy="411480"/>
          </a:xfrm>
          <a:prstGeom prst="rect">
            <a:avLst/>
          </a:prstGeom>
          <a:solidFill>
            <a:srgbClr val="F2661F"/>
          </a:solidFill>
          <a:ln/>
        </p:spPr>
      </p:sp>
      <p:sp>
        <p:nvSpPr>
          <p:cNvPr id="13" name="Text 11"/>
          <p:cNvSpPr txBox="1"/>
          <p:nvPr/>
        </p:nvSpPr>
        <p:spPr>
          <a:xfrm>
            <a:off x="9829800" y="1417320"/>
            <a:ext cx="214884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CrackGauge</a:t>
            </a:r>
            <a:endParaRPr lang="en-US" sz="1100" dirty="0"/>
          </a:p>
        </p:txBody>
      </p:sp>
      <p:sp>
        <p:nvSpPr>
          <p:cNvPr id="14" name="Shape 12"/>
          <p:cNvSpPr/>
          <p:nvPr/>
        </p:nvSpPr>
        <p:spPr>
          <a:xfrm>
            <a:off x="548640" y="1828800"/>
            <a:ext cx="2834640" cy="402336"/>
          </a:xfrm>
          <a:prstGeom prst="rect">
            <a:avLst/>
          </a:prstGeom>
          <a:solidFill>
            <a:srgbClr val="FFFFFF"/>
          </a:solidFill>
          <a:ln w="9525">
            <a:solidFill>
              <a:srgbClr val="D8D6CF"/>
            </a:solidFill>
            <a:prstDash val="solid"/>
          </a:ln>
        </p:spPr>
      </p:sp>
      <p:sp>
        <p:nvSpPr>
          <p:cNvPr id="15" name="Text 13"/>
          <p:cNvSpPr txBox="1"/>
          <p:nvPr/>
        </p:nvSpPr>
        <p:spPr>
          <a:xfrm>
            <a:off x="640080" y="1828800"/>
            <a:ext cx="2697480" cy="402336"/>
          </a:xfrm>
          <a:prstGeom prst="rect">
            <a:avLst/>
          </a:prstGeom>
          <a:noFill/>
          <a:ln/>
        </p:spPr>
        <p:txBody>
          <a:bodyPr wrap="square" lIns="0" tIns="0" rIns="0" bIns="0" rtlCol="0" anchor="ctr"/>
          <a:lstStyle/>
          <a:p>
            <a:pPr marL="0" indent="0">
              <a:buNone/>
            </a:pPr>
            <a:r>
              <a:rPr lang="en-US" sz="1050" b="1" dirty="0">
                <a:solidFill>
                  <a:srgbClr val="23272A"/>
                </a:solidFill>
                <a:latin typeface="Calibri" pitchFamily="34" charset="0"/>
                <a:ea typeface="Calibri" pitchFamily="34" charset="-122"/>
                <a:cs typeface="Calibri" pitchFamily="34" charset="-120"/>
              </a:rPr>
              <a:t>Crack Detection</a:t>
            </a:r>
            <a:endParaRPr lang="en-US" sz="1050" dirty="0"/>
          </a:p>
        </p:txBody>
      </p:sp>
      <p:sp>
        <p:nvSpPr>
          <p:cNvPr id="16" name="Shape 14"/>
          <p:cNvSpPr/>
          <p:nvPr/>
        </p:nvSpPr>
        <p:spPr>
          <a:xfrm>
            <a:off x="3383280" y="1828800"/>
            <a:ext cx="2148840" cy="402336"/>
          </a:xfrm>
          <a:prstGeom prst="rect">
            <a:avLst/>
          </a:prstGeom>
          <a:solidFill>
            <a:srgbClr val="FFFFFF"/>
          </a:solidFill>
          <a:ln w="9525">
            <a:solidFill>
              <a:srgbClr val="D8D6CF"/>
            </a:solidFill>
            <a:prstDash val="solid"/>
          </a:ln>
        </p:spPr>
      </p:sp>
      <p:sp>
        <p:nvSpPr>
          <p:cNvPr id="17" name="Text 15"/>
          <p:cNvSpPr txBox="1"/>
          <p:nvPr/>
        </p:nvSpPr>
        <p:spPr>
          <a:xfrm>
            <a:off x="3383280" y="1828800"/>
            <a:ext cx="2148840" cy="402336"/>
          </a:xfrm>
          <a:prstGeom prst="rect">
            <a:avLst/>
          </a:prstGeom>
          <a:noFill/>
          <a:ln/>
        </p:spPr>
        <p:txBody>
          <a:bodyPr wrap="square" lIns="0" tIns="0" rIns="0" bIns="0" rtlCol="0" anchor="ctr"/>
          <a:lstStyle/>
          <a:p>
            <a:pPr marL="0" indent="0" algn="ctr">
              <a:buNone/>
            </a:pPr>
            <a:r>
              <a:rPr lang="en-US" sz="1500" b="1" dirty="0">
                <a:solidFill>
                  <a:srgbClr val="C6402A"/>
                </a:solidFill>
                <a:latin typeface="Calibri" pitchFamily="34" charset="0"/>
                <a:ea typeface="Calibri" pitchFamily="34" charset="-122"/>
                <a:cs typeface="Calibri" pitchFamily="34" charset="-120"/>
              </a:rPr>
              <a:t>✕</a:t>
            </a:r>
            <a:endParaRPr lang="en-US" sz="1500" dirty="0"/>
          </a:p>
        </p:txBody>
      </p:sp>
      <p:sp>
        <p:nvSpPr>
          <p:cNvPr id="18" name="Shape 16"/>
          <p:cNvSpPr/>
          <p:nvPr/>
        </p:nvSpPr>
        <p:spPr>
          <a:xfrm>
            <a:off x="5532120" y="1828800"/>
            <a:ext cx="2148840" cy="402336"/>
          </a:xfrm>
          <a:prstGeom prst="rect">
            <a:avLst/>
          </a:prstGeom>
          <a:solidFill>
            <a:srgbClr val="FFFFFF"/>
          </a:solidFill>
          <a:ln w="9525">
            <a:solidFill>
              <a:srgbClr val="D8D6CF"/>
            </a:solidFill>
            <a:prstDash val="solid"/>
          </a:ln>
        </p:spPr>
      </p:sp>
      <p:sp>
        <p:nvSpPr>
          <p:cNvPr id="19" name="Text 17"/>
          <p:cNvSpPr txBox="1"/>
          <p:nvPr/>
        </p:nvSpPr>
        <p:spPr>
          <a:xfrm>
            <a:off x="5532120" y="1828800"/>
            <a:ext cx="2148840" cy="402336"/>
          </a:xfrm>
          <a:prstGeom prst="rect">
            <a:avLst/>
          </a:prstGeom>
          <a:noFill/>
          <a:ln/>
        </p:spPr>
        <p:txBody>
          <a:bodyPr wrap="square" lIns="0" tIns="0" rIns="0" bIns="0" rtlCol="0" anchor="ctr"/>
          <a:lstStyle/>
          <a:p>
            <a:pPr marL="0" indent="0" algn="ctr">
              <a:buNone/>
            </a:pPr>
            <a:r>
              <a:rPr lang="en-US" sz="1500" b="1" dirty="0">
                <a:solidFill>
                  <a:srgbClr val="F5A623"/>
                </a:solidFill>
                <a:latin typeface="Calibri" pitchFamily="34" charset="0"/>
                <a:ea typeface="Calibri" pitchFamily="34" charset="-122"/>
                <a:cs typeface="Calibri" pitchFamily="34" charset="-120"/>
              </a:rPr>
              <a:t>!</a:t>
            </a:r>
            <a:endParaRPr lang="en-US" sz="1500" dirty="0"/>
          </a:p>
        </p:txBody>
      </p:sp>
      <p:sp>
        <p:nvSpPr>
          <p:cNvPr id="20" name="Shape 18"/>
          <p:cNvSpPr/>
          <p:nvPr/>
        </p:nvSpPr>
        <p:spPr>
          <a:xfrm>
            <a:off x="7680960" y="1828800"/>
            <a:ext cx="2148840" cy="402336"/>
          </a:xfrm>
          <a:prstGeom prst="rect">
            <a:avLst/>
          </a:prstGeom>
          <a:solidFill>
            <a:srgbClr val="FFFFFF"/>
          </a:solidFill>
          <a:ln w="9525">
            <a:solidFill>
              <a:srgbClr val="D8D6CF"/>
            </a:solidFill>
            <a:prstDash val="solid"/>
          </a:ln>
        </p:spPr>
      </p:sp>
      <p:sp>
        <p:nvSpPr>
          <p:cNvPr id="21" name="Text 19"/>
          <p:cNvSpPr txBox="1"/>
          <p:nvPr/>
        </p:nvSpPr>
        <p:spPr>
          <a:xfrm>
            <a:off x="7680960" y="1828800"/>
            <a:ext cx="2148840" cy="402336"/>
          </a:xfrm>
          <a:prstGeom prst="rect">
            <a:avLst/>
          </a:prstGeom>
          <a:noFill/>
          <a:ln/>
        </p:spPr>
        <p:txBody>
          <a:bodyPr wrap="square" lIns="0" tIns="0" rIns="0" bIns="0" rtlCol="0" anchor="ctr"/>
          <a:lstStyle/>
          <a:p>
            <a:pPr marL="0" indent="0" algn="ctr">
              <a:buNone/>
            </a:pPr>
            <a:r>
              <a:rPr lang="en-US" sz="1500" b="1" dirty="0">
                <a:solidFill>
                  <a:srgbClr val="3F8F5F"/>
                </a:solidFill>
                <a:latin typeface="Calibri" pitchFamily="34" charset="0"/>
                <a:ea typeface="Calibri" pitchFamily="34" charset="-122"/>
                <a:cs typeface="Calibri" pitchFamily="34" charset="-120"/>
              </a:rPr>
              <a:t>✓</a:t>
            </a:r>
            <a:endParaRPr lang="en-US" sz="1500" dirty="0"/>
          </a:p>
        </p:txBody>
      </p:sp>
      <p:sp>
        <p:nvSpPr>
          <p:cNvPr id="22" name="Shape 20"/>
          <p:cNvSpPr/>
          <p:nvPr/>
        </p:nvSpPr>
        <p:spPr>
          <a:xfrm>
            <a:off x="9829800" y="1828800"/>
            <a:ext cx="2148840" cy="402336"/>
          </a:xfrm>
          <a:prstGeom prst="rect">
            <a:avLst/>
          </a:prstGeom>
          <a:solidFill>
            <a:srgbClr val="FCEADD"/>
          </a:solidFill>
          <a:ln w="9525">
            <a:solidFill>
              <a:srgbClr val="D8D6CF"/>
            </a:solidFill>
            <a:prstDash val="solid"/>
          </a:ln>
        </p:spPr>
      </p:sp>
      <p:sp>
        <p:nvSpPr>
          <p:cNvPr id="23" name="Text 21"/>
          <p:cNvSpPr txBox="1"/>
          <p:nvPr/>
        </p:nvSpPr>
        <p:spPr>
          <a:xfrm>
            <a:off x="9829800" y="1828800"/>
            <a:ext cx="2148840" cy="402336"/>
          </a:xfrm>
          <a:prstGeom prst="rect">
            <a:avLst/>
          </a:prstGeom>
          <a:noFill/>
          <a:ln/>
        </p:spPr>
        <p:txBody>
          <a:bodyPr wrap="square" lIns="0" tIns="0" rIns="0" bIns="0" rtlCol="0" anchor="ctr"/>
          <a:lstStyle/>
          <a:p>
            <a:pPr marL="0" indent="0" algn="ctr">
              <a:buNone/>
            </a:pPr>
            <a:r>
              <a:rPr lang="en-US" sz="1500" b="1" dirty="0">
                <a:solidFill>
                  <a:srgbClr val="3F8F5F"/>
                </a:solidFill>
                <a:latin typeface="Calibri" pitchFamily="34" charset="0"/>
                <a:ea typeface="Calibri" pitchFamily="34" charset="-122"/>
                <a:cs typeface="Calibri" pitchFamily="34" charset="-120"/>
              </a:rPr>
              <a:t>✓</a:t>
            </a:r>
            <a:endParaRPr lang="en-US" sz="1500" dirty="0"/>
          </a:p>
        </p:txBody>
      </p:sp>
      <p:sp>
        <p:nvSpPr>
          <p:cNvPr id="24" name="Shape 22"/>
          <p:cNvSpPr/>
          <p:nvPr/>
        </p:nvSpPr>
        <p:spPr>
          <a:xfrm>
            <a:off x="548640" y="2231136"/>
            <a:ext cx="2834640" cy="402336"/>
          </a:xfrm>
          <a:prstGeom prst="rect">
            <a:avLst/>
          </a:prstGeom>
          <a:solidFill>
            <a:srgbClr val="E7E6E1"/>
          </a:solidFill>
          <a:ln w="9525">
            <a:solidFill>
              <a:srgbClr val="D8D6CF"/>
            </a:solidFill>
            <a:prstDash val="solid"/>
          </a:ln>
        </p:spPr>
      </p:sp>
      <p:sp>
        <p:nvSpPr>
          <p:cNvPr id="25" name="Text 23"/>
          <p:cNvSpPr txBox="1"/>
          <p:nvPr/>
        </p:nvSpPr>
        <p:spPr>
          <a:xfrm>
            <a:off x="640080" y="2231136"/>
            <a:ext cx="2697480" cy="402336"/>
          </a:xfrm>
          <a:prstGeom prst="rect">
            <a:avLst/>
          </a:prstGeom>
          <a:noFill/>
          <a:ln/>
        </p:spPr>
        <p:txBody>
          <a:bodyPr wrap="square" lIns="0" tIns="0" rIns="0" bIns="0" rtlCol="0" anchor="ctr"/>
          <a:lstStyle/>
          <a:p>
            <a:pPr marL="0" indent="0">
              <a:buNone/>
            </a:pPr>
            <a:r>
              <a:rPr lang="en-US" sz="1050" b="1" dirty="0">
                <a:solidFill>
                  <a:srgbClr val="23272A"/>
                </a:solidFill>
                <a:latin typeface="Calibri" pitchFamily="34" charset="0"/>
                <a:ea typeface="Calibri" pitchFamily="34" charset="-122"/>
                <a:cs typeface="Calibri" pitchFamily="34" charset="-120"/>
              </a:rPr>
              <a:t>Width Measurement</a:t>
            </a:r>
            <a:endParaRPr lang="en-US" sz="1050" dirty="0"/>
          </a:p>
        </p:txBody>
      </p:sp>
      <p:sp>
        <p:nvSpPr>
          <p:cNvPr id="26" name="Shape 24"/>
          <p:cNvSpPr/>
          <p:nvPr/>
        </p:nvSpPr>
        <p:spPr>
          <a:xfrm>
            <a:off x="3383280" y="2231136"/>
            <a:ext cx="2148840" cy="402336"/>
          </a:xfrm>
          <a:prstGeom prst="rect">
            <a:avLst/>
          </a:prstGeom>
          <a:solidFill>
            <a:srgbClr val="E7E6E1"/>
          </a:solidFill>
          <a:ln w="9525">
            <a:solidFill>
              <a:srgbClr val="D8D6CF"/>
            </a:solidFill>
            <a:prstDash val="solid"/>
          </a:ln>
        </p:spPr>
      </p:sp>
      <p:sp>
        <p:nvSpPr>
          <p:cNvPr id="27" name="Text 25"/>
          <p:cNvSpPr txBox="1"/>
          <p:nvPr/>
        </p:nvSpPr>
        <p:spPr>
          <a:xfrm>
            <a:off x="3383280" y="2231136"/>
            <a:ext cx="2148840" cy="402336"/>
          </a:xfrm>
          <a:prstGeom prst="rect">
            <a:avLst/>
          </a:prstGeom>
          <a:noFill/>
          <a:ln/>
        </p:spPr>
        <p:txBody>
          <a:bodyPr wrap="square" lIns="0" tIns="0" rIns="0" bIns="0" rtlCol="0" anchor="ctr"/>
          <a:lstStyle/>
          <a:p>
            <a:pPr marL="0" indent="0" algn="ctr">
              <a:buNone/>
            </a:pPr>
            <a:r>
              <a:rPr lang="en-US" sz="1500" b="1" dirty="0">
                <a:solidFill>
                  <a:srgbClr val="3F8F5F"/>
                </a:solidFill>
                <a:latin typeface="Calibri" pitchFamily="34" charset="0"/>
                <a:ea typeface="Calibri" pitchFamily="34" charset="-122"/>
                <a:cs typeface="Calibri" pitchFamily="34" charset="-120"/>
              </a:rPr>
              <a:t>✓</a:t>
            </a:r>
            <a:endParaRPr lang="en-US" sz="1500" dirty="0"/>
          </a:p>
        </p:txBody>
      </p:sp>
      <p:sp>
        <p:nvSpPr>
          <p:cNvPr id="28" name="Shape 26"/>
          <p:cNvSpPr/>
          <p:nvPr/>
        </p:nvSpPr>
        <p:spPr>
          <a:xfrm>
            <a:off x="5532120" y="2231136"/>
            <a:ext cx="2148840" cy="402336"/>
          </a:xfrm>
          <a:prstGeom prst="rect">
            <a:avLst/>
          </a:prstGeom>
          <a:solidFill>
            <a:srgbClr val="E7E6E1"/>
          </a:solidFill>
          <a:ln w="9525">
            <a:solidFill>
              <a:srgbClr val="D8D6CF"/>
            </a:solidFill>
            <a:prstDash val="solid"/>
          </a:ln>
        </p:spPr>
      </p:sp>
      <p:sp>
        <p:nvSpPr>
          <p:cNvPr id="29" name="Text 27"/>
          <p:cNvSpPr txBox="1"/>
          <p:nvPr/>
        </p:nvSpPr>
        <p:spPr>
          <a:xfrm>
            <a:off x="5532120" y="2231136"/>
            <a:ext cx="2148840" cy="402336"/>
          </a:xfrm>
          <a:prstGeom prst="rect">
            <a:avLst/>
          </a:prstGeom>
          <a:noFill/>
          <a:ln/>
        </p:spPr>
        <p:txBody>
          <a:bodyPr wrap="square" lIns="0" tIns="0" rIns="0" bIns="0" rtlCol="0" anchor="ctr"/>
          <a:lstStyle/>
          <a:p>
            <a:pPr marL="0" indent="0" algn="ctr">
              <a:buNone/>
            </a:pPr>
            <a:r>
              <a:rPr lang="en-US" sz="1500" b="1" dirty="0">
                <a:solidFill>
                  <a:srgbClr val="3F8F5F"/>
                </a:solidFill>
                <a:latin typeface="Calibri" pitchFamily="34" charset="0"/>
                <a:ea typeface="Calibri" pitchFamily="34" charset="-122"/>
                <a:cs typeface="Calibri" pitchFamily="34" charset="-120"/>
              </a:rPr>
              <a:t>✓</a:t>
            </a:r>
            <a:endParaRPr lang="en-US" sz="1500" dirty="0"/>
          </a:p>
        </p:txBody>
      </p:sp>
      <p:sp>
        <p:nvSpPr>
          <p:cNvPr id="30" name="Shape 28"/>
          <p:cNvSpPr/>
          <p:nvPr/>
        </p:nvSpPr>
        <p:spPr>
          <a:xfrm>
            <a:off x="7680960" y="2231136"/>
            <a:ext cx="2148840" cy="402336"/>
          </a:xfrm>
          <a:prstGeom prst="rect">
            <a:avLst/>
          </a:prstGeom>
          <a:solidFill>
            <a:srgbClr val="E7E6E1"/>
          </a:solidFill>
          <a:ln w="9525">
            <a:solidFill>
              <a:srgbClr val="D8D6CF"/>
            </a:solidFill>
            <a:prstDash val="solid"/>
          </a:ln>
        </p:spPr>
      </p:sp>
      <p:sp>
        <p:nvSpPr>
          <p:cNvPr id="31" name="Text 29"/>
          <p:cNvSpPr txBox="1"/>
          <p:nvPr/>
        </p:nvSpPr>
        <p:spPr>
          <a:xfrm>
            <a:off x="7680960" y="2231136"/>
            <a:ext cx="2148840" cy="402336"/>
          </a:xfrm>
          <a:prstGeom prst="rect">
            <a:avLst/>
          </a:prstGeom>
          <a:noFill/>
          <a:ln/>
        </p:spPr>
        <p:txBody>
          <a:bodyPr wrap="square" lIns="0" tIns="0" rIns="0" bIns="0" rtlCol="0" anchor="ctr"/>
          <a:lstStyle/>
          <a:p>
            <a:pPr marL="0" indent="0" algn="ctr">
              <a:buNone/>
            </a:pPr>
            <a:r>
              <a:rPr lang="en-US" sz="1500" b="1" dirty="0">
                <a:solidFill>
                  <a:srgbClr val="3F8F5F"/>
                </a:solidFill>
                <a:latin typeface="Calibri" pitchFamily="34" charset="0"/>
                <a:ea typeface="Calibri" pitchFamily="34" charset="-122"/>
                <a:cs typeface="Calibri" pitchFamily="34" charset="-120"/>
              </a:rPr>
              <a:t>✓</a:t>
            </a:r>
            <a:endParaRPr lang="en-US" sz="1500" dirty="0"/>
          </a:p>
        </p:txBody>
      </p:sp>
      <p:sp>
        <p:nvSpPr>
          <p:cNvPr id="32" name="Shape 30"/>
          <p:cNvSpPr/>
          <p:nvPr/>
        </p:nvSpPr>
        <p:spPr>
          <a:xfrm>
            <a:off x="9829800" y="2231136"/>
            <a:ext cx="2148840" cy="402336"/>
          </a:xfrm>
          <a:prstGeom prst="rect">
            <a:avLst/>
          </a:prstGeom>
          <a:solidFill>
            <a:srgbClr val="FCEADD"/>
          </a:solidFill>
          <a:ln w="9525">
            <a:solidFill>
              <a:srgbClr val="D8D6CF"/>
            </a:solidFill>
            <a:prstDash val="solid"/>
          </a:ln>
        </p:spPr>
      </p:sp>
      <p:sp>
        <p:nvSpPr>
          <p:cNvPr id="33" name="Text 31"/>
          <p:cNvSpPr txBox="1"/>
          <p:nvPr/>
        </p:nvSpPr>
        <p:spPr>
          <a:xfrm>
            <a:off x="9829800" y="2231136"/>
            <a:ext cx="2148840" cy="402336"/>
          </a:xfrm>
          <a:prstGeom prst="rect">
            <a:avLst/>
          </a:prstGeom>
          <a:noFill/>
          <a:ln/>
        </p:spPr>
        <p:txBody>
          <a:bodyPr wrap="square" lIns="0" tIns="0" rIns="0" bIns="0" rtlCol="0" anchor="ctr"/>
          <a:lstStyle/>
          <a:p>
            <a:pPr marL="0" indent="0" algn="ctr">
              <a:buNone/>
            </a:pPr>
            <a:r>
              <a:rPr lang="en-US" sz="1500" b="1" dirty="0">
                <a:solidFill>
                  <a:srgbClr val="3F8F5F"/>
                </a:solidFill>
                <a:latin typeface="Calibri" pitchFamily="34" charset="0"/>
                <a:ea typeface="Calibri" pitchFamily="34" charset="-122"/>
                <a:cs typeface="Calibri" pitchFamily="34" charset="-120"/>
              </a:rPr>
              <a:t>✓</a:t>
            </a:r>
            <a:endParaRPr lang="en-US" sz="1500" dirty="0"/>
          </a:p>
        </p:txBody>
      </p:sp>
      <p:sp>
        <p:nvSpPr>
          <p:cNvPr id="34" name="Shape 32"/>
          <p:cNvSpPr/>
          <p:nvPr/>
        </p:nvSpPr>
        <p:spPr>
          <a:xfrm>
            <a:off x="548640" y="2633472"/>
            <a:ext cx="2834640" cy="402336"/>
          </a:xfrm>
          <a:prstGeom prst="rect">
            <a:avLst/>
          </a:prstGeom>
          <a:solidFill>
            <a:srgbClr val="FFFFFF"/>
          </a:solidFill>
          <a:ln w="9525">
            <a:solidFill>
              <a:srgbClr val="D8D6CF"/>
            </a:solidFill>
            <a:prstDash val="solid"/>
          </a:ln>
        </p:spPr>
      </p:sp>
      <p:sp>
        <p:nvSpPr>
          <p:cNvPr id="35" name="Text 33"/>
          <p:cNvSpPr txBox="1"/>
          <p:nvPr/>
        </p:nvSpPr>
        <p:spPr>
          <a:xfrm>
            <a:off x="640080" y="2633472"/>
            <a:ext cx="2697480" cy="402336"/>
          </a:xfrm>
          <a:prstGeom prst="rect">
            <a:avLst/>
          </a:prstGeom>
          <a:noFill/>
          <a:ln/>
        </p:spPr>
        <p:txBody>
          <a:bodyPr wrap="square" lIns="0" tIns="0" rIns="0" bIns="0" rtlCol="0" anchor="ctr"/>
          <a:lstStyle/>
          <a:p>
            <a:pPr marL="0" indent="0">
              <a:buNone/>
            </a:pPr>
            <a:r>
              <a:rPr lang="en-US" sz="1050" b="1" dirty="0">
                <a:solidFill>
                  <a:srgbClr val="23272A"/>
                </a:solidFill>
                <a:latin typeface="Calibri" pitchFamily="34" charset="0"/>
                <a:ea typeface="Calibri" pitchFamily="34" charset="-122"/>
                <a:cs typeface="Calibri" pitchFamily="34" charset="-120"/>
              </a:rPr>
              <a:t>Length Measurement</a:t>
            </a:r>
            <a:endParaRPr lang="en-US" sz="1050" dirty="0"/>
          </a:p>
        </p:txBody>
      </p:sp>
      <p:sp>
        <p:nvSpPr>
          <p:cNvPr id="36" name="Shape 34"/>
          <p:cNvSpPr/>
          <p:nvPr/>
        </p:nvSpPr>
        <p:spPr>
          <a:xfrm>
            <a:off x="3383280" y="2633472"/>
            <a:ext cx="2148840" cy="402336"/>
          </a:xfrm>
          <a:prstGeom prst="rect">
            <a:avLst/>
          </a:prstGeom>
          <a:solidFill>
            <a:srgbClr val="FFFFFF"/>
          </a:solidFill>
          <a:ln w="9525">
            <a:solidFill>
              <a:srgbClr val="D8D6CF"/>
            </a:solidFill>
            <a:prstDash val="solid"/>
          </a:ln>
        </p:spPr>
      </p:sp>
      <p:sp>
        <p:nvSpPr>
          <p:cNvPr id="37" name="Text 35"/>
          <p:cNvSpPr txBox="1"/>
          <p:nvPr/>
        </p:nvSpPr>
        <p:spPr>
          <a:xfrm>
            <a:off x="3383280" y="2633472"/>
            <a:ext cx="2148840" cy="402336"/>
          </a:xfrm>
          <a:prstGeom prst="rect">
            <a:avLst/>
          </a:prstGeom>
          <a:noFill/>
          <a:ln/>
        </p:spPr>
        <p:txBody>
          <a:bodyPr wrap="square" lIns="0" tIns="0" rIns="0" bIns="0" rtlCol="0" anchor="ctr"/>
          <a:lstStyle/>
          <a:p>
            <a:pPr marL="0" indent="0" algn="ctr">
              <a:buNone/>
            </a:pPr>
            <a:r>
              <a:rPr lang="en-US" sz="1500" b="1" dirty="0">
                <a:solidFill>
                  <a:srgbClr val="C6402A"/>
                </a:solidFill>
                <a:latin typeface="Calibri" pitchFamily="34" charset="0"/>
                <a:ea typeface="Calibri" pitchFamily="34" charset="-122"/>
                <a:cs typeface="Calibri" pitchFamily="34" charset="-120"/>
              </a:rPr>
              <a:t>✕</a:t>
            </a:r>
            <a:endParaRPr lang="en-US" sz="1500" dirty="0"/>
          </a:p>
        </p:txBody>
      </p:sp>
      <p:sp>
        <p:nvSpPr>
          <p:cNvPr id="38" name="Shape 36"/>
          <p:cNvSpPr/>
          <p:nvPr/>
        </p:nvSpPr>
        <p:spPr>
          <a:xfrm>
            <a:off x="5532120" y="2633472"/>
            <a:ext cx="2148840" cy="402336"/>
          </a:xfrm>
          <a:prstGeom prst="rect">
            <a:avLst/>
          </a:prstGeom>
          <a:solidFill>
            <a:srgbClr val="FFFFFF"/>
          </a:solidFill>
          <a:ln w="9525">
            <a:solidFill>
              <a:srgbClr val="D8D6CF"/>
            </a:solidFill>
            <a:prstDash val="solid"/>
          </a:ln>
        </p:spPr>
      </p:sp>
      <p:sp>
        <p:nvSpPr>
          <p:cNvPr id="39" name="Text 37"/>
          <p:cNvSpPr txBox="1"/>
          <p:nvPr/>
        </p:nvSpPr>
        <p:spPr>
          <a:xfrm>
            <a:off x="5532120" y="2633472"/>
            <a:ext cx="2148840" cy="402336"/>
          </a:xfrm>
          <a:prstGeom prst="rect">
            <a:avLst/>
          </a:prstGeom>
          <a:noFill/>
          <a:ln/>
        </p:spPr>
        <p:txBody>
          <a:bodyPr wrap="square" lIns="0" tIns="0" rIns="0" bIns="0" rtlCol="0" anchor="ctr"/>
          <a:lstStyle/>
          <a:p>
            <a:pPr marL="0" indent="0" algn="ctr">
              <a:buNone/>
            </a:pPr>
            <a:r>
              <a:rPr lang="en-US" sz="1500" b="1" dirty="0">
                <a:solidFill>
                  <a:srgbClr val="F5A623"/>
                </a:solidFill>
                <a:latin typeface="Calibri" pitchFamily="34" charset="0"/>
                <a:ea typeface="Calibri" pitchFamily="34" charset="-122"/>
                <a:cs typeface="Calibri" pitchFamily="34" charset="-120"/>
              </a:rPr>
              <a:t>!</a:t>
            </a:r>
            <a:endParaRPr lang="en-US" sz="1500" dirty="0"/>
          </a:p>
        </p:txBody>
      </p:sp>
      <p:sp>
        <p:nvSpPr>
          <p:cNvPr id="40" name="Shape 38"/>
          <p:cNvSpPr/>
          <p:nvPr/>
        </p:nvSpPr>
        <p:spPr>
          <a:xfrm>
            <a:off x="7680960" y="2633472"/>
            <a:ext cx="2148840" cy="402336"/>
          </a:xfrm>
          <a:prstGeom prst="rect">
            <a:avLst/>
          </a:prstGeom>
          <a:solidFill>
            <a:srgbClr val="FFFFFF"/>
          </a:solidFill>
          <a:ln w="9525">
            <a:solidFill>
              <a:srgbClr val="D8D6CF"/>
            </a:solidFill>
            <a:prstDash val="solid"/>
          </a:ln>
        </p:spPr>
      </p:sp>
      <p:sp>
        <p:nvSpPr>
          <p:cNvPr id="41" name="Text 39"/>
          <p:cNvSpPr txBox="1"/>
          <p:nvPr/>
        </p:nvSpPr>
        <p:spPr>
          <a:xfrm>
            <a:off x="7680960" y="2633472"/>
            <a:ext cx="2148840" cy="402336"/>
          </a:xfrm>
          <a:prstGeom prst="rect">
            <a:avLst/>
          </a:prstGeom>
          <a:noFill/>
          <a:ln/>
        </p:spPr>
        <p:txBody>
          <a:bodyPr wrap="square" lIns="0" tIns="0" rIns="0" bIns="0" rtlCol="0" anchor="ctr"/>
          <a:lstStyle/>
          <a:p>
            <a:pPr marL="0" indent="0" algn="ctr">
              <a:buNone/>
            </a:pPr>
            <a:r>
              <a:rPr lang="en-US" sz="1500" b="1" dirty="0">
                <a:solidFill>
                  <a:srgbClr val="3F8F5F"/>
                </a:solidFill>
                <a:latin typeface="Calibri" pitchFamily="34" charset="0"/>
                <a:ea typeface="Calibri" pitchFamily="34" charset="-122"/>
                <a:cs typeface="Calibri" pitchFamily="34" charset="-120"/>
              </a:rPr>
              <a:t>✓</a:t>
            </a:r>
            <a:endParaRPr lang="en-US" sz="1500" dirty="0"/>
          </a:p>
        </p:txBody>
      </p:sp>
      <p:sp>
        <p:nvSpPr>
          <p:cNvPr id="42" name="Shape 40"/>
          <p:cNvSpPr/>
          <p:nvPr/>
        </p:nvSpPr>
        <p:spPr>
          <a:xfrm>
            <a:off x="9829800" y="2633472"/>
            <a:ext cx="2148840" cy="402336"/>
          </a:xfrm>
          <a:prstGeom prst="rect">
            <a:avLst/>
          </a:prstGeom>
          <a:solidFill>
            <a:srgbClr val="FCEADD"/>
          </a:solidFill>
          <a:ln w="9525">
            <a:solidFill>
              <a:srgbClr val="D8D6CF"/>
            </a:solidFill>
            <a:prstDash val="solid"/>
          </a:ln>
        </p:spPr>
      </p:sp>
      <p:sp>
        <p:nvSpPr>
          <p:cNvPr id="43" name="Text 41"/>
          <p:cNvSpPr txBox="1"/>
          <p:nvPr/>
        </p:nvSpPr>
        <p:spPr>
          <a:xfrm>
            <a:off x="9829800" y="2633472"/>
            <a:ext cx="2148840" cy="402336"/>
          </a:xfrm>
          <a:prstGeom prst="rect">
            <a:avLst/>
          </a:prstGeom>
          <a:noFill/>
          <a:ln/>
        </p:spPr>
        <p:txBody>
          <a:bodyPr wrap="square" lIns="0" tIns="0" rIns="0" bIns="0" rtlCol="0" anchor="ctr"/>
          <a:lstStyle/>
          <a:p>
            <a:pPr marL="0" indent="0" algn="ctr">
              <a:buNone/>
            </a:pPr>
            <a:r>
              <a:rPr lang="en-US" sz="1500" b="1" dirty="0">
                <a:solidFill>
                  <a:srgbClr val="3F8F5F"/>
                </a:solidFill>
                <a:latin typeface="Calibri" pitchFamily="34" charset="0"/>
                <a:ea typeface="Calibri" pitchFamily="34" charset="-122"/>
                <a:cs typeface="Calibri" pitchFamily="34" charset="-120"/>
              </a:rPr>
              <a:t>✓</a:t>
            </a:r>
            <a:endParaRPr lang="en-US" sz="1500" dirty="0"/>
          </a:p>
        </p:txBody>
      </p:sp>
      <p:sp>
        <p:nvSpPr>
          <p:cNvPr id="44" name="Shape 42"/>
          <p:cNvSpPr/>
          <p:nvPr/>
        </p:nvSpPr>
        <p:spPr>
          <a:xfrm>
            <a:off x="548640" y="3035808"/>
            <a:ext cx="2834640" cy="402336"/>
          </a:xfrm>
          <a:prstGeom prst="rect">
            <a:avLst/>
          </a:prstGeom>
          <a:solidFill>
            <a:srgbClr val="E7E6E1"/>
          </a:solidFill>
          <a:ln w="9525">
            <a:solidFill>
              <a:srgbClr val="D8D6CF"/>
            </a:solidFill>
            <a:prstDash val="solid"/>
          </a:ln>
        </p:spPr>
      </p:sp>
      <p:sp>
        <p:nvSpPr>
          <p:cNvPr id="45" name="Text 43"/>
          <p:cNvSpPr txBox="1"/>
          <p:nvPr/>
        </p:nvSpPr>
        <p:spPr>
          <a:xfrm>
            <a:off x="640080" y="3035808"/>
            <a:ext cx="2697480" cy="402336"/>
          </a:xfrm>
          <a:prstGeom prst="rect">
            <a:avLst/>
          </a:prstGeom>
          <a:noFill/>
          <a:ln/>
        </p:spPr>
        <p:txBody>
          <a:bodyPr wrap="square" lIns="0" tIns="0" rIns="0" bIns="0" rtlCol="0" anchor="ctr"/>
          <a:lstStyle/>
          <a:p>
            <a:pPr marL="0" indent="0">
              <a:buNone/>
            </a:pPr>
            <a:r>
              <a:rPr lang="en-US" sz="1050" b="1" dirty="0">
                <a:solidFill>
                  <a:srgbClr val="23272A"/>
                </a:solidFill>
                <a:latin typeface="Calibri" pitchFamily="34" charset="0"/>
                <a:ea typeface="Calibri" pitchFamily="34" charset="-122"/>
                <a:cs typeface="Calibri" pitchFamily="34" charset="-120"/>
              </a:rPr>
              <a:t>Orientation</a:t>
            </a:r>
            <a:endParaRPr lang="en-US" sz="1050" dirty="0"/>
          </a:p>
        </p:txBody>
      </p:sp>
      <p:sp>
        <p:nvSpPr>
          <p:cNvPr id="46" name="Shape 44"/>
          <p:cNvSpPr/>
          <p:nvPr/>
        </p:nvSpPr>
        <p:spPr>
          <a:xfrm>
            <a:off x="3383280" y="3035808"/>
            <a:ext cx="2148840" cy="402336"/>
          </a:xfrm>
          <a:prstGeom prst="rect">
            <a:avLst/>
          </a:prstGeom>
          <a:solidFill>
            <a:srgbClr val="E7E6E1"/>
          </a:solidFill>
          <a:ln w="9525">
            <a:solidFill>
              <a:srgbClr val="D8D6CF"/>
            </a:solidFill>
            <a:prstDash val="solid"/>
          </a:ln>
        </p:spPr>
      </p:sp>
      <p:sp>
        <p:nvSpPr>
          <p:cNvPr id="47" name="Text 45"/>
          <p:cNvSpPr txBox="1"/>
          <p:nvPr/>
        </p:nvSpPr>
        <p:spPr>
          <a:xfrm>
            <a:off x="3383280" y="3035808"/>
            <a:ext cx="2148840" cy="402336"/>
          </a:xfrm>
          <a:prstGeom prst="rect">
            <a:avLst/>
          </a:prstGeom>
          <a:noFill/>
          <a:ln/>
        </p:spPr>
        <p:txBody>
          <a:bodyPr wrap="square" lIns="0" tIns="0" rIns="0" bIns="0" rtlCol="0" anchor="ctr"/>
          <a:lstStyle/>
          <a:p>
            <a:pPr marL="0" indent="0" algn="ctr">
              <a:buNone/>
            </a:pPr>
            <a:r>
              <a:rPr lang="en-US" sz="1500" b="1" dirty="0">
                <a:solidFill>
                  <a:srgbClr val="C6402A"/>
                </a:solidFill>
                <a:latin typeface="Calibri" pitchFamily="34" charset="0"/>
                <a:ea typeface="Calibri" pitchFamily="34" charset="-122"/>
                <a:cs typeface="Calibri" pitchFamily="34" charset="-120"/>
              </a:rPr>
              <a:t>✕</a:t>
            </a:r>
            <a:endParaRPr lang="en-US" sz="1500" dirty="0"/>
          </a:p>
        </p:txBody>
      </p:sp>
      <p:sp>
        <p:nvSpPr>
          <p:cNvPr id="48" name="Shape 46"/>
          <p:cNvSpPr/>
          <p:nvPr/>
        </p:nvSpPr>
        <p:spPr>
          <a:xfrm>
            <a:off x="5532120" y="3035808"/>
            <a:ext cx="2148840" cy="402336"/>
          </a:xfrm>
          <a:prstGeom prst="rect">
            <a:avLst/>
          </a:prstGeom>
          <a:solidFill>
            <a:srgbClr val="E7E6E1"/>
          </a:solidFill>
          <a:ln w="9525">
            <a:solidFill>
              <a:srgbClr val="D8D6CF"/>
            </a:solidFill>
            <a:prstDash val="solid"/>
          </a:ln>
        </p:spPr>
      </p:sp>
      <p:sp>
        <p:nvSpPr>
          <p:cNvPr id="49" name="Text 47"/>
          <p:cNvSpPr txBox="1"/>
          <p:nvPr/>
        </p:nvSpPr>
        <p:spPr>
          <a:xfrm>
            <a:off x="5532120" y="3035808"/>
            <a:ext cx="2148840" cy="402336"/>
          </a:xfrm>
          <a:prstGeom prst="rect">
            <a:avLst/>
          </a:prstGeom>
          <a:noFill/>
          <a:ln/>
        </p:spPr>
        <p:txBody>
          <a:bodyPr wrap="square" lIns="0" tIns="0" rIns="0" bIns="0" rtlCol="0" anchor="ctr"/>
          <a:lstStyle/>
          <a:p>
            <a:pPr marL="0" indent="0" algn="ctr">
              <a:buNone/>
            </a:pPr>
            <a:r>
              <a:rPr lang="en-US" sz="1500" b="1" dirty="0">
                <a:solidFill>
                  <a:srgbClr val="F5A623"/>
                </a:solidFill>
                <a:latin typeface="Calibri" pitchFamily="34" charset="0"/>
                <a:ea typeface="Calibri" pitchFamily="34" charset="-122"/>
                <a:cs typeface="Calibri" pitchFamily="34" charset="-120"/>
              </a:rPr>
              <a:t>!</a:t>
            </a:r>
            <a:endParaRPr lang="en-US" sz="1500" dirty="0"/>
          </a:p>
        </p:txBody>
      </p:sp>
      <p:sp>
        <p:nvSpPr>
          <p:cNvPr id="50" name="Shape 48"/>
          <p:cNvSpPr/>
          <p:nvPr/>
        </p:nvSpPr>
        <p:spPr>
          <a:xfrm>
            <a:off x="7680960" y="3035808"/>
            <a:ext cx="2148840" cy="402336"/>
          </a:xfrm>
          <a:prstGeom prst="rect">
            <a:avLst/>
          </a:prstGeom>
          <a:solidFill>
            <a:srgbClr val="E7E6E1"/>
          </a:solidFill>
          <a:ln w="9525">
            <a:solidFill>
              <a:srgbClr val="D8D6CF"/>
            </a:solidFill>
            <a:prstDash val="solid"/>
          </a:ln>
        </p:spPr>
      </p:sp>
      <p:sp>
        <p:nvSpPr>
          <p:cNvPr id="51" name="Text 49"/>
          <p:cNvSpPr txBox="1"/>
          <p:nvPr/>
        </p:nvSpPr>
        <p:spPr>
          <a:xfrm>
            <a:off x="7680960" y="3035808"/>
            <a:ext cx="2148840" cy="402336"/>
          </a:xfrm>
          <a:prstGeom prst="rect">
            <a:avLst/>
          </a:prstGeom>
          <a:noFill/>
          <a:ln/>
        </p:spPr>
        <p:txBody>
          <a:bodyPr wrap="square" lIns="0" tIns="0" rIns="0" bIns="0" rtlCol="0" anchor="ctr"/>
          <a:lstStyle/>
          <a:p>
            <a:pPr marL="0" indent="0" algn="ctr">
              <a:buNone/>
            </a:pPr>
            <a:r>
              <a:rPr lang="en-US" sz="1500" b="1" dirty="0">
                <a:solidFill>
                  <a:srgbClr val="F5A623"/>
                </a:solidFill>
                <a:latin typeface="Calibri" pitchFamily="34" charset="0"/>
                <a:ea typeface="Calibri" pitchFamily="34" charset="-122"/>
                <a:cs typeface="Calibri" pitchFamily="34" charset="-120"/>
              </a:rPr>
              <a:t>!</a:t>
            </a:r>
            <a:endParaRPr lang="en-US" sz="1500" dirty="0"/>
          </a:p>
        </p:txBody>
      </p:sp>
      <p:sp>
        <p:nvSpPr>
          <p:cNvPr id="52" name="Shape 50"/>
          <p:cNvSpPr/>
          <p:nvPr/>
        </p:nvSpPr>
        <p:spPr>
          <a:xfrm>
            <a:off x="9829800" y="3035808"/>
            <a:ext cx="2148840" cy="402336"/>
          </a:xfrm>
          <a:prstGeom prst="rect">
            <a:avLst/>
          </a:prstGeom>
          <a:solidFill>
            <a:srgbClr val="FCEADD"/>
          </a:solidFill>
          <a:ln w="9525">
            <a:solidFill>
              <a:srgbClr val="D8D6CF"/>
            </a:solidFill>
            <a:prstDash val="solid"/>
          </a:ln>
        </p:spPr>
      </p:sp>
      <p:sp>
        <p:nvSpPr>
          <p:cNvPr id="53" name="Text 51"/>
          <p:cNvSpPr txBox="1"/>
          <p:nvPr/>
        </p:nvSpPr>
        <p:spPr>
          <a:xfrm>
            <a:off x="9829800" y="3035808"/>
            <a:ext cx="2148840" cy="402336"/>
          </a:xfrm>
          <a:prstGeom prst="rect">
            <a:avLst/>
          </a:prstGeom>
          <a:noFill/>
          <a:ln/>
        </p:spPr>
        <p:txBody>
          <a:bodyPr wrap="square" lIns="0" tIns="0" rIns="0" bIns="0" rtlCol="0" anchor="ctr"/>
          <a:lstStyle/>
          <a:p>
            <a:pPr marL="0" indent="0" algn="ctr">
              <a:buNone/>
            </a:pPr>
            <a:r>
              <a:rPr lang="en-US" sz="1500" b="1" dirty="0">
                <a:solidFill>
                  <a:srgbClr val="3F8F5F"/>
                </a:solidFill>
                <a:latin typeface="Calibri" pitchFamily="34" charset="0"/>
                <a:ea typeface="Calibri" pitchFamily="34" charset="-122"/>
                <a:cs typeface="Calibri" pitchFamily="34" charset="-120"/>
              </a:rPr>
              <a:t>✓</a:t>
            </a:r>
            <a:endParaRPr lang="en-US" sz="1500" dirty="0"/>
          </a:p>
        </p:txBody>
      </p:sp>
      <p:sp>
        <p:nvSpPr>
          <p:cNvPr id="54" name="Shape 52"/>
          <p:cNvSpPr/>
          <p:nvPr/>
        </p:nvSpPr>
        <p:spPr>
          <a:xfrm>
            <a:off x="548640" y="3438144"/>
            <a:ext cx="2834640" cy="402336"/>
          </a:xfrm>
          <a:prstGeom prst="rect">
            <a:avLst/>
          </a:prstGeom>
          <a:solidFill>
            <a:srgbClr val="FFFFFF"/>
          </a:solidFill>
          <a:ln w="9525">
            <a:solidFill>
              <a:srgbClr val="D8D6CF"/>
            </a:solidFill>
            <a:prstDash val="solid"/>
          </a:ln>
        </p:spPr>
      </p:sp>
      <p:sp>
        <p:nvSpPr>
          <p:cNvPr id="55" name="Text 53"/>
          <p:cNvSpPr txBox="1"/>
          <p:nvPr/>
        </p:nvSpPr>
        <p:spPr>
          <a:xfrm>
            <a:off x="640080" y="3438144"/>
            <a:ext cx="2697480" cy="402336"/>
          </a:xfrm>
          <a:prstGeom prst="rect">
            <a:avLst/>
          </a:prstGeom>
          <a:noFill/>
          <a:ln/>
        </p:spPr>
        <p:txBody>
          <a:bodyPr wrap="square" lIns="0" tIns="0" rIns="0" bIns="0" rtlCol="0" anchor="ctr"/>
          <a:lstStyle/>
          <a:p>
            <a:pPr marL="0" indent="0">
              <a:buNone/>
            </a:pPr>
            <a:r>
              <a:rPr lang="en-US" sz="1050" b="1" dirty="0">
                <a:solidFill>
                  <a:srgbClr val="23272A"/>
                </a:solidFill>
                <a:latin typeface="Calibri" pitchFamily="34" charset="0"/>
                <a:ea typeface="Calibri" pitchFamily="34" charset="-122"/>
                <a:cs typeface="Calibri" pitchFamily="34" charset="-120"/>
              </a:rPr>
              <a:t>Digital Image</a:t>
            </a:r>
            <a:endParaRPr lang="en-US" sz="1050" dirty="0"/>
          </a:p>
        </p:txBody>
      </p:sp>
      <p:sp>
        <p:nvSpPr>
          <p:cNvPr id="56" name="Shape 54"/>
          <p:cNvSpPr/>
          <p:nvPr/>
        </p:nvSpPr>
        <p:spPr>
          <a:xfrm>
            <a:off x="3383280" y="3438144"/>
            <a:ext cx="2148840" cy="402336"/>
          </a:xfrm>
          <a:prstGeom prst="rect">
            <a:avLst/>
          </a:prstGeom>
          <a:solidFill>
            <a:srgbClr val="FFFFFF"/>
          </a:solidFill>
          <a:ln w="9525">
            <a:solidFill>
              <a:srgbClr val="D8D6CF"/>
            </a:solidFill>
            <a:prstDash val="solid"/>
          </a:ln>
        </p:spPr>
      </p:sp>
      <p:sp>
        <p:nvSpPr>
          <p:cNvPr id="57" name="Text 55"/>
          <p:cNvSpPr txBox="1"/>
          <p:nvPr/>
        </p:nvSpPr>
        <p:spPr>
          <a:xfrm>
            <a:off x="3383280" y="3438144"/>
            <a:ext cx="2148840" cy="402336"/>
          </a:xfrm>
          <a:prstGeom prst="rect">
            <a:avLst/>
          </a:prstGeom>
          <a:noFill/>
          <a:ln/>
        </p:spPr>
        <p:txBody>
          <a:bodyPr wrap="square" lIns="0" tIns="0" rIns="0" bIns="0" rtlCol="0" anchor="ctr"/>
          <a:lstStyle/>
          <a:p>
            <a:pPr marL="0" indent="0" algn="ctr">
              <a:buNone/>
            </a:pPr>
            <a:r>
              <a:rPr lang="en-US" sz="1500" b="1" dirty="0">
                <a:solidFill>
                  <a:srgbClr val="C6402A"/>
                </a:solidFill>
                <a:latin typeface="Calibri" pitchFamily="34" charset="0"/>
                <a:ea typeface="Calibri" pitchFamily="34" charset="-122"/>
                <a:cs typeface="Calibri" pitchFamily="34" charset="-120"/>
              </a:rPr>
              <a:t>✕</a:t>
            </a:r>
            <a:endParaRPr lang="en-US" sz="1500" dirty="0"/>
          </a:p>
        </p:txBody>
      </p:sp>
      <p:sp>
        <p:nvSpPr>
          <p:cNvPr id="58" name="Shape 56"/>
          <p:cNvSpPr/>
          <p:nvPr/>
        </p:nvSpPr>
        <p:spPr>
          <a:xfrm>
            <a:off x="5532120" y="3438144"/>
            <a:ext cx="2148840" cy="402336"/>
          </a:xfrm>
          <a:prstGeom prst="rect">
            <a:avLst/>
          </a:prstGeom>
          <a:solidFill>
            <a:srgbClr val="FFFFFF"/>
          </a:solidFill>
          <a:ln w="9525">
            <a:solidFill>
              <a:srgbClr val="D8D6CF"/>
            </a:solidFill>
            <a:prstDash val="solid"/>
          </a:ln>
        </p:spPr>
      </p:sp>
      <p:sp>
        <p:nvSpPr>
          <p:cNvPr id="59" name="Text 57"/>
          <p:cNvSpPr txBox="1"/>
          <p:nvPr/>
        </p:nvSpPr>
        <p:spPr>
          <a:xfrm>
            <a:off x="5532120" y="3438144"/>
            <a:ext cx="2148840" cy="402336"/>
          </a:xfrm>
          <a:prstGeom prst="rect">
            <a:avLst/>
          </a:prstGeom>
          <a:noFill/>
          <a:ln/>
        </p:spPr>
        <p:txBody>
          <a:bodyPr wrap="square" lIns="0" tIns="0" rIns="0" bIns="0" rtlCol="0" anchor="ctr"/>
          <a:lstStyle/>
          <a:p>
            <a:pPr marL="0" indent="0" algn="ctr">
              <a:buNone/>
            </a:pPr>
            <a:r>
              <a:rPr lang="en-US" sz="1500" b="1" dirty="0">
                <a:solidFill>
                  <a:srgbClr val="3F8F5F"/>
                </a:solidFill>
                <a:latin typeface="Calibri" pitchFamily="34" charset="0"/>
                <a:ea typeface="Calibri" pitchFamily="34" charset="-122"/>
                <a:cs typeface="Calibri" pitchFamily="34" charset="-120"/>
              </a:rPr>
              <a:t>✓</a:t>
            </a:r>
            <a:endParaRPr lang="en-US" sz="1500" dirty="0"/>
          </a:p>
        </p:txBody>
      </p:sp>
      <p:sp>
        <p:nvSpPr>
          <p:cNvPr id="60" name="Shape 58"/>
          <p:cNvSpPr/>
          <p:nvPr/>
        </p:nvSpPr>
        <p:spPr>
          <a:xfrm>
            <a:off x="7680960" y="3438144"/>
            <a:ext cx="2148840" cy="402336"/>
          </a:xfrm>
          <a:prstGeom prst="rect">
            <a:avLst/>
          </a:prstGeom>
          <a:solidFill>
            <a:srgbClr val="FFFFFF"/>
          </a:solidFill>
          <a:ln w="9525">
            <a:solidFill>
              <a:srgbClr val="D8D6CF"/>
            </a:solidFill>
            <a:prstDash val="solid"/>
          </a:ln>
        </p:spPr>
      </p:sp>
      <p:sp>
        <p:nvSpPr>
          <p:cNvPr id="61" name="Text 59"/>
          <p:cNvSpPr txBox="1"/>
          <p:nvPr/>
        </p:nvSpPr>
        <p:spPr>
          <a:xfrm>
            <a:off x="7680960" y="3438144"/>
            <a:ext cx="2148840" cy="402336"/>
          </a:xfrm>
          <a:prstGeom prst="rect">
            <a:avLst/>
          </a:prstGeom>
          <a:noFill/>
          <a:ln/>
        </p:spPr>
        <p:txBody>
          <a:bodyPr wrap="square" lIns="0" tIns="0" rIns="0" bIns="0" rtlCol="0" anchor="ctr"/>
          <a:lstStyle/>
          <a:p>
            <a:pPr marL="0" indent="0" algn="ctr">
              <a:buNone/>
            </a:pPr>
            <a:r>
              <a:rPr lang="en-US" sz="1500" b="1" dirty="0">
                <a:solidFill>
                  <a:srgbClr val="3F8F5F"/>
                </a:solidFill>
                <a:latin typeface="Calibri" pitchFamily="34" charset="0"/>
                <a:ea typeface="Calibri" pitchFamily="34" charset="-122"/>
                <a:cs typeface="Calibri" pitchFamily="34" charset="-120"/>
              </a:rPr>
              <a:t>✓</a:t>
            </a:r>
            <a:endParaRPr lang="en-US" sz="1500" dirty="0"/>
          </a:p>
        </p:txBody>
      </p:sp>
      <p:sp>
        <p:nvSpPr>
          <p:cNvPr id="62" name="Shape 60"/>
          <p:cNvSpPr/>
          <p:nvPr/>
        </p:nvSpPr>
        <p:spPr>
          <a:xfrm>
            <a:off x="9829800" y="3438144"/>
            <a:ext cx="2148840" cy="402336"/>
          </a:xfrm>
          <a:prstGeom prst="rect">
            <a:avLst/>
          </a:prstGeom>
          <a:solidFill>
            <a:srgbClr val="FCEADD"/>
          </a:solidFill>
          <a:ln w="9525">
            <a:solidFill>
              <a:srgbClr val="D8D6CF"/>
            </a:solidFill>
            <a:prstDash val="solid"/>
          </a:ln>
        </p:spPr>
      </p:sp>
      <p:sp>
        <p:nvSpPr>
          <p:cNvPr id="63" name="Text 61"/>
          <p:cNvSpPr txBox="1"/>
          <p:nvPr/>
        </p:nvSpPr>
        <p:spPr>
          <a:xfrm>
            <a:off x="9829800" y="3438144"/>
            <a:ext cx="2148840" cy="402336"/>
          </a:xfrm>
          <a:prstGeom prst="rect">
            <a:avLst/>
          </a:prstGeom>
          <a:noFill/>
          <a:ln/>
        </p:spPr>
        <p:txBody>
          <a:bodyPr wrap="square" lIns="0" tIns="0" rIns="0" bIns="0" rtlCol="0" anchor="ctr"/>
          <a:lstStyle/>
          <a:p>
            <a:pPr marL="0" indent="0" algn="ctr">
              <a:buNone/>
            </a:pPr>
            <a:r>
              <a:rPr lang="en-US" sz="1500" b="1" dirty="0">
                <a:solidFill>
                  <a:srgbClr val="3F8F5F"/>
                </a:solidFill>
                <a:latin typeface="Calibri" pitchFamily="34" charset="0"/>
                <a:ea typeface="Calibri" pitchFamily="34" charset="-122"/>
                <a:cs typeface="Calibri" pitchFamily="34" charset="-120"/>
              </a:rPr>
              <a:t>✓</a:t>
            </a:r>
            <a:endParaRPr lang="en-US" sz="1500" dirty="0"/>
          </a:p>
        </p:txBody>
      </p:sp>
      <p:sp>
        <p:nvSpPr>
          <p:cNvPr id="64" name="Shape 62"/>
          <p:cNvSpPr/>
          <p:nvPr/>
        </p:nvSpPr>
        <p:spPr>
          <a:xfrm>
            <a:off x="548640" y="3840480"/>
            <a:ext cx="2834640" cy="402336"/>
          </a:xfrm>
          <a:prstGeom prst="rect">
            <a:avLst/>
          </a:prstGeom>
          <a:solidFill>
            <a:srgbClr val="E7E6E1"/>
          </a:solidFill>
          <a:ln w="9525">
            <a:solidFill>
              <a:srgbClr val="D8D6CF"/>
            </a:solidFill>
            <a:prstDash val="solid"/>
          </a:ln>
        </p:spPr>
      </p:sp>
      <p:sp>
        <p:nvSpPr>
          <p:cNvPr id="65" name="Text 63"/>
          <p:cNvSpPr txBox="1"/>
          <p:nvPr/>
        </p:nvSpPr>
        <p:spPr>
          <a:xfrm>
            <a:off x="640080" y="3840480"/>
            <a:ext cx="2697480" cy="402336"/>
          </a:xfrm>
          <a:prstGeom prst="rect">
            <a:avLst/>
          </a:prstGeom>
          <a:noFill/>
          <a:ln/>
        </p:spPr>
        <p:txBody>
          <a:bodyPr wrap="square" lIns="0" tIns="0" rIns="0" bIns="0" rtlCol="0" anchor="ctr"/>
          <a:lstStyle/>
          <a:p>
            <a:pPr marL="0" indent="0">
              <a:buNone/>
            </a:pPr>
            <a:r>
              <a:rPr lang="en-US" sz="1050" b="1" dirty="0">
                <a:solidFill>
                  <a:srgbClr val="23272A"/>
                </a:solidFill>
                <a:latin typeface="Calibri" pitchFamily="34" charset="0"/>
                <a:ea typeface="Calibri" pitchFamily="34" charset="-122"/>
                <a:cs typeface="Calibri" pitchFamily="34" charset="-120"/>
              </a:rPr>
              <a:t>Controlled Lighting</a:t>
            </a:r>
            <a:endParaRPr lang="en-US" sz="1050" dirty="0"/>
          </a:p>
        </p:txBody>
      </p:sp>
      <p:sp>
        <p:nvSpPr>
          <p:cNvPr id="66" name="Shape 64"/>
          <p:cNvSpPr/>
          <p:nvPr/>
        </p:nvSpPr>
        <p:spPr>
          <a:xfrm>
            <a:off x="3383280" y="3840480"/>
            <a:ext cx="2148840" cy="402336"/>
          </a:xfrm>
          <a:prstGeom prst="rect">
            <a:avLst/>
          </a:prstGeom>
          <a:solidFill>
            <a:srgbClr val="E7E6E1"/>
          </a:solidFill>
          <a:ln w="9525">
            <a:solidFill>
              <a:srgbClr val="D8D6CF"/>
            </a:solidFill>
            <a:prstDash val="solid"/>
          </a:ln>
        </p:spPr>
      </p:sp>
      <p:sp>
        <p:nvSpPr>
          <p:cNvPr id="67" name="Text 65"/>
          <p:cNvSpPr txBox="1"/>
          <p:nvPr/>
        </p:nvSpPr>
        <p:spPr>
          <a:xfrm>
            <a:off x="3383280" y="3840480"/>
            <a:ext cx="2148840" cy="402336"/>
          </a:xfrm>
          <a:prstGeom prst="rect">
            <a:avLst/>
          </a:prstGeom>
          <a:noFill/>
          <a:ln/>
        </p:spPr>
        <p:txBody>
          <a:bodyPr wrap="square" lIns="0" tIns="0" rIns="0" bIns="0" rtlCol="0" anchor="ctr"/>
          <a:lstStyle/>
          <a:p>
            <a:pPr marL="0" indent="0" algn="ctr">
              <a:buNone/>
            </a:pPr>
            <a:r>
              <a:rPr lang="en-US" sz="1500" b="1" dirty="0">
                <a:solidFill>
                  <a:srgbClr val="C6402A"/>
                </a:solidFill>
                <a:latin typeface="Calibri" pitchFamily="34" charset="0"/>
                <a:ea typeface="Calibri" pitchFamily="34" charset="-122"/>
                <a:cs typeface="Calibri" pitchFamily="34" charset="-120"/>
              </a:rPr>
              <a:t>✕</a:t>
            </a:r>
            <a:endParaRPr lang="en-US" sz="1500" dirty="0"/>
          </a:p>
        </p:txBody>
      </p:sp>
      <p:sp>
        <p:nvSpPr>
          <p:cNvPr id="68" name="Shape 66"/>
          <p:cNvSpPr/>
          <p:nvPr/>
        </p:nvSpPr>
        <p:spPr>
          <a:xfrm>
            <a:off x="5532120" y="3840480"/>
            <a:ext cx="2148840" cy="402336"/>
          </a:xfrm>
          <a:prstGeom prst="rect">
            <a:avLst/>
          </a:prstGeom>
          <a:solidFill>
            <a:srgbClr val="E7E6E1"/>
          </a:solidFill>
          <a:ln w="9525">
            <a:solidFill>
              <a:srgbClr val="D8D6CF"/>
            </a:solidFill>
            <a:prstDash val="solid"/>
          </a:ln>
        </p:spPr>
      </p:sp>
      <p:sp>
        <p:nvSpPr>
          <p:cNvPr id="69" name="Text 67"/>
          <p:cNvSpPr txBox="1"/>
          <p:nvPr/>
        </p:nvSpPr>
        <p:spPr>
          <a:xfrm>
            <a:off x="5532120" y="3840480"/>
            <a:ext cx="2148840" cy="402336"/>
          </a:xfrm>
          <a:prstGeom prst="rect">
            <a:avLst/>
          </a:prstGeom>
          <a:noFill/>
          <a:ln/>
        </p:spPr>
        <p:txBody>
          <a:bodyPr wrap="square" lIns="0" tIns="0" rIns="0" bIns="0" rtlCol="0" anchor="ctr"/>
          <a:lstStyle/>
          <a:p>
            <a:pPr marL="0" indent="0" algn="ctr">
              <a:buNone/>
            </a:pPr>
            <a:r>
              <a:rPr lang="en-US" sz="1500" b="1" dirty="0">
                <a:solidFill>
                  <a:srgbClr val="F5A623"/>
                </a:solidFill>
                <a:latin typeface="Calibri" pitchFamily="34" charset="0"/>
                <a:ea typeface="Calibri" pitchFamily="34" charset="-122"/>
                <a:cs typeface="Calibri" pitchFamily="34" charset="-120"/>
              </a:rPr>
              <a:t>!</a:t>
            </a:r>
            <a:endParaRPr lang="en-US" sz="1500" dirty="0"/>
          </a:p>
        </p:txBody>
      </p:sp>
      <p:sp>
        <p:nvSpPr>
          <p:cNvPr id="70" name="Shape 68"/>
          <p:cNvSpPr/>
          <p:nvPr/>
        </p:nvSpPr>
        <p:spPr>
          <a:xfrm>
            <a:off x="7680960" y="3840480"/>
            <a:ext cx="2148840" cy="402336"/>
          </a:xfrm>
          <a:prstGeom prst="rect">
            <a:avLst/>
          </a:prstGeom>
          <a:solidFill>
            <a:srgbClr val="E7E6E1"/>
          </a:solidFill>
          <a:ln w="9525">
            <a:solidFill>
              <a:srgbClr val="D8D6CF"/>
            </a:solidFill>
            <a:prstDash val="solid"/>
          </a:ln>
        </p:spPr>
      </p:sp>
      <p:sp>
        <p:nvSpPr>
          <p:cNvPr id="71" name="Text 69"/>
          <p:cNvSpPr txBox="1"/>
          <p:nvPr/>
        </p:nvSpPr>
        <p:spPr>
          <a:xfrm>
            <a:off x="7680960" y="3840480"/>
            <a:ext cx="2148840" cy="402336"/>
          </a:xfrm>
          <a:prstGeom prst="rect">
            <a:avLst/>
          </a:prstGeom>
          <a:noFill/>
          <a:ln/>
        </p:spPr>
        <p:txBody>
          <a:bodyPr wrap="square" lIns="0" tIns="0" rIns="0" bIns="0" rtlCol="0" anchor="ctr"/>
          <a:lstStyle/>
          <a:p>
            <a:pPr marL="0" indent="0" algn="ctr">
              <a:buNone/>
            </a:pPr>
            <a:r>
              <a:rPr lang="en-US" sz="1500" b="1" dirty="0">
                <a:solidFill>
                  <a:srgbClr val="C6402A"/>
                </a:solidFill>
                <a:latin typeface="Calibri" pitchFamily="34" charset="0"/>
                <a:ea typeface="Calibri" pitchFamily="34" charset="-122"/>
                <a:cs typeface="Calibri" pitchFamily="34" charset="-120"/>
              </a:rPr>
              <a:t>✕</a:t>
            </a:r>
            <a:endParaRPr lang="en-US" sz="1500" dirty="0"/>
          </a:p>
        </p:txBody>
      </p:sp>
      <p:sp>
        <p:nvSpPr>
          <p:cNvPr id="72" name="Shape 70"/>
          <p:cNvSpPr/>
          <p:nvPr/>
        </p:nvSpPr>
        <p:spPr>
          <a:xfrm>
            <a:off x="9829800" y="3840480"/>
            <a:ext cx="2148840" cy="402336"/>
          </a:xfrm>
          <a:prstGeom prst="rect">
            <a:avLst/>
          </a:prstGeom>
          <a:solidFill>
            <a:srgbClr val="FCEADD"/>
          </a:solidFill>
          <a:ln w="9525">
            <a:solidFill>
              <a:srgbClr val="D8D6CF"/>
            </a:solidFill>
            <a:prstDash val="solid"/>
          </a:ln>
        </p:spPr>
      </p:sp>
      <p:sp>
        <p:nvSpPr>
          <p:cNvPr id="73" name="Text 71"/>
          <p:cNvSpPr txBox="1"/>
          <p:nvPr/>
        </p:nvSpPr>
        <p:spPr>
          <a:xfrm>
            <a:off x="9829800" y="3840480"/>
            <a:ext cx="2148840" cy="402336"/>
          </a:xfrm>
          <a:prstGeom prst="rect">
            <a:avLst/>
          </a:prstGeom>
          <a:noFill/>
          <a:ln/>
        </p:spPr>
        <p:txBody>
          <a:bodyPr wrap="square" lIns="0" tIns="0" rIns="0" bIns="0" rtlCol="0" anchor="ctr"/>
          <a:lstStyle/>
          <a:p>
            <a:pPr marL="0" indent="0" algn="ctr">
              <a:buNone/>
            </a:pPr>
            <a:r>
              <a:rPr lang="en-US" sz="1500" b="1" dirty="0">
                <a:solidFill>
                  <a:srgbClr val="3F8F5F"/>
                </a:solidFill>
                <a:latin typeface="Calibri" pitchFamily="34" charset="0"/>
                <a:ea typeface="Calibri" pitchFamily="34" charset="-122"/>
                <a:cs typeface="Calibri" pitchFamily="34" charset="-120"/>
              </a:rPr>
              <a:t>✓</a:t>
            </a:r>
            <a:endParaRPr lang="en-US" sz="1500" dirty="0"/>
          </a:p>
        </p:txBody>
      </p:sp>
      <p:sp>
        <p:nvSpPr>
          <p:cNvPr id="74" name="Shape 72"/>
          <p:cNvSpPr/>
          <p:nvPr/>
        </p:nvSpPr>
        <p:spPr>
          <a:xfrm>
            <a:off x="548640" y="4242816"/>
            <a:ext cx="2834640" cy="402336"/>
          </a:xfrm>
          <a:prstGeom prst="rect">
            <a:avLst/>
          </a:prstGeom>
          <a:solidFill>
            <a:srgbClr val="FFFFFF"/>
          </a:solidFill>
          <a:ln w="9525">
            <a:solidFill>
              <a:srgbClr val="D8D6CF"/>
            </a:solidFill>
            <a:prstDash val="solid"/>
          </a:ln>
        </p:spPr>
      </p:sp>
      <p:sp>
        <p:nvSpPr>
          <p:cNvPr id="75" name="Text 73"/>
          <p:cNvSpPr txBox="1"/>
          <p:nvPr/>
        </p:nvSpPr>
        <p:spPr>
          <a:xfrm>
            <a:off x="640080" y="4242816"/>
            <a:ext cx="2697480" cy="402336"/>
          </a:xfrm>
          <a:prstGeom prst="rect">
            <a:avLst/>
          </a:prstGeom>
          <a:noFill/>
          <a:ln/>
        </p:spPr>
        <p:txBody>
          <a:bodyPr wrap="square" lIns="0" tIns="0" rIns="0" bIns="0" rtlCol="0" anchor="ctr"/>
          <a:lstStyle/>
          <a:p>
            <a:pPr marL="0" indent="0">
              <a:buNone/>
            </a:pPr>
            <a:r>
              <a:rPr lang="en-US" sz="1050" b="1" dirty="0">
                <a:solidFill>
                  <a:srgbClr val="23272A"/>
                </a:solidFill>
                <a:latin typeface="Calibri" pitchFamily="34" charset="0"/>
                <a:ea typeface="Calibri" pitchFamily="34" charset="-122"/>
                <a:cs typeface="Calibri" pitchFamily="34" charset="-120"/>
              </a:rPr>
              <a:t>Inspection History</a:t>
            </a:r>
            <a:endParaRPr lang="en-US" sz="1050" dirty="0"/>
          </a:p>
        </p:txBody>
      </p:sp>
      <p:sp>
        <p:nvSpPr>
          <p:cNvPr id="76" name="Shape 74"/>
          <p:cNvSpPr/>
          <p:nvPr/>
        </p:nvSpPr>
        <p:spPr>
          <a:xfrm>
            <a:off x="3383280" y="4242816"/>
            <a:ext cx="2148840" cy="402336"/>
          </a:xfrm>
          <a:prstGeom prst="rect">
            <a:avLst/>
          </a:prstGeom>
          <a:solidFill>
            <a:srgbClr val="FFFFFF"/>
          </a:solidFill>
          <a:ln w="9525">
            <a:solidFill>
              <a:srgbClr val="D8D6CF"/>
            </a:solidFill>
            <a:prstDash val="solid"/>
          </a:ln>
        </p:spPr>
      </p:sp>
      <p:sp>
        <p:nvSpPr>
          <p:cNvPr id="77" name="Text 75"/>
          <p:cNvSpPr txBox="1"/>
          <p:nvPr/>
        </p:nvSpPr>
        <p:spPr>
          <a:xfrm>
            <a:off x="3383280" y="4242816"/>
            <a:ext cx="2148840" cy="402336"/>
          </a:xfrm>
          <a:prstGeom prst="rect">
            <a:avLst/>
          </a:prstGeom>
          <a:noFill/>
          <a:ln/>
        </p:spPr>
        <p:txBody>
          <a:bodyPr wrap="square" lIns="0" tIns="0" rIns="0" bIns="0" rtlCol="0" anchor="ctr"/>
          <a:lstStyle/>
          <a:p>
            <a:pPr marL="0" indent="0" algn="ctr">
              <a:buNone/>
            </a:pPr>
            <a:r>
              <a:rPr lang="en-US" sz="1500" b="1" dirty="0">
                <a:solidFill>
                  <a:srgbClr val="C6402A"/>
                </a:solidFill>
                <a:latin typeface="Calibri" pitchFamily="34" charset="0"/>
                <a:ea typeface="Calibri" pitchFamily="34" charset="-122"/>
                <a:cs typeface="Calibri" pitchFamily="34" charset="-120"/>
              </a:rPr>
              <a:t>✕</a:t>
            </a:r>
            <a:endParaRPr lang="en-US" sz="1500" dirty="0"/>
          </a:p>
        </p:txBody>
      </p:sp>
      <p:sp>
        <p:nvSpPr>
          <p:cNvPr id="78" name="Shape 76"/>
          <p:cNvSpPr/>
          <p:nvPr/>
        </p:nvSpPr>
        <p:spPr>
          <a:xfrm>
            <a:off x="5532120" y="4242816"/>
            <a:ext cx="2148840" cy="402336"/>
          </a:xfrm>
          <a:prstGeom prst="rect">
            <a:avLst/>
          </a:prstGeom>
          <a:solidFill>
            <a:srgbClr val="FFFFFF"/>
          </a:solidFill>
          <a:ln w="9525">
            <a:solidFill>
              <a:srgbClr val="D8D6CF"/>
            </a:solidFill>
            <a:prstDash val="solid"/>
          </a:ln>
        </p:spPr>
      </p:sp>
      <p:sp>
        <p:nvSpPr>
          <p:cNvPr id="79" name="Text 77"/>
          <p:cNvSpPr txBox="1"/>
          <p:nvPr/>
        </p:nvSpPr>
        <p:spPr>
          <a:xfrm>
            <a:off x="5532120" y="4242816"/>
            <a:ext cx="2148840" cy="402336"/>
          </a:xfrm>
          <a:prstGeom prst="rect">
            <a:avLst/>
          </a:prstGeom>
          <a:noFill/>
          <a:ln/>
        </p:spPr>
        <p:txBody>
          <a:bodyPr wrap="square" lIns="0" tIns="0" rIns="0" bIns="0" rtlCol="0" anchor="ctr"/>
          <a:lstStyle/>
          <a:p>
            <a:pPr marL="0" indent="0" algn="ctr">
              <a:buNone/>
            </a:pPr>
            <a:r>
              <a:rPr lang="en-US" sz="1500" b="1" dirty="0">
                <a:solidFill>
                  <a:srgbClr val="F5A623"/>
                </a:solidFill>
                <a:latin typeface="Calibri" pitchFamily="34" charset="0"/>
                <a:ea typeface="Calibri" pitchFamily="34" charset="-122"/>
                <a:cs typeface="Calibri" pitchFamily="34" charset="-120"/>
              </a:rPr>
              <a:t>!</a:t>
            </a:r>
            <a:endParaRPr lang="en-US" sz="1500" dirty="0"/>
          </a:p>
        </p:txBody>
      </p:sp>
      <p:sp>
        <p:nvSpPr>
          <p:cNvPr id="80" name="Shape 78"/>
          <p:cNvSpPr/>
          <p:nvPr/>
        </p:nvSpPr>
        <p:spPr>
          <a:xfrm>
            <a:off x="7680960" y="4242816"/>
            <a:ext cx="2148840" cy="402336"/>
          </a:xfrm>
          <a:prstGeom prst="rect">
            <a:avLst/>
          </a:prstGeom>
          <a:solidFill>
            <a:srgbClr val="FFFFFF"/>
          </a:solidFill>
          <a:ln w="9525">
            <a:solidFill>
              <a:srgbClr val="D8D6CF"/>
            </a:solidFill>
            <a:prstDash val="solid"/>
          </a:ln>
        </p:spPr>
      </p:sp>
      <p:sp>
        <p:nvSpPr>
          <p:cNvPr id="81" name="Text 79"/>
          <p:cNvSpPr txBox="1"/>
          <p:nvPr/>
        </p:nvSpPr>
        <p:spPr>
          <a:xfrm>
            <a:off x="7680960" y="4242816"/>
            <a:ext cx="2148840" cy="402336"/>
          </a:xfrm>
          <a:prstGeom prst="rect">
            <a:avLst/>
          </a:prstGeom>
          <a:noFill/>
          <a:ln/>
        </p:spPr>
        <p:txBody>
          <a:bodyPr wrap="square" lIns="0" tIns="0" rIns="0" bIns="0" rtlCol="0" anchor="ctr"/>
          <a:lstStyle/>
          <a:p>
            <a:pPr marL="0" indent="0" algn="ctr">
              <a:buNone/>
            </a:pPr>
            <a:r>
              <a:rPr lang="en-US" sz="1500" b="1" dirty="0">
                <a:solidFill>
                  <a:srgbClr val="F5A623"/>
                </a:solidFill>
                <a:latin typeface="Calibri" pitchFamily="34" charset="0"/>
                <a:ea typeface="Calibri" pitchFamily="34" charset="-122"/>
                <a:cs typeface="Calibri" pitchFamily="34" charset="-120"/>
              </a:rPr>
              <a:t>!</a:t>
            </a:r>
            <a:endParaRPr lang="en-US" sz="1500" dirty="0"/>
          </a:p>
        </p:txBody>
      </p:sp>
      <p:sp>
        <p:nvSpPr>
          <p:cNvPr id="82" name="Shape 80"/>
          <p:cNvSpPr/>
          <p:nvPr/>
        </p:nvSpPr>
        <p:spPr>
          <a:xfrm>
            <a:off x="9829800" y="4242816"/>
            <a:ext cx="2148840" cy="402336"/>
          </a:xfrm>
          <a:prstGeom prst="rect">
            <a:avLst/>
          </a:prstGeom>
          <a:solidFill>
            <a:srgbClr val="FCEADD"/>
          </a:solidFill>
          <a:ln w="9525">
            <a:solidFill>
              <a:srgbClr val="D8D6CF"/>
            </a:solidFill>
            <a:prstDash val="solid"/>
          </a:ln>
        </p:spPr>
      </p:sp>
      <p:sp>
        <p:nvSpPr>
          <p:cNvPr id="83" name="Text 81"/>
          <p:cNvSpPr txBox="1"/>
          <p:nvPr/>
        </p:nvSpPr>
        <p:spPr>
          <a:xfrm>
            <a:off x="9829800" y="4242816"/>
            <a:ext cx="2148840" cy="402336"/>
          </a:xfrm>
          <a:prstGeom prst="rect">
            <a:avLst/>
          </a:prstGeom>
          <a:noFill/>
          <a:ln/>
        </p:spPr>
        <p:txBody>
          <a:bodyPr wrap="square" lIns="0" tIns="0" rIns="0" bIns="0" rtlCol="0" anchor="ctr"/>
          <a:lstStyle/>
          <a:p>
            <a:pPr marL="0" indent="0" algn="ctr">
              <a:buNone/>
            </a:pPr>
            <a:r>
              <a:rPr lang="en-US" sz="1500" b="1" dirty="0">
                <a:solidFill>
                  <a:srgbClr val="3F8F5F"/>
                </a:solidFill>
                <a:latin typeface="Calibri" pitchFamily="34" charset="0"/>
                <a:ea typeface="Calibri" pitchFamily="34" charset="-122"/>
                <a:cs typeface="Calibri" pitchFamily="34" charset="-120"/>
              </a:rPr>
              <a:t>✓</a:t>
            </a:r>
            <a:endParaRPr lang="en-US" sz="1500" dirty="0"/>
          </a:p>
        </p:txBody>
      </p:sp>
      <p:sp>
        <p:nvSpPr>
          <p:cNvPr id="84" name="Text 82"/>
          <p:cNvSpPr txBox="1"/>
          <p:nvPr/>
        </p:nvSpPr>
        <p:spPr>
          <a:xfrm>
            <a:off x="548640" y="4754880"/>
            <a:ext cx="11064240" cy="502920"/>
          </a:xfrm>
          <a:prstGeom prst="rect">
            <a:avLst/>
          </a:prstGeom>
          <a:noFill/>
          <a:ln/>
        </p:spPr>
        <p:txBody>
          <a:bodyPr wrap="square" rtlCol="0" anchor="ctr"/>
          <a:lstStyle/>
          <a:p>
            <a:pPr marL="0" indent="0">
              <a:buNone/>
            </a:pPr>
            <a:r>
              <a:rPr lang="en-US" sz="1000" b="1" i="1" dirty="0">
                <a:latin typeface="Calibri" pitchFamily="34" charset="0"/>
                <a:ea typeface="Calibri" pitchFamily="34" charset="-122"/>
                <a:cs typeface="Calibri" pitchFamily="34" charset="-120"/>
              </a:rPr>
              <a:t>Commercial digital gauges (e.g. SISCO) already offer image/data storage over a stated 0–10 mm width range; smartphone apps (e.g. Crack Detector) already use marker-based mm calibration for width and length. We're not claiming crack measurement is new.</a:t>
            </a:r>
            <a:endParaRPr lang="en-US" sz="1000" b="1" i="1" dirty="0"/>
          </a:p>
        </p:txBody>
      </p:sp>
      <p:sp>
        <p:nvSpPr>
          <p:cNvPr id="85" name="Shape 83"/>
          <p:cNvSpPr/>
          <p:nvPr/>
        </p:nvSpPr>
        <p:spPr>
          <a:xfrm>
            <a:off x="548640" y="5321808"/>
            <a:ext cx="11064240" cy="685800"/>
          </a:xfrm>
          <a:prstGeom prst="roundRect">
            <a:avLst>
              <a:gd name="adj" fmla="val 8000"/>
            </a:avLst>
          </a:prstGeom>
          <a:solidFill>
            <a:srgbClr val="23272A"/>
          </a:solidFill>
          <a:ln/>
          <a:effectLst>
            <a:outerShdw blurRad="76200" dist="25400" dir="5400000" algn="bl" rotWithShape="0">
              <a:srgbClr val="1A1A1A">
                <a:alpha val="18000"/>
              </a:srgbClr>
            </a:outerShdw>
          </a:effectLst>
        </p:spPr>
      </p:sp>
      <p:sp>
        <p:nvSpPr>
          <p:cNvPr id="86" name="Text 84"/>
          <p:cNvSpPr txBox="1"/>
          <p:nvPr/>
        </p:nvSpPr>
        <p:spPr>
          <a:xfrm>
            <a:off x="777240" y="5321808"/>
            <a:ext cx="2194560" cy="685800"/>
          </a:xfrm>
          <a:prstGeom prst="rect">
            <a:avLst/>
          </a:prstGeom>
          <a:noFill/>
          <a:ln/>
        </p:spPr>
        <p:txBody>
          <a:bodyPr wrap="square" lIns="0" tIns="0" rIns="0" bIns="0" rtlCol="0" anchor="ctr"/>
          <a:lstStyle/>
          <a:p>
            <a:pPr marL="0" indent="0">
              <a:buNone/>
            </a:pPr>
            <a:r>
              <a:rPr lang="en-US" sz="1250" b="1" dirty="0">
                <a:solidFill>
                  <a:srgbClr val="F2661F"/>
                </a:solidFill>
                <a:latin typeface="Calibri" pitchFamily="34" charset="0"/>
                <a:ea typeface="Calibri" pitchFamily="34" charset="-122"/>
                <a:cs typeface="Calibri" pitchFamily="34" charset="-120"/>
              </a:rPr>
              <a:t>Our differentiation:  </a:t>
            </a:r>
            <a:endParaRPr lang="en-US" sz="1250" dirty="0"/>
          </a:p>
        </p:txBody>
      </p:sp>
      <p:sp>
        <p:nvSpPr>
          <p:cNvPr id="87" name="Text 85"/>
          <p:cNvSpPr txBox="1"/>
          <p:nvPr/>
        </p:nvSpPr>
        <p:spPr>
          <a:xfrm>
            <a:off x="2880360" y="5321808"/>
            <a:ext cx="8503920" cy="6858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Controlled physical imaging + computer-vision measurement + digital inspection history, combined in one low-cost device.</a:t>
            </a:r>
            <a:endParaRPr lang="en-US" sz="1250" dirty="0"/>
          </a:p>
        </p:txBody>
      </p:sp>
      <p:sp>
        <p:nvSpPr>
          <p:cNvPr id="88" name="Text 86"/>
          <p:cNvSpPr txBox="1"/>
          <p:nvPr/>
        </p:nvSpPr>
        <p:spPr>
          <a:xfrm>
            <a:off x="11292840" y="6510528"/>
            <a:ext cx="731520" cy="274320"/>
          </a:xfrm>
          <a:prstGeom prst="rect">
            <a:avLst/>
          </a:prstGeom>
          <a:noFill/>
          <a:ln/>
        </p:spPr>
        <p:txBody>
          <a:bodyPr wrap="square" rtlCol="0" anchor="ctr"/>
          <a:lstStyle/>
          <a:p>
            <a:pPr marL="0" indent="0" algn="r">
              <a:buNone/>
            </a:pPr>
            <a:r>
              <a:rPr lang="en-US" sz="900" dirty="0">
                <a:solidFill>
                  <a:srgbClr val="8C8C86"/>
                </a:solidFill>
                <a:latin typeface="Calibri" pitchFamily="34" charset="0"/>
                <a:ea typeface="Calibri" pitchFamily="34" charset="-122"/>
                <a:cs typeface="Calibri"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3E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F2661F"/>
                </a:solidFill>
                <a:latin typeface="Calibri" pitchFamily="34" charset="0"/>
                <a:ea typeface="Calibri" pitchFamily="34" charset="-122"/>
                <a:cs typeface="Calibri" pitchFamily="34" charset="-120"/>
              </a:rPr>
              <a:t>PROOF</a:t>
            </a:r>
            <a:endParaRPr lang="en-US" sz="1200" dirty="0"/>
          </a:p>
        </p:txBody>
      </p:sp>
      <p:sp>
        <p:nvSpPr>
          <p:cNvPr id="3" name="Text 1"/>
          <p:cNvSpPr txBox="1"/>
          <p:nvPr/>
        </p:nvSpPr>
        <p:spPr>
          <a:xfrm>
            <a:off x="548640" y="621792"/>
            <a:ext cx="10515600" cy="640080"/>
          </a:xfrm>
          <a:prstGeom prst="rect">
            <a:avLst/>
          </a:prstGeom>
          <a:noFill/>
          <a:ln/>
        </p:spPr>
        <p:txBody>
          <a:bodyPr wrap="square" lIns="0" tIns="0" rIns="0" bIns="0" rtlCol="0" anchor="ctr"/>
          <a:lstStyle/>
          <a:p>
            <a:pPr marL="0" indent="0">
              <a:buNone/>
            </a:pPr>
            <a:r>
              <a:rPr lang="en-US" sz="3000" b="1" dirty="0">
                <a:solidFill>
                  <a:srgbClr val="23272A"/>
                </a:solidFill>
                <a:latin typeface="Cambria" pitchFamily="34" charset="0"/>
                <a:ea typeface="Cambria" pitchFamily="34" charset="-122"/>
                <a:cs typeface="Cambria" pitchFamily="34" charset="-120"/>
              </a:rPr>
              <a:t>Ground-Level Research &amp; Validation</a:t>
            </a:r>
            <a:endParaRPr lang="en-US" sz="3000" dirty="0"/>
          </a:p>
        </p:txBody>
      </p:sp>
      <p:sp>
        <p:nvSpPr>
          <p:cNvPr id="4" name="Shape 2"/>
          <p:cNvSpPr/>
          <p:nvPr/>
        </p:nvSpPr>
        <p:spPr>
          <a:xfrm>
            <a:off x="548640" y="1417320"/>
            <a:ext cx="3520440" cy="2331720"/>
          </a:xfrm>
          <a:prstGeom prst="roundRect">
            <a:avLst>
              <a:gd name="adj" fmla="val 2353"/>
            </a:avLst>
          </a:prstGeom>
          <a:solidFill>
            <a:srgbClr val="FFFFFF"/>
          </a:solidFill>
          <a:ln/>
          <a:effectLst>
            <a:outerShdw blurRad="76200" dist="25400" dir="5400000" algn="bl" rotWithShape="0">
              <a:srgbClr val="1A1A1A">
                <a:alpha val="18000"/>
              </a:srgbClr>
            </a:outerShdw>
          </a:effectLst>
        </p:spPr>
      </p:sp>
      <p:sp>
        <p:nvSpPr>
          <p:cNvPr id="5" name="Shape 3"/>
          <p:cNvSpPr/>
          <p:nvPr/>
        </p:nvSpPr>
        <p:spPr>
          <a:xfrm>
            <a:off x="777240" y="1600200"/>
            <a:ext cx="384048" cy="384048"/>
          </a:xfrm>
          <a:prstGeom prst="ellipse">
            <a:avLst/>
          </a:prstGeom>
          <a:solidFill>
            <a:srgbClr val="F2661F"/>
          </a:solidFill>
          <a:ln/>
        </p:spPr>
      </p:sp>
      <p:sp>
        <p:nvSpPr>
          <p:cNvPr id="6" name="Text 4"/>
          <p:cNvSpPr txBox="1"/>
          <p:nvPr/>
        </p:nvSpPr>
        <p:spPr>
          <a:xfrm>
            <a:off x="777240" y="16002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280160" y="1627632"/>
            <a:ext cx="2651760" cy="320040"/>
          </a:xfrm>
          <a:prstGeom prst="rect">
            <a:avLst/>
          </a:prstGeom>
          <a:noFill/>
          <a:ln/>
        </p:spPr>
        <p:txBody>
          <a:bodyPr wrap="square" lIns="0" tIns="0" rIns="0" bIns="0" rtlCol="0" anchor="ctr"/>
          <a:lstStyle/>
          <a:p>
            <a:pPr marL="0" indent="0">
              <a:buNone/>
            </a:pPr>
            <a:r>
              <a:rPr lang="en-US" sz="1250" b="1" dirty="0">
                <a:solidFill>
                  <a:srgbClr val="23272A"/>
                </a:solidFill>
                <a:latin typeface="Cambria" pitchFamily="34" charset="0"/>
                <a:ea typeface="Cambria" pitchFamily="34" charset="-122"/>
                <a:cs typeface="Cambria" pitchFamily="34" charset="-120"/>
              </a:rPr>
              <a:t>Ground-Level Research</a:t>
            </a:r>
            <a:endParaRPr lang="en-US" sz="1250" dirty="0"/>
          </a:p>
        </p:txBody>
      </p:sp>
      <p:sp>
        <p:nvSpPr>
          <p:cNvPr id="8" name="Text 6"/>
          <p:cNvSpPr txBox="1"/>
          <p:nvPr/>
        </p:nvSpPr>
        <p:spPr>
          <a:xfrm>
            <a:off x="777240" y="2103120"/>
            <a:ext cx="3063240" cy="548640"/>
          </a:xfrm>
          <a:prstGeom prst="rect">
            <a:avLst/>
          </a:prstGeom>
          <a:noFill/>
          <a:ln/>
        </p:spPr>
        <p:txBody>
          <a:bodyPr wrap="square" rtlCol="0" anchor="ctr"/>
          <a:lstStyle/>
          <a:p>
            <a:pPr marL="0" indent="0">
              <a:buNone/>
            </a:pPr>
            <a:r>
              <a:rPr lang="en-US" sz="1000" dirty="0">
                <a:solidFill>
                  <a:srgbClr val="5B5F61"/>
                </a:solidFill>
                <a:latin typeface="Calibri" pitchFamily="34" charset="0"/>
                <a:ea typeface="Calibri" pitchFamily="34" charset="-122"/>
                <a:cs typeface="Calibri" pitchFamily="34" charset="-120"/>
              </a:rPr>
              <a:t>Interview civil engineering faculty, site engineers, structural inspectors, contractors.</a:t>
            </a:r>
            <a:endParaRPr lang="en-US" sz="1000" dirty="0"/>
          </a:p>
        </p:txBody>
      </p:sp>
      <p:sp>
        <p:nvSpPr>
          <p:cNvPr id="9" name="Text 7"/>
          <p:cNvSpPr txBox="1"/>
          <p:nvPr/>
        </p:nvSpPr>
        <p:spPr>
          <a:xfrm>
            <a:off x="777240" y="2697480"/>
            <a:ext cx="3108960" cy="256032"/>
          </a:xfrm>
          <a:prstGeom prst="rect">
            <a:avLst/>
          </a:prstGeom>
          <a:noFill/>
          <a:ln/>
        </p:spPr>
        <p:txBody>
          <a:bodyPr wrap="square" lIns="0" tIns="0" rIns="0" bIns="0" rtlCol="0" anchor="ctr"/>
          <a:lstStyle/>
          <a:p>
            <a:pPr marL="0" indent="0">
              <a:buNone/>
            </a:pPr>
            <a:r>
              <a:rPr lang="en-US" sz="950" dirty="0">
                <a:solidFill>
                  <a:srgbClr val="23272A"/>
                </a:solidFill>
                <a:latin typeface="Calibri" pitchFamily="34" charset="0"/>
                <a:ea typeface="Calibri" pitchFamily="34" charset="-122"/>
                <a:cs typeface="Calibri" pitchFamily="34" charset="-120"/>
              </a:rPr>
              <a:t>Q1. How are cracks measured today?</a:t>
            </a:r>
            <a:endParaRPr lang="en-US" sz="950" dirty="0"/>
          </a:p>
        </p:txBody>
      </p:sp>
      <p:sp>
        <p:nvSpPr>
          <p:cNvPr id="10" name="Text 8"/>
          <p:cNvSpPr txBox="1"/>
          <p:nvPr/>
        </p:nvSpPr>
        <p:spPr>
          <a:xfrm>
            <a:off x="777240" y="2971800"/>
            <a:ext cx="3108960" cy="256032"/>
          </a:xfrm>
          <a:prstGeom prst="rect">
            <a:avLst/>
          </a:prstGeom>
          <a:noFill/>
          <a:ln/>
        </p:spPr>
        <p:txBody>
          <a:bodyPr wrap="square" lIns="0" tIns="0" rIns="0" bIns="0" rtlCol="0" anchor="ctr"/>
          <a:lstStyle/>
          <a:p>
            <a:pPr marL="0" indent="0">
              <a:buNone/>
            </a:pPr>
            <a:r>
              <a:rPr lang="en-US" sz="950" dirty="0">
                <a:solidFill>
                  <a:srgbClr val="23272A"/>
                </a:solidFill>
                <a:latin typeface="Calibri" pitchFamily="34" charset="0"/>
                <a:ea typeface="Calibri" pitchFamily="34" charset="-122"/>
                <a:cs typeface="Calibri" pitchFamily="34" charset="-120"/>
              </a:rPr>
              <a:t>Q2. What tools are used?</a:t>
            </a:r>
            <a:endParaRPr lang="en-US" sz="950" dirty="0"/>
          </a:p>
        </p:txBody>
      </p:sp>
      <p:sp>
        <p:nvSpPr>
          <p:cNvPr id="11" name="Text 9"/>
          <p:cNvSpPr txBox="1"/>
          <p:nvPr/>
        </p:nvSpPr>
        <p:spPr>
          <a:xfrm>
            <a:off x="777240" y="3246120"/>
            <a:ext cx="3108960" cy="256032"/>
          </a:xfrm>
          <a:prstGeom prst="rect">
            <a:avLst/>
          </a:prstGeom>
          <a:noFill/>
          <a:ln/>
        </p:spPr>
        <p:txBody>
          <a:bodyPr wrap="square" lIns="0" tIns="0" rIns="0" bIns="0" rtlCol="0" anchor="ctr"/>
          <a:lstStyle/>
          <a:p>
            <a:pPr marL="0" indent="0">
              <a:buNone/>
            </a:pPr>
            <a:r>
              <a:rPr lang="en-US" sz="950" dirty="0">
                <a:solidFill>
                  <a:srgbClr val="23272A"/>
                </a:solidFill>
                <a:latin typeface="Calibri" pitchFamily="34" charset="0"/>
                <a:ea typeface="Calibri" pitchFamily="34" charset="-122"/>
                <a:cs typeface="Calibri" pitchFamily="34" charset="-120"/>
              </a:rPr>
              <a:t>Q3. Biggest difficulty?</a:t>
            </a:r>
            <a:endParaRPr lang="en-US" sz="950" dirty="0"/>
          </a:p>
        </p:txBody>
      </p:sp>
      <p:sp>
        <p:nvSpPr>
          <p:cNvPr id="12" name="Text 10"/>
          <p:cNvSpPr txBox="1"/>
          <p:nvPr/>
        </p:nvSpPr>
        <p:spPr>
          <a:xfrm>
            <a:off x="777240" y="3520440"/>
            <a:ext cx="3108960" cy="256032"/>
          </a:xfrm>
          <a:prstGeom prst="rect">
            <a:avLst/>
          </a:prstGeom>
          <a:noFill/>
          <a:ln/>
        </p:spPr>
        <p:txBody>
          <a:bodyPr wrap="square" lIns="0" tIns="0" rIns="0" bIns="0" rtlCol="0" anchor="ctr"/>
          <a:lstStyle/>
          <a:p>
            <a:pPr marL="0" indent="0">
              <a:buNone/>
            </a:pPr>
            <a:r>
              <a:rPr lang="en-US" sz="950" dirty="0">
                <a:solidFill>
                  <a:srgbClr val="23272A"/>
                </a:solidFill>
                <a:latin typeface="Calibri" pitchFamily="34" charset="0"/>
                <a:ea typeface="Calibri" pitchFamily="34" charset="-122"/>
                <a:cs typeface="Calibri" pitchFamily="34" charset="-120"/>
              </a:rPr>
              <a:t>Q4. Would digital records help?</a:t>
            </a:r>
            <a:endParaRPr lang="en-US" sz="950" dirty="0"/>
          </a:p>
        </p:txBody>
      </p:sp>
      <p:sp>
        <p:nvSpPr>
          <p:cNvPr id="13" name="Shape 11"/>
          <p:cNvSpPr/>
          <p:nvPr/>
        </p:nvSpPr>
        <p:spPr>
          <a:xfrm>
            <a:off x="4251960" y="1417320"/>
            <a:ext cx="3520440" cy="2331720"/>
          </a:xfrm>
          <a:prstGeom prst="roundRect">
            <a:avLst>
              <a:gd name="adj" fmla="val 2353"/>
            </a:avLst>
          </a:prstGeom>
          <a:solidFill>
            <a:srgbClr val="FFFFFF"/>
          </a:solidFill>
          <a:ln/>
          <a:effectLst>
            <a:outerShdw blurRad="76200" dist="25400" dir="5400000" algn="bl" rotWithShape="0">
              <a:srgbClr val="1A1A1A">
                <a:alpha val="18000"/>
              </a:srgbClr>
            </a:outerShdw>
          </a:effectLst>
        </p:spPr>
      </p:sp>
      <p:sp>
        <p:nvSpPr>
          <p:cNvPr id="14" name="Shape 12"/>
          <p:cNvSpPr/>
          <p:nvPr/>
        </p:nvSpPr>
        <p:spPr>
          <a:xfrm>
            <a:off x="4480560" y="1600200"/>
            <a:ext cx="384048" cy="384048"/>
          </a:xfrm>
          <a:prstGeom prst="ellipse">
            <a:avLst/>
          </a:prstGeom>
          <a:solidFill>
            <a:srgbClr val="F2661F"/>
          </a:solidFill>
          <a:ln/>
        </p:spPr>
      </p:sp>
      <p:sp>
        <p:nvSpPr>
          <p:cNvPr id="15" name="Text 13"/>
          <p:cNvSpPr txBox="1"/>
          <p:nvPr/>
        </p:nvSpPr>
        <p:spPr>
          <a:xfrm>
            <a:off x="4480560" y="16002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4"/>
          <p:cNvSpPr txBox="1"/>
          <p:nvPr/>
        </p:nvSpPr>
        <p:spPr>
          <a:xfrm>
            <a:off x="4983480" y="1627632"/>
            <a:ext cx="2651760" cy="320040"/>
          </a:xfrm>
          <a:prstGeom prst="rect">
            <a:avLst/>
          </a:prstGeom>
          <a:noFill/>
          <a:ln/>
        </p:spPr>
        <p:txBody>
          <a:bodyPr wrap="square" lIns="0" tIns="0" rIns="0" bIns="0" rtlCol="0" anchor="ctr"/>
          <a:lstStyle/>
          <a:p>
            <a:pPr marL="0" indent="0">
              <a:buNone/>
            </a:pPr>
            <a:r>
              <a:rPr lang="en-US" sz="1250" b="1" dirty="0">
                <a:solidFill>
                  <a:srgbClr val="23272A"/>
                </a:solidFill>
                <a:latin typeface="Cambria" pitchFamily="34" charset="0"/>
                <a:ea typeface="Cambria" pitchFamily="34" charset="-122"/>
                <a:cs typeface="Cambria" pitchFamily="34" charset="-120"/>
              </a:rPr>
              <a:t>Controlled Testing</a:t>
            </a:r>
            <a:endParaRPr lang="en-US" sz="1250" dirty="0"/>
          </a:p>
        </p:txBody>
      </p:sp>
      <p:sp>
        <p:nvSpPr>
          <p:cNvPr id="17" name="Text 15"/>
          <p:cNvSpPr txBox="1"/>
          <p:nvPr/>
        </p:nvSpPr>
        <p:spPr>
          <a:xfrm>
            <a:off x="4480560" y="2103120"/>
            <a:ext cx="3063240" cy="274320"/>
          </a:xfrm>
          <a:prstGeom prst="rect">
            <a:avLst/>
          </a:prstGeom>
          <a:noFill/>
          <a:ln/>
        </p:spPr>
        <p:txBody>
          <a:bodyPr wrap="square" rtlCol="0" anchor="ctr"/>
          <a:lstStyle/>
          <a:p>
            <a:pPr marL="0" indent="0">
              <a:buNone/>
            </a:pPr>
            <a:r>
              <a:rPr lang="en-US" sz="1000" dirty="0">
                <a:solidFill>
                  <a:srgbClr val="5B5F61"/>
                </a:solidFill>
                <a:latin typeface="Calibri" pitchFamily="34" charset="0"/>
                <a:ea typeface="Calibri" pitchFamily="34" charset="-122"/>
                <a:cs typeface="Calibri" pitchFamily="34" charset="-120"/>
              </a:rPr>
              <a:t>Concrete specimens with different:</a:t>
            </a:r>
            <a:endParaRPr lang="en-US" sz="1000" dirty="0"/>
          </a:p>
        </p:txBody>
      </p:sp>
      <p:sp>
        <p:nvSpPr>
          <p:cNvPr id="18" name="Text 16"/>
          <p:cNvSpPr txBox="1"/>
          <p:nvPr/>
        </p:nvSpPr>
        <p:spPr>
          <a:xfrm>
            <a:off x="4480560" y="2423160"/>
            <a:ext cx="3108960" cy="256032"/>
          </a:xfrm>
          <a:prstGeom prst="rect">
            <a:avLst/>
          </a:prstGeom>
          <a:noFill/>
          <a:ln/>
        </p:spPr>
        <p:txBody>
          <a:bodyPr wrap="square" lIns="0" tIns="0" rIns="0" bIns="0" rtlCol="0" anchor="ctr"/>
          <a:lstStyle/>
          <a:p>
            <a:pPr marL="0" indent="0">
              <a:buNone/>
            </a:pPr>
            <a:r>
              <a:rPr lang="en-US" sz="1000" dirty="0">
                <a:solidFill>
                  <a:srgbClr val="23272A"/>
                </a:solidFill>
                <a:latin typeface="Calibri" pitchFamily="34" charset="0"/>
                <a:ea typeface="Calibri" pitchFamily="34" charset="-122"/>
                <a:cs typeface="Calibri" pitchFamily="34" charset="-120"/>
              </a:rPr>
              <a:t>• Crack widths</a:t>
            </a:r>
            <a:endParaRPr lang="en-US" sz="1000" dirty="0"/>
          </a:p>
        </p:txBody>
      </p:sp>
      <p:sp>
        <p:nvSpPr>
          <p:cNvPr id="19" name="Text 17"/>
          <p:cNvSpPr txBox="1"/>
          <p:nvPr/>
        </p:nvSpPr>
        <p:spPr>
          <a:xfrm>
            <a:off x="4480560" y="2697480"/>
            <a:ext cx="3108960" cy="256032"/>
          </a:xfrm>
          <a:prstGeom prst="rect">
            <a:avLst/>
          </a:prstGeom>
          <a:noFill/>
          <a:ln/>
        </p:spPr>
        <p:txBody>
          <a:bodyPr wrap="square" lIns="0" tIns="0" rIns="0" bIns="0" rtlCol="0" anchor="ctr"/>
          <a:lstStyle/>
          <a:p>
            <a:pPr marL="0" indent="0">
              <a:buNone/>
            </a:pPr>
            <a:r>
              <a:rPr lang="en-US" sz="1000" dirty="0">
                <a:solidFill>
                  <a:srgbClr val="23272A"/>
                </a:solidFill>
                <a:latin typeface="Calibri" pitchFamily="34" charset="0"/>
                <a:ea typeface="Calibri" pitchFamily="34" charset="-122"/>
                <a:cs typeface="Calibri" pitchFamily="34" charset="-120"/>
              </a:rPr>
              <a:t>• Crack orientations</a:t>
            </a:r>
            <a:endParaRPr lang="en-US" sz="1000" dirty="0"/>
          </a:p>
        </p:txBody>
      </p:sp>
      <p:sp>
        <p:nvSpPr>
          <p:cNvPr id="20" name="Text 18"/>
          <p:cNvSpPr txBox="1"/>
          <p:nvPr/>
        </p:nvSpPr>
        <p:spPr>
          <a:xfrm>
            <a:off x="4480560" y="2971800"/>
            <a:ext cx="3108960" cy="256032"/>
          </a:xfrm>
          <a:prstGeom prst="rect">
            <a:avLst/>
          </a:prstGeom>
          <a:noFill/>
          <a:ln/>
        </p:spPr>
        <p:txBody>
          <a:bodyPr wrap="square" lIns="0" tIns="0" rIns="0" bIns="0" rtlCol="0" anchor="ctr"/>
          <a:lstStyle/>
          <a:p>
            <a:pPr marL="0" indent="0">
              <a:buNone/>
            </a:pPr>
            <a:r>
              <a:rPr lang="en-US" sz="1000" dirty="0">
                <a:solidFill>
                  <a:srgbClr val="23272A"/>
                </a:solidFill>
                <a:latin typeface="Calibri" pitchFamily="34" charset="0"/>
                <a:ea typeface="Calibri" pitchFamily="34" charset="-122"/>
                <a:cs typeface="Calibri" pitchFamily="34" charset="-120"/>
              </a:rPr>
              <a:t>• Surface textures</a:t>
            </a:r>
            <a:endParaRPr lang="en-US" sz="1000" dirty="0"/>
          </a:p>
        </p:txBody>
      </p:sp>
      <p:sp>
        <p:nvSpPr>
          <p:cNvPr id="21" name="Text 19"/>
          <p:cNvSpPr txBox="1"/>
          <p:nvPr/>
        </p:nvSpPr>
        <p:spPr>
          <a:xfrm>
            <a:off x="4480560" y="3246120"/>
            <a:ext cx="3108960" cy="256032"/>
          </a:xfrm>
          <a:prstGeom prst="rect">
            <a:avLst/>
          </a:prstGeom>
          <a:noFill/>
          <a:ln/>
        </p:spPr>
        <p:txBody>
          <a:bodyPr wrap="square" lIns="0" tIns="0" rIns="0" bIns="0" rtlCol="0" anchor="ctr"/>
          <a:lstStyle/>
          <a:p>
            <a:pPr marL="0" indent="0">
              <a:buNone/>
            </a:pPr>
            <a:r>
              <a:rPr lang="en-US" sz="1000" dirty="0">
                <a:solidFill>
                  <a:srgbClr val="23272A"/>
                </a:solidFill>
                <a:latin typeface="Calibri" pitchFamily="34" charset="0"/>
                <a:ea typeface="Calibri" pitchFamily="34" charset="-122"/>
                <a:cs typeface="Calibri" pitchFamily="34" charset="-120"/>
              </a:rPr>
              <a:t>• Lighting conditions</a:t>
            </a:r>
            <a:endParaRPr lang="en-US" sz="1000" dirty="0"/>
          </a:p>
        </p:txBody>
      </p:sp>
      <p:sp>
        <p:nvSpPr>
          <p:cNvPr id="22" name="Text 20"/>
          <p:cNvSpPr txBox="1"/>
          <p:nvPr/>
        </p:nvSpPr>
        <p:spPr>
          <a:xfrm>
            <a:off x="4480560" y="3520440"/>
            <a:ext cx="3108960" cy="256032"/>
          </a:xfrm>
          <a:prstGeom prst="rect">
            <a:avLst/>
          </a:prstGeom>
          <a:noFill/>
          <a:ln/>
        </p:spPr>
        <p:txBody>
          <a:bodyPr wrap="square" lIns="0" tIns="0" rIns="0" bIns="0" rtlCol="0" anchor="ctr"/>
          <a:lstStyle/>
          <a:p>
            <a:pPr marL="0" indent="0">
              <a:buNone/>
            </a:pPr>
            <a:r>
              <a:rPr lang="en-US" sz="1000" dirty="0">
                <a:solidFill>
                  <a:srgbClr val="23272A"/>
                </a:solidFill>
                <a:latin typeface="Calibri" pitchFamily="34" charset="0"/>
                <a:ea typeface="Calibri" pitchFamily="34" charset="-122"/>
                <a:cs typeface="Calibri" pitchFamily="34" charset="-120"/>
              </a:rPr>
              <a:t>• Camera distances</a:t>
            </a:r>
            <a:endParaRPr lang="en-US" sz="1000" dirty="0"/>
          </a:p>
        </p:txBody>
      </p:sp>
      <p:sp>
        <p:nvSpPr>
          <p:cNvPr id="23" name="Shape 21"/>
          <p:cNvSpPr/>
          <p:nvPr/>
        </p:nvSpPr>
        <p:spPr>
          <a:xfrm>
            <a:off x="7955280" y="1417320"/>
            <a:ext cx="3657600" cy="2331720"/>
          </a:xfrm>
          <a:prstGeom prst="roundRect">
            <a:avLst>
              <a:gd name="adj" fmla="val 2353"/>
            </a:avLst>
          </a:prstGeom>
          <a:solidFill>
            <a:srgbClr val="23272A"/>
          </a:solidFill>
          <a:ln/>
          <a:effectLst>
            <a:outerShdw blurRad="76200" dist="25400" dir="5400000" algn="bl" rotWithShape="0">
              <a:srgbClr val="1A1A1A">
                <a:alpha val="18000"/>
              </a:srgbClr>
            </a:outerShdw>
          </a:effectLst>
        </p:spPr>
      </p:sp>
      <p:sp>
        <p:nvSpPr>
          <p:cNvPr id="24" name="Shape 22"/>
          <p:cNvSpPr/>
          <p:nvPr/>
        </p:nvSpPr>
        <p:spPr>
          <a:xfrm>
            <a:off x="8183880" y="1600200"/>
            <a:ext cx="384048" cy="384048"/>
          </a:xfrm>
          <a:prstGeom prst="ellipse">
            <a:avLst/>
          </a:prstGeom>
          <a:solidFill>
            <a:srgbClr val="F2661F"/>
          </a:solidFill>
          <a:ln/>
        </p:spPr>
      </p:sp>
      <p:sp>
        <p:nvSpPr>
          <p:cNvPr id="25" name="Text 23"/>
          <p:cNvSpPr txBox="1"/>
          <p:nvPr/>
        </p:nvSpPr>
        <p:spPr>
          <a:xfrm>
            <a:off x="8183880" y="16002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4"/>
          <p:cNvSpPr txBox="1"/>
          <p:nvPr/>
        </p:nvSpPr>
        <p:spPr>
          <a:xfrm>
            <a:off x="8686800" y="1627632"/>
            <a:ext cx="2743200" cy="320040"/>
          </a:xfrm>
          <a:prstGeom prst="rect">
            <a:avLst/>
          </a:prstGeom>
          <a:noFill/>
          <a:ln/>
        </p:spPr>
        <p:txBody>
          <a:bodyPr wrap="square" lIns="0" tIns="0" rIns="0" bIns="0"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Compare vs Ground Truth</a:t>
            </a:r>
            <a:endParaRPr lang="en-US" sz="1250" dirty="0"/>
          </a:p>
        </p:txBody>
      </p:sp>
      <p:sp>
        <p:nvSpPr>
          <p:cNvPr id="27" name="Shape 25"/>
          <p:cNvSpPr/>
          <p:nvPr/>
        </p:nvSpPr>
        <p:spPr>
          <a:xfrm>
            <a:off x="8183880" y="2148840"/>
            <a:ext cx="3154680" cy="411480"/>
          </a:xfrm>
          <a:prstGeom prst="roundRect">
            <a:avLst>
              <a:gd name="adj" fmla="val 17778"/>
            </a:avLst>
          </a:prstGeom>
          <a:solidFill>
            <a:srgbClr val="2E3336"/>
          </a:solidFill>
          <a:ln/>
        </p:spPr>
      </p:sp>
      <p:sp>
        <p:nvSpPr>
          <p:cNvPr id="28" name="Text 26"/>
          <p:cNvSpPr txBox="1"/>
          <p:nvPr/>
        </p:nvSpPr>
        <p:spPr>
          <a:xfrm>
            <a:off x="8183880" y="2148840"/>
            <a:ext cx="3154680" cy="411480"/>
          </a:xfrm>
          <a:prstGeom prst="rect">
            <a:avLst/>
          </a:prstGeom>
          <a:noFill/>
          <a:ln/>
        </p:spPr>
        <p:txBody>
          <a:bodyPr wrap="square" lIns="0" tIns="0" rIns="0" bIns="0" rtlCol="0" anchor="ctr"/>
          <a:lstStyle/>
          <a:p>
            <a:pPr marL="0" indent="0" algn="ctr">
              <a:buNone/>
            </a:pPr>
            <a:r>
              <a:rPr lang="en-US" sz="1100" b="1" dirty="0">
                <a:solidFill>
                  <a:srgbClr val="E7E6E1"/>
                </a:solidFill>
                <a:latin typeface="Calibri" pitchFamily="34" charset="0"/>
                <a:ea typeface="Calibri" pitchFamily="34" charset="-122"/>
                <a:cs typeface="Calibri" pitchFamily="34" charset="-120"/>
              </a:rPr>
              <a:t>Ground Truth / Manual Reference</a:t>
            </a:r>
            <a:endParaRPr lang="en-US" sz="1100" dirty="0"/>
          </a:p>
        </p:txBody>
      </p:sp>
      <p:sp>
        <p:nvSpPr>
          <p:cNvPr id="29" name="Shape 27"/>
          <p:cNvSpPr/>
          <p:nvPr/>
        </p:nvSpPr>
        <p:spPr>
          <a:xfrm>
            <a:off x="9761220" y="2560320"/>
            <a:ext cx="0" cy="201168"/>
          </a:xfrm>
          <a:prstGeom prst="line">
            <a:avLst/>
          </a:prstGeom>
          <a:noFill/>
          <a:ln w="25400">
            <a:solidFill>
              <a:srgbClr val="F2661F"/>
            </a:solidFill>
            <a:prstDash val="solid"/>
            <a:tailEnd type="triangle"/>
          </a:ln>
        </p:spPr>
      </p:sp>
      <p:sp>
        <p:nvSpPr>
          <p:cNvPr id="30" name="Shape 28"/>
          <p:cNvSpPr/>
          <p:nvPr/>
        </p:nvSpPr>
        <p:spPr>
          <a:xfrm>
            <a:off x="8183880" y="2788920"/>
            <a:ext cx="3154680" cy="411480"/>
          </a:xfrm>
          <a:prstGeom prst="roundRect">
            <a:avLst>
              <a:gd name="adj" fmla="val 17778"/>
            </a:avLst>
          </a:prstGeom>
          <a:solidFill>
            <a:srgbClr val="F2661F"/>
          </a:solidFill>
          <a:ln/>
        </p:spPr>
      </p:sp>
      <p:sp>
        <p:nvSpPr>
          <p:cNvPr id="31" name="Text 29"/>
          <p:cNvSpPr txBox="1"/>
          <p:nvPr/>
        </p:nvSpPr>
        <p:spPr>
          <a:xfrm>
            <a:off x="8183880" y="2788920"/>
            <a:ext cx="315468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COMPARE</a:t>
            </a:r>
            <a:endParaRPr lang="en-US" sz="1100" dirty="0"/>
          </a:p>
        </p:txBody>
      </p:sp>
      <p:sp>
        <p:nvSpPr>
          <p:cNvPr id="32" name="Shape 30"/>
          <p:cNvSpPr/>
          <p:nvPr/>
        </p:nvSpPr>
        <p:spPr>
          <a:xfrm>
            <a:off x="9761220" y="3200400"/>
            <a:ext cx="0" cy="164592"/>
          </a:xfrm>
          <a:prstGeom prst="line">
            <a:avLst/>
          </a:prstGeom>
          <a:noFill/>
          <a:ln w="25400">
            <a:solidFill>
              <a:srgbClr val="F2661F"/>
            </a:solidFill>
            <a:prstDash val="solid"/>
            <a:tailEnd type="triangle"/>
          </a:ln>
        </p:spPr>
      </p:sp>
      <p:sp>
        <p:nvSpPr>
          <p:cNvPr id="33" name="Shape 31"/>
          <p:cNvSpPr/>
          <p:nvPr/>
        </p:nvSpPr>
        <p:spPr>
          <a:xfrm>
            <a:off x="8183880" y="3364992"/>
            <a:ext cx="3154680" cy="365760"/>
          </a:xfrm>
          <a:prstGeom prst="roundRect">
            <a:avLst>
              <a:gd name="adj" fmla="val 20000"/>
            </a:avLst>
          </a:prstGeom>
          <a:solidFill>
            <a:srgbClr val="2E3336"/>
          </a:solidFill>
          <a:ln/>
        </p:spPr>
      </p:sp>
      <p:sp>
        <p:nvSpPr>
          <p:cNvPr id="34" name="Text 32"/>
          <p:cNvSpPr txBox="1"/>
          <p:nvPr/>
        </p:nvSpPr>
        <p:spPr>
          <a:xfrm>
            <a:off x="8183880" y="3364992"/>
            <a:ext cx="3154680" cy="365760"/>
          </a:xfrm>
          <a:prstGeom prst="rect">
            <a:avLst/>
          </a:prstGeom>
          <a:noFill/>
          <a:ln/>
        </p:spPr>
        <p:txBody>
          <a:bodyPr wrap="square" lIns="0" tIns="0" rIns="0" bIns="0" rtlCol="0" anchor="ctr"/>
          <a:lstStyle/>
          <a:p>
            <a:pPr marL="0" indent="0" algn="ctr">
              <a:buNone/>
            </a:pPr>
            <a:r>
              <a:rPr lang="en-US" sz="1100" b="1" dirty="0">
                <a:solidFill>
                  <a:srgbClr val="E7E6E1"/>
                </a:solidFill>
                <a:latin typeface="Calibri" pitchFamily="34" charset="0"/>
                <a:ea typeface="Calibri" pitchFamily="34" charset="-122"/>
                <a:cs typeface="Calibri" pitchFamily="34" charset="-120"/>
              </a:rPr>
              <a:t>CrackGauge Measurement</a:t>
            </a:r>
            <a:endParaRPr lang="en-US" sz="1100" dirty="0"/>
          </a:p>
        </p:txBody>
      </p:sp>
      <p:sp>
        <p:nvSpPr>
          <p:cNvPr id="35" name="Shape 33"/>
          <p:cNvSpPr/>
          <p:nvPr/>
        </p:nvSpPr>
        <p:spPr>
          <a:xfrm>
            <a:off x="548640" y="3931920"/>
            <a:ext cx="11064240" cy="1828800"/>
          </a:xfrm>
          <a:prstGeom prst="roundRect">
            <a:avLst>
              <a:gd name="adj" fmla="val 3000"/>
            </a:avLst>
          </a:prstGeom>
          <a:solidFill>
            <a:srgbClr val="FFFFFF"/>
          </a:solidFill>
          <a:ln/>
          <a:effectLst>
            <a:outerShdw blurRad="76200" dist="25400" dir="5400000" algn="bl" rotWithShape="0">
              <a:srgbClr val="1A1A1A">
                <a:alpha val="18000"/>
              </a:srgbClr>
            </a:outerShdw>
          </a:effectLst>
        </p:spPr>
      </p:sp>
      <p:sp>
        <p:nvSpPr>
          <p:cNvPr id="36" name="Text 34"/>
          <p:cNvSpPr txBox="1"/>
          <p:nvPr/>
        </p:nvSpPr>
        <p:spPr>
          <a:xfrm>
            <a:off x="777240" y="4069080"/>
            <a:ext cx="3657600" cy="274320"/>
          </a:xfrm>
          <a:prstGeom prst="rect">
            <a:avLst/>
          </a:prstGeom>
          <a:noFill/>
          <a:ln/>
        </p:spPr>
        <p:txBody>
          <a:bodyPr wrap="square" rtlCol="0" anchor="ctr"/>
          <a:lstStyle/>
          <a:p>
            <a:pPr marL="0" indent="0">
              <a:buNone/>
            </a:pPr>
            <a:r>
              <a:rPr lang="en-US" sz="1300" b="1" dirty="0">
                <a:solidFill>
                  <a:srgbClr val="23272A"/>
                </a:solidFill>
                <a:latin typeface="Cambria" pitchFamily="34" charset="0"/>
                <a:ea typeface="Cambria" pitchFamily="34" charset="-122"/>
                <a:cs typeface="Cambria" pitchFamily="34" charset="-120"/>
              </a:rPr>
              <a:t>Validation Metrics</a:t>
            </a:r>
            <a:endParaRPr lang="en-US" sz="1300" dirty="0"/>
          </a:p>
        </p:txBody>
      </p:sp>
      <p:sp>
        <p:nvSpPr>
          <p:cNvPr id="37" name="Text 35"/>
          <p:cNvSpPr txBox="1"/>
          <p:nvPr/>
        </p:nvSpPr>
        <p:spPr>
          <a:xfrm>
            <a:off x="777240" y="4434840"/>
            <a:ext cx="3200400" cy="274320"/>
          </a:xfrm>
          <a:prstGeom prst="rect">
            <a:avLst/>
          </a:prstGeom>
          <a:noFill/>
          <a:ln/>
        </p:spPr>
        <p:txBody>
          <a:bodyPr wrap="square" lIns="0" tIns="0" rIns="0" bIns="0" rtlCol="0" anchor="ctr"/>
          <a:lstStyle/>
          <a:p>
            <a:pPr marL="0" indent="0">
              <a:buNone/>
            </a:pPr>
            <a:r>
              <a:rPr lang="en-US" sz="1150" b="1" dirty="0">
                <a:solidFill>
                  <a:srgbClr val="C24C10"/>
                </a:solidFill>
                <a:latin typeface="Calibri" pitchFamily="34" charset="0"/>
                <a:ea typeface="Calibri" pitchFamily="34" charset="-122"/>
                <a:cs typeface="Calibri" pitchFamily="34" charset="-120"/>
              </a:rPr>
              <a:t>Measurement</a:t>
            </a:r>
            <a:endParaRPr lang="en-US" sz="1150" dirty="0"/>
          </a:p>
        </p:txBody>
      </p:sp>
      <p:sp>
        <p:nvSpPr>
          <p:cNvPr id="38" name="Shape 36"/>
          <p:cNvSpPr/>
          <p:nvPr/>
        </p:nvSpPr>
        <p:spPr>
          <a:xfrm>
            <a:off x="777240" y="4754880"/>
            <a:ext cx="576072" cy="329184"/>
          </a:xfrm>
          <a:prstGeom prst="roundRect">
            <a:avLst>
              <a:gd name="adj" fmla="val 22222"/>
            </a:avLst>
          </a:prstGeom>
          <a:solidFill>
            <a:srgbClr val="E7E6E1"/>
          </a:solidFill>
          <a:ln/>
        </p:spPr>
      </p:sp>
      <p:sp>
        <p:nvSpPr>
          <p:cNvPr id="39" name="Text 37"/>
          <p:cNvSpPr txBox="1"/>
          <p:nvPr/>
        </p:nvSpPr>
        <p:spPr>
          <a:xfrm>
            <a:off x="777240" y="4754880"/>
            <a:ext cx="576072" cy="329184"/>
          </a:xfrm>
          <a:prstGeom prst="rect">
            <a:avLst/>
          </a:prstGeom>
          <a:noFill/>
          <a:ln/>
        </p:spPr>
        <p:txBody>
          <a:bodyPr wrap="square" lIns="0" tIns="0" rIns="0" bIns="0" rtlCol="0" anchor="ctr"/>
          <a:lstStyle/>
          <a:p>
            <a:pPr marL="0" indent="0" algn="ctr">
              <a:buNone/>
            </a:pPr>
            <a:r>
              <a:rPr lang="en-US" sz="1100" b="1" dirty="0">
                <a:solidFill>
                  <a:srgbClr val="23272A"/>
                </a:solidFill>
                <a:latin typeface="Calibri" pitchFamily="34" charset="0"/>
                <a:ea typeface="Calibri" pitchFamily="34" charset="-122"/>
                <a:cs typeface="Calibri" pitchFamily="34" charset="-120"/>
              </a:rPr>
              <a:t>MAE</a:t>
            </a:r>
            <a:endParaRPr lang="en-US" sz="1100" dirty="0"/>
          </a:p>
        </p:txBody>
      </p:sp>
      <p:sp>
        <p:nvSpPr>
          <p:cNvPr id="40" name="Shape 38"/>
          <p:cNvSpPr/>
          <p:nvPr/>
        </p:nvSpPr>
        <p:spPr>
          <a:xfrm>
            <a:off x="1463040" y="4754880"/>
            <a:ext cx="676656" cy="329184"/>
          </a:xfrm>
          <a:prstGeom prst="roundRect">
            <a:avLst>
              <a:gd name="adj" fmla="val 22222"/>
            </a:avLst>
          </a:prstGeom>
          <a:solidFill>
            <a:srgbClr val="E7E6E1"/>
          </a:solidFill>
          <a:ln/>
        </p:spPr>
      </p:sp>
      <p:sp>
        <p:nvSpPr>
          <p:cNvPr id="41" name="Text 39"/>
          <p:cNvSpPr txBox="1"/>
          <p:nvPr/>
        </p:nvSpPr>
        <p:spPr>
          <a:xfrm>
            <a:off x="1463040" y="4754880"/>
            <a:ext cx="676656" cy="329184"/>
          </a:xfrm>
          <a:prstGeom prst="rect">
            <a:avLst/>
          </a:prstGeom>
          <a:noFill/>
          <a:ln/>
        </p:spPr>
        <p:txBody>
          <a:bodyPr wrap="square" lIns="0" tIns="0" rIns="0" bIns="0" rtlCol="0" anchor="ctr"/>
          <a:lstStyle/>
          <a:p>
            <a:pPr marL="0" indent="0" algn="ctr">
              <a:buNone/>
            </a:pPr>
            <a:r>
              <a:rPr lang="en-US" sz="1100" b="1" dirty="0">
                <a:solidFill>
                  <a:srgbClr val="23272A"/>
                </a:solidFill>
                <a:latin typeface="Calibri" pitchFamily="34" charset="0"/>
                <a:ea typeface="Calibri" pitchFamily="34" charset="-122"/>
                <a:cs typeface="Calibri" pitchFamily="34" charset="-120"/>
              </a:rPr>
              <a:t>RMSE</a:t>
            </a:r>
            <a:endParaRPr lang="en-US" sz="1100" dirty="0"/>
          </a:p>
        </p:txBody>
      </p:sp>
      <p:sp>
        <p:nvSpPr>
          <p:cNvPr id="42" name="Shape 40"/>
          <p:cNvSpPr/>
          <p:nvPr/>
        </p:nvSpPr>
        <p:spPr>
          <a:xfrm>
            <a:off x="2249424" y="4754880"/>
            <a:ext cx="1682496" cy="329184"/>
          </a:xfrm>
          <a:prstGeom prst="roundRect">
            <a:avLst>
              <a:gd name="adj" fmla="val 22222"/>
            </a:avLst>
          </a:prstGeom>
          <a:solidFill>
            <a:srgbClr val="E7E6E1"/>
          </a:solidFill>
          <a:ln/>
        </p:spPr>
      </p:sp>
      <p:sp>
        <p:nvSpPr>
          <p:cNvPr id="43" name="Text 41"/>
          <p:cNvSpPr txBox="1"/>
          <p:nvPr/>
        </p:nvSpPr>
        <p:spPr>
          <a:xfrm>
            <a:off x="2249424" y="4754880"/>
            <a:ext cx="1682496" cy="329184"/>
          </a:xfrm>
          <a:prstGeom prst="rect">
            <a:avLst/>
          </a:prstGeom>
          <a:noFill/>
          <a:ln/>
        </p:spPr>
        <p:txBody>
          <a:bodyPr wrap="square" lIns="0" tIns="0" rIns="0" bIns="0" rtlCol="0" anchor="ctr"/>
          <a:lstStyle/>
          <a:p>
            <a:pPr marL="0" indent="0" algn="ctr">
              <a:buNone/>
            </a:pPr>
            <a:r>
              <a:rPr lang="en-US" sz="1100" b="1" dirty="0">
                <a:solidFill>
                  <a:srgbClr val="23272A"/>
                </a:solidFill>
                <a:latin typeface="Calibri" pitchFamily="34" charset="0"/>
                <a:ea typeface="Calibri" pitchFamily="34" charset="-122"/>
                <a:cs typeface="Calibri" pitchFamily="34" charset="-120"/>
              </a:rPr>
              <a:t>Relative Error</a:t>
            </a:r>
            <a:endParaRPr lang="en-US" sz="1100" dirty="0"/>
          </a:p>
        </p:txBody>
      </p:sp>
      <p:sp>
        <p:nvSpPr>
          <p:cNvPr id="44" name="Text 42"/>
          <p:cNvSpPr txBox="1"/>
          <p:nvPr/>
        </p:nvSpPr>
        <p:spPr>
          <a:xfrm>
            <a:off x="4160520" y="4434840"/>
            <a:ext cx="3749040" cy="274320"/>
          </a:xfrm>
          <a:prstGeom prst="rect">
            <a:avLst/>
          </a:prstGeom>
          <a:noFill/>
          <a:ln/>
        </p:spPr>
        <p:txBody>
          <a:bodyPr wrap="square" lIns="0" tIns="0" rIns="0" bIns="0" rtlCol="0" anchor="ctr"/>
          <a:lstStyle/>
          <a:p>
            <a:pPr marL="0" indent="0">
              <a:buNone/>
            </a:pPr>
            <a:r>
              <a:rPr lang="en-US" sz="1150" b="1" dirty="0">
                <a:solidFill>
                  <a:srgbClr val="C24C10"/>
                </a:solidFill>
                <a:latin typeface="Calibri" pitchFamily="34" charset="0"/>
                <a:ea typeface="Calibri" pitchFamily="34" charset="-122"/>
                <a:cs typeface="Calibri" pitchFamily="34" charset="-120"/>
              </a:rPr>
              <a:t>Detection / Segmentation</a:t>
            </a:r>
            <a:endParaRPr lang="en-US" sz="1150" dirty="0"/>
          </a:p>
        </p:txBody>
      </p:sp>
      <p:sp>
        <p:nvSpPr>
          <p:cNvPr id="45" name="Shape 43"/>
          <p:cNvSpPr/>
          <p:nvPr/>
        </p:nvSpPr>
        <p:spPr>
          <a:xfrm>
            <a:off x="4160520" y="4754880"/>
            <a:ext cx="1179576" cy="329184"/>
          </a:xfrm>
          <a:prstGeom prst="roundRect">
            <a:avLst>
              <a:gd name="adj" fmla="val 22222"/>
            </a:avLst>
          </a:prstGeom>
          <a:solidFill>
            <a:srgbClr val="E7E6E1"/>
          </a:solidFill>
          <a:ln/>
        </p:spPr>
      </p:sp>
      <p:sp>
        <p:nvSpPr>
          <p:cNvPr id="46" name="Text 44"/>
          <p:cNvSpPr txBox="1"/>
          <p:nvPr/>
        </p:nvSpPr>
        <p:spPr>
          <a:xfrm>
            <a:off x="4160520" y="4754880"/>
            <a:ext cx="1179576" cy="329184"/>
          </a:xfrm>
          <a:prstGeom prst="rect">
            <a:avLst/>
          </a:prstGeom>
          <a:noFill/>
          <a:ln/>
        </p:spPr>
        <p:txBody>
          <a:bodyPr wrap="square" lIns="0" tIns="0" rIns="0" bIns="0" rtlCol="0" anchor="ctr"/>
          <a:lstStyle/>
          <a:p>
            <a:pPr marL="0" indent="0" algn="ctr">
              <a:buNone/>
            </a:pPr>
            <a:r>
              <a:rPr lang="en-US" sz="1100" b="1" dirty="0">
                <a:solidFill>
                  <a:srgbClr val="23272A"/>
                </a:solidFill>
                <a:latin typeface="Calibri" pitchFamily="34" charset="0"/>
                <a:ea typeface="Calibri" pitchFamily="34" charset="-122"/>
                <a:cs typeface="Calibri" pitchFamily="34" charset="-120"/>
              </a:rPr>
              <a:t>Precision</a:t>
            </a:r>
            <a:endParaRPr lang="en-US" sz="1100" dirty="0"/>
          </a:p>
        </p:txBody>
      </p:sp>
      <p:sp>
        <p:nvSpPr>
          <p:cNvPr id="47" name="Shape 45"/>
          <p:cNvSpPr/>
          <p:nvPr/>
        </p:nvSpPr>
        <p:spPr>
          <a:xfrm>
            <a:off x="5449824" y="4754880"/>
            <a:ext cx="877824" cy="329184"/>
          </a:xfrm>
          <a:prstGeom prst="roundRect">
            <a:avLst>
              <a:gd name="adj" fmla="val 22222"/>
            </a:avLst>
          </a:prstGeom>
          <a:solidFill>
            <a:srgbClr val="E7E6E1"/>
          </a:solidFill>
          <a:ln/>
        </p:spPr>
      </p:sp>
      <p:sp>
        <p:nvSpPr>
          <p:cNvPr id="48" name="Text 46"/>
          <p:cNvSpPr txBox="1"/>
          <p:nvPr/>
        </p:nvSpPr>
        <p:spPr>
          <a:xfrm>
            <a:off x="5449824" y="4754880"/>
            <a:ext cx="877824" cy="329184"/>
          </a:xfrm>
          <a:prstGeom prst="rect">
            <a:avLst/>
          </a:prstGeom>
          <a:noFill/>
          <a:ln/>
        </p:spPr>
        <p:txBody>
          <a:bodyPr wrap="square" lIns="0" tIns="0" rIns="0" bIns="0" rtlCol="0" anchor="ctr"/>
          <a:lstStyle/>
          <a:p>
            <a:pPr marL="0" indent="0" algn="ctr">
              <a:buNone/>
            </a:pPr>
            <a:r>
              <a:rPr lang="en-US" sz="1100" b="1" dirty="0">
                <a:solidFill>
                  <a:srgbClr val="23272A"/>
                </a:solidFill>
                <a:latin typeface="Calibri" pitchFamily="34" charset="0"/>
                <a:ea typeface="Calibri" pitchFamily="34" charset="-122"/>
                <a:cs typeface="Calibri" pitchFamily="34" charset="-120"/>
              </a:rPr>
              <a:t>Recall</a:t>
            </a:r>
            <a:endParaRPr lang="en-US" sz="1100" dirty="0"/>
          </a:p>
        </p:txBody>
      </p:sp>
      <p:sp>
        <p:nvSpPr>
          <p:cNvPr id="49" name="Shape 47"/>
          <p:cNvSpPr/>
          <p:nvPr/>
        </p:nvSpPr>
        <p:spPr>
          <a:xfrm>
            <a:off x="6437376" y="4754880"/>
            <a:ext cx="475488" cy="329184"/>
          </a:xfrm>
          <a:prstGeom prst="roundRect">
            <a:avLst>
              <a:gd name="adj" fmla="val 22222"/>
            </a:avLst>
          </a:prstGeom>
          <a:solidFill>
            <a:srgbClr val="E7E6E1"/>
          </a:solidFill>
          <a:ln/>
        </p:spPr>
      </p:sp>
      <p:sp>
        <p:nvSpPr>
          <p:cNvPr id="50" name="Text 48"/>
          <p:cNvSpPr txBox="1"/>
          <p:nvPr/>
        </p:nvSpPr>
        <p:spPr>
          <a:xfrm>
            <a:off x="6437376" y="4754880"/>
            <a:ext cx="475488" cy="329184"/>
          </a:xfrm>
          <a:prstGeom prst="rect">
            <a:avLst/>
          </a:prstGeom>
          <a:noFill/>
          <a:ln/>
        </p:spPr>
        <p:txBody>
          <a:bodyPr wrap="square" lIns="0" tIns="0" rIns="0" bIns="0" rtlCol="0" anchor="ctr"/>
          <a:lstStyle/>
          <a:p>
            <a:pPr marL="0" indent="0" algn="ctr">
              <a:buNone/>
            </a:pPr>
            <a:r>
              <a:rPr lang="en-US" sz="1100" b="1" dirty="0">
                <a:solidFill>
                  <a:srgbClr val="23272A"/>
                </a:solidFill>
                <a:latin typeface="Calibri" pitchFamily="34" charset="0"/>
                <a:ea typeface="Calibri" pitchFamily="34" charset="-122"/>
                <a:cs typeface="Calibri" pitchFamily="34" charset="-120"/>
              </a:rPr>
              <a:t>F1</a:t>
            </a:r>
            <a:endParaRPr lang="en-US" sz="1100" dirty="0"/>
          </a:p>
        </p:txBody>
      </p:sp>
      <p:sp>
        <p:nvSpPr>
          <p:cNvPr id="51" name="Shape 49"/>
          <p:cNvSpPr/>
          <p:nvPr/>
        </p:nvSpPr>
        <p:spPr>
          <a:xfrm>
            <a:off x="7022592" y="4754880"/>
            <a:ext cx="1280160" cy="329184"/>
          </a:xfrm>
          <a:prstGeom prst="roundRect">
            <a:avLst>
              <a:gd name="adj" fmla="val 22222"/>
            </a:avLst>
          </a:prstGeom>
          <a:solidFill>
            <a:srgbClr val="E7E6E1"/>
          </a:solidFill>
          <a:ln/>
        </p:spPr>
      </p:sp>
      <p:sp>
        <p:nvSpPr>
          <p:cNvPr id="52" name="Text 50"/>
          <p:cNvSpPr txBox="1"/>
          <p:nvPr/>
        </p:nvSpPr>
        <p:spPr>
          <a:xfrm>
            <a:off x="7022592" y="4754880"/>
            <a:ext cx="1280160" cy="329184"/>
          </a:xfrm>
          <a:prstGeom prst="rect">
            <a:avLst/>
          </a:prstGeom>
          <a:noFill/>
          <a:ln/>
        </p:spPr>
        <p:txBody>
          <a:bodyPr wrap="square" lIns="0" tIns="0" rIns="0" bIns="0" rtlCol="0" anchor="ctr"/>
          <a:lstStyle/>
          <a:p>
            <a:pPr marL="0" indent="0" algn="ctr">
              <a:buNone/>
            </a:pPr>
            <a:r>
              <a:rPr lang="en-US" sz="1100" b="1" dirty="0">
                <a:solidFill>
                  <a:srgbClr val="23272A"/>
                </a:solidFill>
                <a:latin typeface="Calibri" pitchFamily="34" charset="0"/>
                <a:ea typeface="Calibri" pitchFamily="34" charset="-122"/>
                <a:cs typeface="Calibri" pitchFamily="34" charset="-120"/>
              </a:rPr>
              <a:t>IoU / Dice</a:t>
            </a:r>
            <a:endParaRPr lang="en-US" sz="1100" dirty="0"/>
          </a:p>
        </p:txBody>
      </p:sp>
      <p:sp>
        <p:nvSpPr>
          <p:cNvPr id="53" name="Text 51"/>
          <p:cNvSpPr txBox="1"/>
          <p:nvPr/>
        </p:nvSpPr>
        <p:spPr>
          <a:xfrm>
            <a:off x="8092440" y="4434840"/>
            <a:ext cx="3200400" cy="274320"/>
          </a:xfrm>
          <a:prstGeom prst="rect">
            <a:avLst/>
          </a:prstGeom>
          <a:noFill/>
          <a:ln/>
        </p:spPr>
        <p:txBody>
          <a:bodyPr wrap="square" lIns="0" tIns="0" rIns="0" bIns="0" rtlCol="0" anchor="ctr"/>
          <a:lstStyle/>
          <a:p>
            <a:pPr marL="0" indent="0">
              <a:buNone/>
            </a:pPr>
            <a:r>
              <a:rPr lang="en-US" sz="1150" b="1" dirty="0">
                <a:solidFill>
                  <a:srgbClr val="C24C10"/>
                </a:solidFill>
                <a:latin typeface="Calibri" pitchFamily="34" charset="0"/>
                <a:ea typeface="Calibri" pitchFamily="34" charset="-122"/>
                <a:cs typeface="Calibri" pitchFamily="34" charset="-120"/>
              </a:rPr>
              <a:t>System</a:t>
            </a:r>
            <a:endParaRPr lang="en-US" sz="1150" dirty="0"/>
          </a:p>
        </p:txBody>
      </p:sp>
      <p:sp>
        <p:nvSpPr>
          <p:cNvPr id="54" name="Shape 52"/>
          <p:cNvSpPr/>
          <p:nvPr/>
        </p:nvSpPr>
        <p:spPr>
          <a:xfrm>
            <a:off x="8092440" y="4754880"/>
            <a:ext cx="1581912" cy="329184"/>
          </a:xfrm>
          <a:prstGeom prst="roundRect">
            <a:avLst>
              <a:gd name="adj" fmla="val 22222"/>
            </a:avLst>
          </a:prstGeom>
          <a:solidFill>
            <a:srgbClr val="E7E6E1"/>
          </a:solidFill>
          <a:ln/>
        </p:spPr>
      </p:sp>
      <p:sp>
        <p:nvSpPr>
          <p:cNvPr id="55" name="Text 53"/>
          <p:cNvSpPr txBox="1"/>
          <p:nvPr/>
        </p:nvSpPr>
        <p:spPr>
          <a:xfrm>
            <a:off x="8092440" y="4754880"/>
            <a:ext cx="1581912" cy="329184"/>
          </a:xfrm>
          <a:prstGeom prst="rect">
            <a:avLst/>
          </a:prstGeom>
          <a:noFill/>
          <a:ln/>
        </p:spPr>
        <p:txBody>
          <a:bodyPr wrap="square" lIns="0" tIns="0" rIns="0" bIns="0" rtlCol="0" anchor="ctr"/>
          <a:lstStyle/>
          <a:p>
            <a:pPr marL="0" indent="0" algn="ctr">
              <a:buNone/>
            </a:pPr>
            <a:r>
              <a:rPr lang="en-US" sz="1100" b="1" dirty="0">
                <a:solidFill>
                  <a:srgbClr val="23272A"/>
                </a:solidFill>
                <a:latin typeface="Calibri" pitchFamily="34" charset="0"/>
                <a:ea typeface="Calibri" pitchFamily="34" charset="-122"/>
                <a:cs typeface="Calibri" pitchFamily="34" charset="-120"/>
              </a:rPr>
              <a:t>Repeatability</a:t>
            </a:r>
            <a:endParaRPr lang="en-US" sz="1100" dirty="0"/>
          </a:p>
        </p:txBody>
      </p:sp>
      <p:sp>
        <p:nvSpPr>
          <p:cNvPr id="56" name="Shape 54"/>
          <p:cNvSpPr/>
          <p:nvPr/>
        </p:nvSpPr>
        <p:spPr>
          <a:xfrm>
            <a:off x="9784080" y="4754880"/>
            <a:ext cx="1783080" cy="329184"/>
          </a:xfrm>
          <a:prstGeom prst="roundRect">
            <a:avLst>
              <a:gd name="adj" fmla="val 22222"/>
            </a:avLst>
          </a:prstGeom>
          <a:solidFill>
            <a:srgbClr val="E7E6E1"/>
          </a:solidFill>
          <a:ln/>
        </p:spPr>
      </p:sp>
      <p:sp>
        <p:nvSpPr>
          <p:cNvPr id="57" name="Text 55"/>
          <p:cNvSpPr txBox="1"/>
          <p:nvPr/>
        </p:nvSpPr>
        <p:spPr>
          <a:xfrm>
            <a:off x="9784080" y="4754880"/>
            <a:ext cx="1783080" cy="329184"/>
          </a:xfrm>
          <a:prstGeom prst="rect">
            <a:avLst/>
          </a:prstGeom>
          <a:noFill/>
          <a:ln/>
        </p:spPr>
        <p:txBody>
          <a:bodyPr wrap="square" lIns="0" tIns="0" rIns="0" bIns="0" rtlCol="0" anchor="ctr"/>
          <a:lstStyle/>
          <a:p>
            <a:pPr marL="0" indent="0" algn="ctr">
              <a:buNone/>
            </a:pPr>
            <a:r>
              <a:rPr lang="en-US" sz="1100" b="1" dirty="0">
                <a:solidFill>
                  <a:srgbClr val="23272A"/>
                </a:solidFill>
                <a:latin typeface="Calibri" pitchFamily="34" charset="0"/>
                <a:ea typeface="Calibri" pitchFamily="34" charset="-122"/>
                <a:cs typeface="Calibri" pitchFamily="34" charset="-120"/>
              </a:rPr>
              <a:t>Processing Time</a:t>
            </a:r>
            <a:endParaRPr lang="en-US" sz="1100" dirty="0"/>
          </a:p>
        </p:txBody>
      </p:sp>
      <p:sp>
        <p:nvSpPr>
          <p:cNvPr id="58" name="Text 56"/>
          <p:cNvSpPr txBox="1"/>
          <p:nvPr/>
        </p:nvSpPr>
        <p:spPr>
          <a:xfrm>
            <a:off x="548640" y="5989320"/>
            <a:ext cx="11064240" cy="457200"/>
          </a:xfrm>
          <a:prstGeom prst="rect">
            <a:avLst/>
          </a:prstGeom>
          <a:noFill/>
          <a:ln/>
        </p:spPr>
        <p:txBody>
          <a:bodyPr wrap="square" rtlCol="0" anchor="ctr"/>
          <a:lstStyle/>
          <a:p>
            <a:pPr marL="0" indent="0" algn="ctr">
              <a:buNone/>
            </a:pPr>
            <a:r>
              <a:rPr lang="en-US" sz="1100" i="1" dirty="0">
                <a:solidFill>
                  <a:srgbClr val="5B5F61"/>
                </a:solidFill>
                <a:latin typeface="Calibri" pitchFamily="34" charset="0"/>
                <a:ea typeface="Calibri" pitchFamily="34" charset="-122"/>
                <a:cs typeface="Calibri" pitchFamily="34" charset="-120"/>
              </a:rPr>
              <a:t>We don't want to show the system only produces a number - we need to show that number is close to a reliable reference, across widths and imaging conditions.</a:t>
            </a:r>
            <a:endParaRPr lang="en-US" sz="1100" dirty="0"/>
          </a:p>
        </p:txBody>
      </p:sp>
      <p:sp>
        <p:nvSpPr>
          <p:cNvPr id="59" name="Text 57"/>
          <p:cNvSpPr txBox="1"/>
          <p:nvPr/>
        </p:nvSpPr>
        <p:spPr>
          <a:xfrm>
            <a:off x="11292840" y="6510528"/>
            <a:ext cx="731520" cy="274320"/>
          </a:xfrm>
          <a:prstGeom prst="rect">
            <a:avLst/>
          </a:prstGeom>
          <a:noFill/>
          <a:ln/>
        </p:spPr>
        <p:txBody>
          <a:bodyPr wrap="square" rtlCol="0" anchor="ctr"/>
          <a:lstStyle/>
          <a:p>
            <a:pPr marL="0" indent="0" algn="r">
              <a:buNone/>
            </a:pPr>
            <a:r>
              <a:rPr lang="en-US" sz="900" dirty="0">
                <a:solidFill>
                  <a:srgbClr val="8C8C86"/>
                </a:solidFill>
                <a:latin typeface="Calibri" pitchFamily="34" charset="0"/>
                <a:ea typeface="Calibri" pitchFamily="34" charset="-122"/>
                <a:cs typeface="Calibri" pitchFamily="34" charset="-120"/>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3272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F2661F"/>
                </a:solidFill>
                <a:latin typeface="Calibri" pitchFamily="34" charset="0"/>
                <a:ea typeface="Calibri" pitchFamily="34" charset="-122"/>
                <a:cs typeface="Calibri" pitchFamily="34" charset="-120"/>
              </a:rPr>
              <a:t>THE ROAD AHEAD</a:t>
            </a:r>
            <a:endParaRPr lang="en-US" sz="1200" dirty="0"/>
          </a:p>
        </p:txBody>
      </p:sp>
      <p:sp>
        <p:nvSpPr>
          <p:cNvPr id="3" name="Text 1"/>
          <p:cNvSpPr txBox="1"/>
          <p:nvPr/>
        </p:nvSpPr>
        <p:spPr>
          <a:xfrm>
            <a:off x="548640" y="621792"/>
            <a:ext cx="105156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Roadmap &amp; Expected Impact</a:t>
            </a:r>
            <a:endParaRPr lang="en-US" sz="3000" dirty="0"/>
          </a:p>
        </p:txBody>
      </p:sp>
      <p:sp>
        <p:nvSpPr>
          <p:cNvPr id="4" name="Shape 2"/>
          <p:cNvSpPr/>
          <p:nvPr/>
        </p:nvSpPr>
        <p:spPr>
          <a:xfrm>
            <a:off x="1078992" y="1417320"/>
            <a:ext cx="402336" cy="402336"/>
          </a:xfrm>
          <a:prstGeom prst="ellipse">
            <a:avLst/>
          </a:prstGeom>
          <a:solidFill>
            <a:srgbClr val="F2661F"/>
          </a:solidFill>
          <a:ln/>
        </p:spPr>
      </p:sp>
      <p:sp>
        <p:nvSpPr>
          <p:cNvPr id="5" name="Text 3"/>
          <p:cNvSpPr txBox="1"/>
          <p:nvPr/>
        </p:nvSpPr>
        <p:spPr>
          <a:xfrm>
            <a:off x="1078992" y="1417320"/>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P1</a:t>
            </a:r>
            <a:endParaRPr lang="en-US" sz="1200" dirty="0"/>
          </a:p>
        </p:txBody>
      </p:sp>
      <p:sp>
        <p:nvSpPr>
          <p:cNvPr id="6" name="Text 4"/>
          <p:cNvSpPr txBox="1"/>
          <p:nvPr/>
        </p:nvSpPr>
        <p:spPr>
          <a:xfrm>
            <a:off x="548640" y="1920240"/>
            <a:ext cx="1463040" cy="685800"/>
          </a:xfrm>
          <a:prstGeom prst="rect">
            <a:avLst/>
          </a:prstGeom>
          <a:noFill/>
          <a:ln/>
        </p:spPr>
        <p:txBody>
          <a:bodyPr wrap="square" lIns="0" tIns="0" rIns="0" bIns="0" rtlCol="0" anchor="ctr"/>
          <a:lstStyle/>
          <a:p>
            <a:pPr marL="0" indent="0" algn="ctr">
              <a:buNone/>
            </a:pPr>
            <a:r>
              <a:rPr lang="en-US" sz="900" dirty="0">
                <a:solidFill>
                  <a:srgbClr val="E7E6E1"/>
                </a:solidFill>
                <a:latin typeface="Calibri" pitchFamily="34" charset="0"/>
                <a:ea typeface="Calibri" pitchFamily="34" charset="-122"/>
                <a:cs typeface="Calibri" pitchFamily="34" charset="-120"/>
              </a:rPr>
              <a:t>Camera + Sample Images</a:t>
            </a:r>
            <a:endParaRPr lang="en-US" sz="900" dirty="0"/>
          </a:p>
        </p:txBody>
      </p:sp>
      <p:sp>
        <p:nvSpPr>
          <p:cNvPr id="7" name="Shape 5"/>
          <p:cNvSpPr/>
          <p:nvPr/>
        </p:nvSpPr>
        <p:spPr>
          <a:xfrm>
            <a:off x="2011680" y="1618488"/>
            <a:ext cx="137160" cy="0"/>
          </a:xfrm>
          <a:prstGeom prst="line">
            <a:avLst/>
          </a:prstGeom>
          <a:noFill/>
          <a:ln w="25400">
            <a:solidFill>
              <a:srgbClr val="8C8C86"/>
            </a:solidFill>
            <a:prstDash val="solid"/>
            <a:tailEnd type="triangle"/>
          </a:ln>
        </p:spPr>
      </p:sp>
      <p:sp>
        <p:nvSpPr>
          <p:cNvPr id="8" name="Shape 6"/>
          <p:cNvSpPr/>
          <p:nvPr/>
        </p:nvSpPr>
        <p:spPr>
          <a:xfrm>
            <a:off x="2679192" y="1417320"/>
            <a:ext cx="402336" cy="402336"/>
          </a:xfrm>
          <a:prstGeom prst="ellipse">
            <a:avLst/>
          </a:prstGeom>
          <a:solidFill>
            <a:srgbClr val="F2661F"/>
          </a:solidFill>
          <a:ln/>
        </p:spPr>
      </p:sp>
      <p:sp>
        <p:nvSpPr>
          <p:cNvPr id="9" name="Text 7"/>
          <p:cNvSpPr txBox="1"/>
          <p:nvPr/>
        </p:nvSpPr>
        <p:spPr>
          <a:xfrm>
            <a:off x="2679192" y="1417320"/>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P2</a:t>
            </a:r>
            <a:endParaRPr lang="en-US" sz="1200" dirty="0"/>
          </a:p>
        </p:txBody>
      </p:sp>
      <p:sp>
        <p:nvSpPr>
          <p:cNvPr id="10" name="Text 8"/>
          <p:cNvSpPr txBox="1"/>
          <p:nvPr/>
        </p:nvSpPr>
        <p:spPr>
          <a:xfrm>
            <a:off x="2148840" y="1920240"/>
            <a:ext cx="1463040" cy="685800"/>
          </a:xfrm>
          <a:prstGeom prst="rect">
            <a:avLst/>
          </a:prstGeom>
          <a:noFill/>
          <a:ln/>
        </p:spPr>
        <p:txBody>
          <a:bodyPr wrap="square" lIns="0" tIns="0" rIns="0" bIns="0" rtlCol="0" anchor="ctr"/>
          <a:lstStyle/>
          <a:p>
            <a:pPr marL="0" indent="0" algn="ctr">
              <a:buNone/>
            </a:pPr>
            <a:r>
              <a:rPr lang="en-US" sz="900" dirty="0">
                <a:solidFill>
                  <a:srgbClr val="E7E6E1"/>
                </a:solidFill>
                <a:latin typeface="Calibri" pitchFamily="34" charset="0"/>
                <a:ea typeface="Calibri" pitchFamily="34" charset="-122"/>
                <a:cs typeface="Calibri" pitchFamily="34" charset="-120"/>
              </a:rPr>
              <a:t>Crack Segmentation</a:t>
            </a:r>
            <a:endParaRPr lang="en-US" sz="900" dirty="0"/>
          </a:p>
        </p:txBody>
      </p:sp>
      <p:sp>
        <p:nvSpPr>
          <p:cNvPr id="11" name="Shape 9"/>
          <p:cNvSpPr/>
          <p:nvPr/>
        </p:nvSpPr>
        <p:spPr>
          <a:xfrm>
            <a:off x="3611880" y="1618488"/>
            <a:ext cx="137160" cy="0"/>
          </a:xfrm>
          <a:prstGeom prst="line">
            <a:avLst/>
          </a:prstGeom>
          <a:noFill/>
          <a:ln w="25400">
            <a:solidFill>
              <a:srgbClr val="8C8C86"/>
            </a:solidFill>
            <a:prstDash val="solid"/>
            <a:tailEnd type="triangle"/>
          </a:ln>
        </p:spPr>
      </p:sp>
      <p:sp>
        <p:nvSpPr>
          <p:cNvPr id="12" name="Shape 10"/>
          <p:cNvSpPr/>
          <p:nvPr/>
        </p:nvSpPr>
        <p:spPr>
          <a:xfrm>
            <a:off x="4279392" y="1417320"/>
            <a:ext cx="402336" cy="402336"/>
          </a:xfrm>
          <a:prstGeom prst="ellipse">
            <a:avLst/>
          </a:prstGeom>
          <a:solidFill>
            <a:srgbClr val="F2661F"/>
          </a:solidFill>
          <a:ln/>
        </p:spPr>
      </p:sp>
      <p:sp>
        <p:nvSpPr>
          <p:cNvPr id="13" name="Text 11"/>
          <p:cNvSpPr txBox="1"/>
          <p:nvPr/>
        </p:nvSpPr>
        <p:spPr>
          <a:xfrm>
            <a:off x="4279392" y="1417320"/>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P3</a:t>
            </a:r>
            <a:endParaRPr lang="en-US" sz="1200" dirty="0"/>
          </a:p>
        </p:txBody>
      </p:sp>
      <p:sp>
        <p:nvSpPr>
          <p:cNvPr id="14" name="Text 12"/>
          <p:cNvSpPr txBox="1"/>
          <p:nvPr/>
        </p:nvSpPr>
        <p:spPr>
          <a:xfrm>
            <a:off x="3749040" y="1920240"/>
            <a:ext cx="1463040" cy="685800"/>
          </a:xfrm>
          <a:prstGeom prst="rect">
            <a:avLst/>
          </a:prstGeom>
          <a:noFill/>
          <a:ln/>
        </p:spPr>
        <p:txBody>
          <a:bodyPr wrap="square" lIns="0" tIns="0" rIns="0" bIns="0" rtlCol="0" anchor="ctr"/>
          <a:lstStyle/>
          <a:p>
            <a:pPr marL="0" indent="0" algn="ctr">
              <a:buNone/>
            </a:pPr>
            <a:r>
              <a:rPr lang="en-US" sz="900" dirty="0">
                <a:solidFill>
                  <a:srgbClr val="E7E6E1"/>
                </a:solidFill>
                <a:latin typeface="Calibri" pitchFamily="34" charset="0"/>
                <a:ea typeface="Calibri" pitchFamily="34" charset="-122"/>
                <a:cs typeface="Calibri" pitchFamily="34" charset="-120"/>
              </a:rPr>
              <a:t>Width/Length/Orientation</a:t>
            </a:r>
            <a:endParaRPr lang="en-US" sz="900" dirty="0"/>
          </a:p>
        </p:txBody>
      </p:sp>
      <p:sp>
        <p:nvSpPr>
          <p:cNvPr id="15" name="Shape 13"/>
          <p:cNvSpPr/>
          <p:nvPr/>
        </p:nvSpPr>
        <p:spPr>
          <a:xfrm>
            <a:off x="5212080" y="1618488"/>
            <a:ext cx="137160" cy="0"/>
          </a:xfrm>
          <a:prstGeom prst="line">
            <a:avLst/>
          </a:prstGeom>
          <a:noFill/>
          <a:ln w="25400">
            <a:solidFill>
              <a:srgbClr val="8C8C86"/>
            </a:solidFill>
            <a:prstDash val="solid"/>
            <a:tailEnd type="triangle"/>
          </a:ln>
        </p:spPr>
      </p:sp>
      <p:sp>
        <p:nvSpPr>
          <p:cNvPr id="16" name="Shape 14"/>
          <p:cNvSpPr/>
          <p:nvPr/>
        </p:nvSpPr>
        <p:spPr>
          <a:xfrm>
            <a:off x="5879592" y="1417320"/>
            <a:ext cx="402336" cy="402336"/>
          </a:xfrm>
          <a:prstGeom prst="ellipse">
            <a:avLst/>
          </a:prstGeom>
          <a:solidFill>
            <a:srgbClr val="F2661F"/>
          </a:solidFill>
          <a:ln/>
        </p:spPr>
      </p:sp>
      <p:sp>
        <p:nvSpPr>
          <p:cNvPr id="17" name="Text 15"/>
          <p:cNvSpPr txBox="1"/>
          <p:nvPr/>
        </p:nvSpPr>
        <p:spPr>
          <a:xfrm>
            <a:off x="5879592" y="1417320"/>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P4</a:t>
            </a:r>
            <a:endParaRPr lang="en-US" sz="1200" dirty="0"/>
          </a:p>
        </p:txBody>
      </p:sp>
      <p:sp>
        <p:nvSpPr>
          <p:cNvPr id="18" name="Text 16"/>
          <p:cNvSpPr txBox="1"/>
          <p:nvPr/>
        </p:nvSpPr>
        <p:spPr>
          <a:xfrm>
            <a:off x="5349240" y="1920240"/>
            <a:ext cx="1463040" cy="685800"/>
          </a:xfrm>
          <a:prstGeom prst="rect">
            <a:avLst/>
          </a:prstGeom>
          <a:noFill/>
          <a:ln/>
        </p:spPr>
        <p:txBody>
          <a:bodyPr wrap="square" lIns="0" tIns="0" rIns="0" bIns="0" rtlCol="0" anchor="ctr"/>
          <a:lstStyle/>
          <a:p>
            <a:pPr marL="0" indent="0" algn="ctr">
              <a:buNone/>
            </a:pPr>
            <a:r>
              <a:rPr lang="en-US" sz="900" dirty="0">
                <a:solidFill>
                  <a:srgbClr val="E7E6E1"/>
                </a:solidFill>
                <a:latin typeface="Calibri" pitchFamily="34" charset="0"/>
                <a:ea typeface="Calibri" pitchFamily="34" charset="-122"/>
                <a:cs typeface="Calibri" pitchFamily="34" charset="-120"/>
              </a:rPr>
              <a:t>Physical Calibration</a:t>
            </a:r>
            <a:endParaRPr lang="en-US" sz="900" dirty="0"/>
          </a:p>
        </p:txBody>
      </p:sp>
      <p:sp>
        <p:nvSpPr>
          <p:cNvPr id="19" name="Shape 17"/>
          <p:cNvSpPr/>
          <p:nvPr/>
        </p:nvSpPr>
        <p:spPr>
          <a:xfrm>
            <a:off x="6812280" y="1618488"/>
            <a:ext cx="137160" cy="0"/>
          </a:xfrm>
          <a:prstGeom prst="line">
            <a:avLst/>
          </a:prstGeom>
          <a:noFill/>
          <a:ln w="25400">
            <a:solidFill>
              <a:srgbClr val="8C8C86"/>
            </a:solidFill>
            <a:prstDash val="solid"/>
            <a:tailEnd type="triangle"/>
          </a:ln>
        </p:spPr>
      </p:sp>
      <p:sp>
        <p:nvSpPr>
          <p:cNvPr id="20" name="Shape 18"/>
          <p:cNvSpPr/>
          <p:nvPr/>
        </p:nvSpPr>
        <p:spPr>
          <a:xfrm>
            <a:off x="7479792" y="1417320"/>
            <a:ext cx="402336" cy="402336"/>
          </a:xfrm>
          <a:prstGeom prst="ellipse">
            <a:avLst/>
          </a:prstGeom>
          <a:solidFill>
            <a:srgbClr val="F2661F"/>
          </a:solidFill>
          <a:ln/>
        </p:spPr>
      </p:sp>
      <p:sp>
        <p:nvSpPr>
          <p:cNvPr id="21" name="Text 19"/>
          <p:cNvSpPr txBox="1"/>
          <p:nvPr/>
        </p:nvSpPr>
        <p:spPr>
          <a:xfrm>
            <a:off x="7479792" y="1417320"/>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P5</a:t>
            </a:r>
            <a:endParaRPr lang="en-US" sz="1200" dirty="0"/>
          </a:p>
        </p:txBody>
      </p:sp>
      <p:sp>
        <p:nvSpPr>
          <p:cNvPr id="22" name="Text 20"/>
          <p:cNvSpPr txBox="1"/>
          <p:nvPr/>
        </p:nvSpPr>
        <p:spPr>
          <a:xfrm>
            <a:off x="6949440" y="1920240"/>
            <a:ext cx="1463040" cy="685800"/>
          </a:xfrm>
          <a:prstGeom prst="rect">
            <a:avLst/>
          </a:prstGeom>
          <a:noFill/>
          <a:ln/>
        </p:spPr>
        <p:txBody>
          <a:bodyPr wrap="square" lIns="0" tIns="0" rIns="0" bIns="0" rtlCol="0" anchor="ctr"/>
          <a:lstStyle/>
          <a:p>
            <a:pPr marL="0" indent="0" algn="ctr">
              <a:buNone/>
            </a:pPr>
            <a:r>
              <a:rPr lang="en-US" sz="900" dirty="0">
                <a:solidFill>
                  <a:srgbClr val="E7E6E1"/>
                </a:solidFill>
                <a:latin typeface="Calibri" pitchFamily="34" charset="0"/>
                <a:ea typeface="Calibri" pitchFamily="34" charset="-122"/>
                <a:cs typeface="Calibri" pitchFamily="34" charset="-120"/>
              </a:rPr>
              <a:t>RPi Prototype</a:t>
            </a:r>
            <a:endParaRPr lang="en-US" sz="900" dirty="0"/>
          </a:p>
        </p:txBody>
      </p:sp>
      <p:sp>
        <p:nvSpPr>
          <p:cNvPr id="23" name="Shape 21"/>
          <p:cNvSpPr/>
          <p:nvPr/>
        </p:nvSpPr>
        <p:spPr>
          <a:xfrm>
            <a:off x="8412480" y="1641089"/>
            <a:ext cx="137160" cy="0"/>
          </a:xfrm>
          <a:prstGeom prst="line">
            <a:avLst/>
          </a:prstGeom>
          <a:noFill/>
          <a:ln w="25400">
            <a:solidFill>
              <a:srgbClr val="8C8C86"/>
            </a:solidFill>
            <a:prstDash val="solid"/>
            <a:tailEnd type="triangle"/>
          </a:ln>
        </p:spPr>
      </p:sp>
      <p:sp>
        <p:nvSpPr>
          <p:cNvPr id="24" name="Shape 22"/>
          <p:cNvSpPr/>
          <p:nvPr/>
        </p:nvSpPr>
        <p:spPr>
          <a:xfrm>
            <a:off x="9079992" y="1417320"/>
            <a:ext cx="402336" cy="402336"/>
          </a:xfrm>
          <a:prstGeom prst="ellipse">
            <a:avLst/>
          </a:prstGeom>
          <a:solidFill>
            <a:srgbClr val="F2661F"/>
          </a:solidFill>
          <a:ln/>
        </p:spPr>
      </p:sp>
      <p:sp>
        <p:nvSpPr>
          <p:cNvPr id="25" name="Text 23"/>
          <p:cNvSpPr txBox="1"/>
          <p:nvPr/>
        </p:nvSpPr>
        <p:spPr>
          <a:xfrm>
            <a:off x="9079992" y="1417320"/>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P6</a:t>
            </a:r>
            <a:endParaRPr lang="en-US" sz="1200" dirty="0"/>
          </a:p>
        </p:txBody>
      </p:sp>
      <p:sp>
        <p:nvSpPr>
          <p:cNvPr id="26" name="Text 24"/>
          <p:cNvSpPr txBox="1"/>
          <p:nvPr/>
        </p:nvSpPr>
        <p:spPr>
          <a:xfrm>
            <a:off x="8549640" y="1920240"/>
            <a:ext cx="1463040" cy="685800"/>
          </a:xfrm>
          <a:prstGeom prst="rect">
            <a:avLst/>
          </a:prstGeom>
          <a:noFill/>
          <a:ln/>
        </p:spPr>
        <p:txBody>
          <a:bodyPr wrap="square" lIns="0" tIns="0" rIns="0" bIns="0" rtlCol="0" anchor="ctr"/>
          <a:lstStyle/>
          <a:p>
            <a:pPr marL="0" indent="0" algn="ctr">
              <a:buNone/>
            </a:pPr>
            <a:r>
              <a:rPr lang="en-US" sz="900" dirty="0">
                <a:solidFill>
                  <a:srgbClr val="E7E6E1"/>
                </a:solidFill>
                <a:latin typeface="Calibri" pitchFamily="34" charset="0"/>
                <a:ea typeface="Calibri" pitchFamily="34" charset="-122"/>
                <a:cs typeface="Calibri" pitchFamily="34" charset="-120"/>
              </a:rPr>
              <a:t>Dashboard + Database</a:t>
            </a:r>
            <a:endParaRPr lang="en-US" sz="900" dirty="0"/>
          </a:p>
        </p:txBody>
      </p:sp>
      <p:sp>
        <p:nvSpPr>
          <p:cNvPr id="27" name="Shape 25"/>
          <p:cNvSpPr/>
          <p:nvPr/>
        </p:nvSpPr>
        <p:spPr>
          <a:xfrm>
            <a:off x="10012680" y="1618488"/>
            <a:ext cx="137160" cy="0"/>
          </a:xfrm>
          <a:prstGeom prst="line">
            <a:avLst/>
          </a:prstGeom>
          <a:noFill/>
          <a:ln w="25400">
            <a:solidFill>
              <a:srgbClr val="8C8C86"/>
            </a:solidFill>
            <a:prstDash val="solid"/>
            <a:tailEnd type="triangle"/>
          </a:ln>
        </p:spPr>
      </p:sp>
      <p:sp>
        <p:nvSpPr>
          <p:cNvPr id="28" name="Shape 26"/>
          <p:cNvSpPr/>
          <p:nvPr/>
        </p:nvSpPr>
        <p:spPr>
          <a:xfrm>
            <a:off x="10680192" y="1417320"/>
            <a:ext cx="402336" cy="402336"/>
          </a:xfrm>
          <a:prstGeom prst="ellipse">
            <a:avLst/>
          </a:prstGeom>
          <a:solidFill>
            <a:srgbClr val="F2661F"/>
          </a:solidFill>
          <a:ln/>
        </p:spPr>
      </p:sp>
      <p:sp>
        <p:nvSpPr>
          <p:cNvPr id="29" name="Text 27"/>
          <p:cNvSpPr txBox="1"/>
          <p:nvPr/>
        </p:nvSpPr>
        <p:spPr>
          <a:xfrm>
            <a:off x="10680192" y="1417320"/>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P7</a:t>
            </a:r>
            <a:endParaRPr lang="en-US" sz="1200" dirty="0"/>
          </a:p>
        </p:txBody>
      </p:sp>
      <p:sp>
        <p:nvSpPr>
          <p:cNvPr id="30" name="Text 28"/>
          <p:cNvSpPr txBox="1"/>
          <p:nvPr/>
        </p:nvSpPr>
        <p:spPr>
          <a:xfrm>
            <a:off x="10149840" y="1920240"/>
            <a:ext cx="1463040" cy="685800"/>
          </a:xfrm>
          <a:prstGeom prst="rect">
            <a:avLst/>
          </a:prstGeom>
          <a:noFill/>
          <a:ln/>
        </p:spPr>
        <p:txBody>
          <a:bodyPr wrap="square" lIns="0" tIns="0" rIns="0" bIns="0" rtlCol="0" anchor="ctr"/>
          <a:lstStyle/>
          <a:p>
            <a:pPr marL="0" indent="0" algn="ctr">
              <a:buNone/>
            </a:pPr>
            <a:r>
              <a:rPr lang="en-US" sz="900" dirty="0">
                <a:solidFill>
                  <a:srgbClr val="E7E6E1"/>
                </a:solidFill>
                <a:latin typeface="Calibri" pitchFamily="34" charset="0"/>
                <a:ea typeface="Calibri" pitchFamily="34" charset="-122"/>
                <a:cs typeface="Calibri" pitchFamily="34" charset="-120"/>
              </a:rPr>
              <a:t>Validation</a:t>
            </a:r>
            <a:endParaRPr lang="en-US" sz="900" dirty="0"/>
          </a:p>
        </p:txBody>
      </p:sp>
      <p:sp>
        <p:nvSpPr>
          <p:cNvPr id="31" name="Shape 29"/>
          <p:cNvSpPr/>
          <p:nvPr/>
        </p:nvSpPr>
        <p:spPr>
          <a:xfrm>
            <a:off x="10058400" y="1399032"/>
            <a:ext cx="1691640" cy="457200"/>
          </a:xfrm>
          <a:prstGeom prst="roundRect">
            <a:avLst>
              <a:gd name="adj" fmla="val 16000"/>
            </a:avLst>
          </a:prstGeom>
          <a:solidFill>
            <a:srgbClr val="FFFFFF"/>
          </a:solidFill>
          <a:ln/>
        </p:spPr>
      </p:sp>
      <p:sp>
        <p:nvSpPr>
          <p:cNvPr id="32" name="Text 30"/>
          <p:cNvSpPr txBox="1"/>
          <p:nvPr/>
        </p:nvSpPr>
        <p:spPr>
          <a:xfrm>
            <a:off x="10058400" y="1399032"/>
            <a:ext cx="1691640" cy="457200"/>
          </a:xfrm>
          <a:prstGeom prst="rect">
            <a:avLst/>
          </a:prstGeom>
          <a:noFill/>
          <a:ln/>
        </p:spPr>
        <p:txBody>
          <a:bodyPr wrap="square" lIns="0" tIns="0" rIns="0" bIns="0" rtlCol="0" anchor="ctr"/>
          <a:lstStyle/>
          <a:p>
            <a:pPr marL="0" indent="0" algn="ctr">
              <a:buNone/>
            </a:pPr>
            <a:r>
              <a:rPr lang="en-US" sz="1100" b="1" dirty="0">
                <a:solidFill>
                  <a:srgbClr val="23272A"/>
                </a:solidFill>
                <a:latin typeface="Calibri" pitchFamily="34" charset="0"/>
                <a:ea typeface="Calibri" pitchFamily="34" charset="-122"/>
                <a:cs typeface="Calibri" pitchFamily="34" charset="-120"/>
              </a:rPr>
              <a:t>FINAL PROTOTYPE</a:t>
            </a:r>
            <a:endParaRPr lang="en-US" sz="1100" dirty="0"/>
          </a:p>
        </p:txBody>
      </p:sp>
      <p:sp>
        <p:nvSpPr>
          <p:cNvPr id="33" name="Text 31"/>
          <p:cNvSpPr txBox="1"/>
          <p:nvPr/>
        </p:nvSpPr>
        <p:spPr>
          <a:xfrm>
            <a:off x="548640" y="2606040"/>
            <a:ext cx="4572000" cy="3200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Expected Final System</a:t>
            </a:r>
            <a:endParaRPr lang="en-US" sz="1500" dirty="0"/>
          </a:p>
        </p:txBody>
      </p:sp>
      <p:sp>
        <p:nvSpPr>
          <p:cNvPr id="34" name="Shape 32"/>
          <p:cNvSpPr/>
          <p:nvPr/>
        </p:nvSpPr>
        <p:spPr>
          <a:xfrm>
            <a:off x="548640" y="3017520"/>
            <a:ext cx="3611880" cy="777240"/>
          </a:xfrm>
          <a:prstGeom prst="roundRect">
            <a:avLst>
              <a:gd name="adj" fmla="val 7059"/>
            </a:avLst>
          </a:prstGeom>
          <a:solidFill>
            <a:srgbClr val="2E3336"/>
          </a:solidFill>
          <a:ln/>
        </p:spPr>
      </p:sp>
      <p:sp>
        <p:nvSpPr>
          <p:cNvPr id="35" name="Text 33"/>
          <p:cNvSpPr txBox="1"/>
          <p:nvPr/>
        </p:nvSpPr>
        <p:spPr>
          <a:xfrm>
            <a:off x="713232" y="3108960"/>
            <a:ext cx="3282696" cy="274320"/>
          </a:xfrm>
          <a:prstGeom prst="rect">
            <a:avLst/>
          </a:prstGeom>
          <a:noFill/>
          <a:ln/>
        </p:spPr>
        <p:txBody>
          <a:bodyPr wrap="square" lIns="0" tIns="0" rIns="0" bIns="0" rtlCol="0" anchor="ctr"/>
          <a:lstStyle/>
          <a:p>
            <a:pPr marL="0" indent="0">
              <a:buNone/>
            </a:pPr>
            <a:r>
              <a:rPr lang="en-US" sz="1300" b="1" dirty="0">
                <a:solidFill>
                  <a:srgbClr val="F2661F"/>
                </a:solidFill>
                <a:latin typeface="Cambria" pitchFamily="34" charset="0"/>
                <a:ea typeface="Cambria" pitchFamily="34" charset="-122"/>
                <a:cs typeface="Cambria" pitchFamily="34" charset="-120"/>
              </a:rPr>
              <a:t>Portable</a:t>
            </a:r>
            <a:endParaRPr lang="en-US" sz="1300" dirty="0"/>
          </a:p>
        </p:txBody>
      </p:sp>
      <p:sp>
        <p:nvSpPr>
          <p:cNvPr id="36" name="Text 34"/>
          <p:cNvSpPr txBox="1"/>
          <p:nvPr/>
        </p:nvSpPr>
        <p:spPr>
          <a:xfrm>
            <a:off x="713232" y="3401568"/>
            <a:ext cx="3282696" cy="365760"/>
          </a:xfrm>
          <a:prstGeom prst="rect">
            <a:avLst/>
          </a:prstGeom>
          <a:noFill/>
          <a:ln/>
        </p:spPr>
        <p:txBody>
          <a:bodyPr wrap="square" lIns="0" tIns="0" rIns="0" bIns="0" rtlCol="0" anchor="ctr"/>
          <a:lstStyle/>
          <a:p>
            <a:pPr marL="0" indent="0">
              <a:buNone/>
            </a:pPr>
            <a:r>
              <a:rPr lang="en-US" sz="1000" dirty="0">
                <a:solidFill>
                  <a:srgbClr val="E7E6E1"/>
                </a:solidFill>
                <a:latin typeface="Calibri" pitchFamily="34" charset="0"/>
                <a:ea typeface="Calibri" pitchFamily="34" charset="-122"/>
                <a:cs typeface="Calibri" pitchFamily="34" charset="-120"/>
              </a:rPr>
              <a:t>Easy to carry during inspection</a:t>
            </a:r>
            <a:endParaRPr lang="en-US" sz="1000" dirty="0"/>
          </a:p>
        </p:txBody>
      </p:sp>
      <p:sp>
        <p:nvSpPr>
          <p:cNvPr id="37" name="Shape 35"/>
          <p:cNvSpPr/>
          <p:nvPr/>
        </p:nvSpPr>
        <p:spPr>
          <a:xfrm>
            <a:off x="4297680" y="3017520"/>
            <a:ext cx="3611880" cy="777240"/>
          </a:xfrm>
          <a:prstGeom prst="roundRect">
            <a:avLst>
              <a:gd name="adj" fmla="val 7059"/>
            </a:avLst>
          </a:prstGeom>
          <a:solidFill>
            <a:srgbClr val="2E3336"/>
          </a:solidFill>
          <a:ln/>
        </p:spPr>
      </p:sp>
      <p:sp>
        <p:nvSpPr>
          <p:cNvPr id="38" name="Text 36"/>
          <p:cNvSpPr txBox="1"/>
          <p:nvPr/>
        </p:nvSpPr>
        <p:spPr>
          <a:xfrm>
            <a:off x="4462272" y="3108960"/>
            <a:ext cx="3282696" cy="274320"/>
          </a:xfrm>
          <a:prstGeom prst="rect">
            <a:avLst/>
          </a:prstGeom>
          <a:noFill/>
          <a:ln/>
        </p:spPr>
        <p:txBody>
          <a:bodyPr wrap="square" lIns="0" tIns="0" rIns="0" bIns="0" rtlCol="0" anchor="ctr"/>
          <a:lstStyle/>
          <a:p>
            <a:pPr marL="0" indent="0">
              <a:buNone/>
            </a:pPr>
            <a:r>
              <a:rPr lang="en-US" sz="1300" b="1" dirty="0">
                <a:solidFill>
                  <a:srgbClr val="F2661F"/>
                </a:solidFill>
                <a:latin typeface="Cambria" pitchFamily="34" charset="0"/>
                <a:ea typeface="Cambria" pitchFamily="34" charset="-122"/>
                <a:cs typeface="Cambria" pitchFamily="34" charset="-120"/>
              </a:rPr>
              <a:t>Low-cost</a:t>
            </a:r>
            <a:endParaRPr lang="en-US" sz="1300" dirty="0"/>
          </a:p>
        </p:txBody>
      </p:sp>
      <p:sp>
        <p:nvSpPr>
          <p:cNvPr id="39" name="Text 37"/>
          <p:cNvSpPr txBox="1"/>
          <p:nvPr/>
        </p:nvSpPr>
        <p:spPr>
          <a:xfrm>
            <a:off x="4462272" y="3401568"/>
            <a:ext cx="3282696" cy="365760"/>
          </a:xfrm>
          <a:prstGeom prst="rect">
            <a:avLst/>
          </a:prstGeom>
          <a:noFill/>
          <a:ln/>
        </p:spPr>
        <p:txBody>
          <a:bodyPr wrap="square" lIns="0" tIns="0" rIns="0" bIns="0" rtlCol="0" anchor="ctr"/>
          <a:lstStyle/>
          <a:p>
            <a:pPr marL="0" indent="0">
              <a:buNone/>
            </a:pPr>
            <a:r>
              <a:rPr lang="en-US" sz="1000" dirty="0">
                <a:solidFill>
                  <a:srgbClr val="E7E6E1"/>
                </a:solidFill>
                <a:latin typeface="Calibri" pitchFamily="34" charset="0"/>
                <a:ea typeface="Calibri" pitchFamily="34" charset="-122"/>
                <a:cs typeface="Calibri" pitchFamily="34" charset="-120"/>
              </a:rPr>
              <a:t>Uses affordable hardware</a:t>
            </a:r>
            <a:endParaRPr lang="en-US" sz="1000" dirty="0"/>
          </a:p>
        </p:txBody>
      </p:sp>
      <p:sp>
        <p:nvSpPr>
          <p:cNvPr id="40" name="Shape 38"/>
          <p:cNvSpPr/>
          <p:nvPr/>
        </p:nvSpPr>
        <p:spPr>
          <a:xfrm>
            <a:off x="8046720" y="3017520"/>
            <a:ext cx="3611880" cy="777240"/>
          </a:xfrm>
          <a:prstGeom prst="roundRect">
            <a:avLst>
              <a:gd name="adj" fmla="val 7059"/>
            </a:avLst>
          </a:prstGeom>
          <a:solidFill>
            <a:srgbClr val="2E3336"/>
          </a:solidFill>
          <a:ln/>
        </p:spPr>
      </p:sp>
      <p:sp>
        <p:nvSpPr>
          <p:cNvPr id="41" name="Text 39"/>
          <p:cNvSpPr txBox="1"/>
          <p:nvPr/>
        </p:nvSpPr>
        <p:spPr>
          <a:xfrm>
            <a:off x="8211312" y="3108960"/>
            <a:ext cx="3282696" cy="274320"/>
          </a:xfrm>
          <a:prstGeom prst="rect">
            <a:avLst/>
          </a:prstGeom>
          <a:noFill/>
          <a:ln/>
        </p:spPr>
        <p:txBody>
          <a:bodyPr wrap="square" lIns="0" tIns="0" rIns="0" bIns="0" rtlCol="0" anchor="ctr"/>
          <a:lstStyle/>
          <a:p>
            <a:pPr marL="0" indent="0">
              <a:buNone/>
            </a:pPr>
            <a:r>
              <a:rPr lang="en-US" sz="1300" b="1" dirty="0">
                <a:solidFill>
                  <a:srgbClr val="F2661F"/>
                </a:solidFill>
                <a:latin typeface="Cambria" pitchFamily="34" charset="0"/>
                <a:ea typeface="Cambria" pitchFamily="34" charset="-122"/>
                <a:cs typeface="Cambria" pitchFamily="34" charset="-120"/>
              </a:rPr>
              <a:t>Automated</a:t>
            </a:r>
            <a:endParaRPr lang="en-US" sz="1300" dirty="0"/>
          </a:p>
        </p:txBody>
      </p:sp>
      <p:sp>
        <p:nvSpPr>
          <p:cNvPr id="42" name="Text 40"/>
          <p:cNvSpPr txBox="1"/>
          <p:nvPr/>
        </p:nvSpPr>
        <p:spPr>
          <a:xfrm>
            <a:off x="8211312" y="3401568"/>
            <a:ext cx="3282696" cy="365760"/>
          </a:xfrm>
          <a:prstGeom prst="rect">
            <a:avLst/>
          </a:prstGeom>
          <a:noFill/>
          <a:ln/>
        </p:spPr>
        <p:txBody>
          <a:bodyPr wrap="square" lIns="0" tIns="0" rIns="0" bIns="0" rtlCol="0" anchor="ctr"/>
          <a:lstStyle/>
          <a:p>
            <a:pPr marL="0" indent="0">
              <a:buNone/>
            </a:pPr>
            <a:r>
              <a:rPr lang="en-US" sz="1000" dirty="0">
                <a:solidFill>
                  <a:srgbClr val="E7E6E1"/>
                </a:solidFill>
                <a:latin typeface="Calibri" pitchFamily="34" charset="0"/>
                <a:ea typeface="Calibri" pitchFamily="34" charset="-122"/>
                <a:cs typeface="Calibri" pitchFamily="34" charset="-120"/>
              </a:rPr>
              <a:t>Reduces manual measurement effort</a:t>
            </a:r>
            <a:endParaRPr lang="en-US" sz="1000" dirty="0"/>
          </a:p>
        </p:txBody>
      </p:sp>
      <p:sp>
        <p:nvSpPr>
          <p:cNvPr id="43" name="Shape 41"/>
          <p:cNvSpPr/>
          <p:nvPr/>
        </p:nvSpPr>
        <p:spPr>
          <a:xfrm>
            <a:off x="548640" y="3931920"/>
            <a:ext cx="3611880" cy="777240"/>
          </a:xfrm>
          <a:prstGeom prst="roundRect">
            <a:avLst>
              <a:gd name="adj" fmla="val 7059"/>
            </a:avLst>
          </a:prstGeom>
          <a:solidFill>
            <a:srgbClr val="2E3336"/>
          </a:solidFill>
          <a:ln/>
        </p:spPr>
      </p:sp>
      <p:sp>
        <p:nvSpPr>
          <p:cNvPr id="44" name="Text 42"/>
          <p:cNvSpPr txBox="1"/>
          <p:nvPr/>
        </p:nvSpPr>
        <p:spPr>
          <a:xfrm>
            <a:off x="713232" y="4023360"/>
            <a:ext cx="3282696" cy="274320"/>
          </a:xfrm>
          <a:prstGeom prst="rect">
            <a:avLst/>
          </a:prstGeom>
          <a:noFill/>
          <a:ln/>
        </p:spPr>
        <p:txBody>
          <a:bodyPr wrap="square" lIns="0" tIns="0" rIns="0" bIns="0" rtlCol="0" anchor="ctr"/>
          <a:lstStyle/>
          <a:p>
            <a:pPr marL="0" indent="0">
              <a:buNone/>
            </a:pPr>
            <a:r>
              <a:rPr lang="en-US" sz="1300" b="1" dirty="0">
                <a:solidFill>
                  <a:srgbClr val="F2661F"/>
                </a:solidFill>
                <a:latin typeface="Cambria" pitchFamily="34" charset="0"/>
                <a:ea typeface="Cambria" pitchFamily="34" charset="-122"/>
                <a:cs typeface="Cambria" pitchFamily="34" charset="-120"/>
              </a:rPr>
              <a:t>Calibrated</a:t>
            </a:r>
            <a:endParaRPr lang="en-US" sz="1300" dirty="0"/>
          </a:p>
        </p:txBody>
      </p:sp>
      <p:sp>
        <p:nvSpPr>
          <p:cNvPr id="45" name="Text 43"/>
          <p:cNvSpPr txBox="1"/>
          <p:nvPr/>
        </p:nvSpPr>
        <p:spPr>
          <a:xfrm>
            <a:off x="713232" y="4315968"/>
            <a:ext cx="3282696" cy="365760"/>
          </a:xfrm>
          <a:prstGeom prst="rect">
            <a:avLst/>
          </a:prstGeom>
          <a:noFill/>
          <a:ln/>
        </p:spPr>
        <p:txBody>
          <a:bodyPr wrap="square" lIns="0" tIns="0" rIns="0" bIns="0" rtlCol="0" anchor="ctr"/>
          <a:lstStyle/>
          <a:p>
            <a:pPr marL="0" indent="0">
              <a:buNone/>
            </a:pPr>
            <a:r>
              <a:rPr lang="en-US" sz="1000" dirty="0">
                <a:solidFill>
                  <a:srgbClr val="E7E6E1"/>
                </a:solidFill>
                <a:latin typeface="Calibri" pitchFamily="34" charset="0"/>
                <a:ea typeface="Calibri" pitchFamily="34" charset="-122"/>
                <a:cs typeface="Calibri" pitchFamily="34" charset="-120"/>
              </a:rPr>
              <a:t>Converts image measurements to physical units</a:t>
            </a:r>
            <a:endParaRPr lang="en-US" sz="1000" dirty="0"/>
          </a:p>
        </p:txBody>
      </p:sp>
      <p:sp>
        <p:nvSpPr>
          <p:cNvPr id="46" name="Shape 44"/>
          <p:cNvSpPr/>
          <p:nvPr/>
        </p:nvSpPr>
        <p:spPr>
          <a:xfrm>
            <a:off x="4297680" y="3931920"/>
            <a:ext cx="3611880" cy="777240"/>
          </a:xfrm>
          <a:prstGeom prst="roundRect">
            <a:avLst>
              <a:gd name="adj" fmla="val 7059"/>
            </a:avLst>
          </a:prstGeom>
          <a:solidFill>
            <a:srgbClr val="2E3336"/>
          </a:solidFill>
          <a:ln/>
        </p:spPr>
      </p:sp>
      <p:sp>
        <p:nvSpPr>
          <p:cNvPr id="47" name="Text 45"/>
          <p:cNvSpPr txBox="1"/>
          <p:nvPr/>
        </p:nvSpPr>
        <p:spPr>
          <a:xfrm>
            <a:off x="4462272" y="4023360"/>
            <a:ext cx="3282696" cy="274320"/>
          </a:xfrm>
          <a:prstGeom prst="rect">
            <a:avLst/>
          </a:prstGeom>
          <a:noFill/>
          <a:ln/>
        </p:spPr>
        <p:txBody>
          <a:bodyPr wrap="square" lIns="0" tIns="0" rIns="0" bIns="0" rtlCol="0" anchor="ctr"/>
          <a:lstStyle/>
          <a:p>
            <a:pPr marL="0" indent="0">
              <a:buNone/>
            </a:pPr>
            <a:r>
              <a:rPr lang="en-US" sz="1300" b="1" dirty="0">
                <a:solidFill>
                  <a:srgbClr val="F2661F"/>
                </a:solidFill>
                <a:latin typeface="Cambria" pitchFamily="34" charset="0"/>
                <a:ea typeface="Cambria" pitchFamily="34" charset="-122"/>
                <a:cs typeface="Cambria" pitchFamily="34" charset="-120"/>
              </a:rPr>
              <a:t>Digital</a:t>
            </a:r>
            <a:endParaRPr lang="en-US" sz="1300" dirty="0"/>
          </a:p>
        </p:txBody>
      </p:sp>
      <p:sp>
        <p:nvSpPr>
          <p:cNvPr id="48" name="Text 46"/>
          <p:cNvSpPr txBox="1"/>
          <p:nvPr/>
        </p:nvSpPr>
        <p:spPr>
          <a:xfrm>
            <a:off x="4462272" y="4315968"/>
            <a:ext cx="3282696" cy="365760"/>
          </a:xfrm>
          <a:prstGeom prst="rect">
            <a:avLst/>
          </a:prstGeom>
          <a:noFill/>
          <a:ln/>
        </p:spPr>
        <p:txBody>
          <a:bodyPr wrap="square" lIns="0" tIns="0" rIns="0" bIns="0" rtlCol="0" anchor="ctr"/>
          <a:lstStyle/>
          <a:p>
            <a:pPr marL="0" indent="0">
              <a:buNone/>
            </a:pPr>
            <a:r>
              <a:rPr lang="en-US" sz="1000" dirty="0">
                <a:solidFill>
                  <a:srgbClr val="E7E6E1"/>
                </a:solidFill>
                <a:latin typeface="Calibri" pitchFamily="34" charset="0"/>
                <a:ea typeface="Calibri" pitchFamily="34" charset="-122"/>
                <a:cs typeface="Calibri" pitchFamily="34" charset="-120"/>
              </a:rPr>
              <a:t>Images + measurements + timestamps</a:t>
            </a:r>
            <a:endParaRPr lang="en-US" sz="1000" dirty="0"/>
          </a:p>
        </p:txBody>
      </p:sp>
      <p:sp>
        <p:nvSpPr>
          <p:cNvPr id="49" name="Shape 47"/>
          <p:cNvSpPr/>
          <p:nvPr/>
        </p:nvSpPr>
        <p:spPr>
          <a:xfrm>
            <a:off x="8046720" y="3931920"/>
            <a:ext cx="3611880" cy="777240"/>
          </a:xfrm>
          <a:prstGeom prst="roundRect">
            <a:avLst>
              <a:gd name="adj" fmla="val 7059"/>
            </a:avLst>
          </a:prstGeom>
          <a:solidFill>
            <a:srgbClr val="2E3336"/>
          </a:solidFill>
          <a:ln/>
        </p:spPr>
      </p:sp>
      <p:sp>
        <p:nvSpPr>
          <p:cNvPr id="50" name="Text 48"/>
          <p:cNvSpPr txBox="1"/>
          <p:nvPr/>
        </p:nvSpPr>
        <p:spPr>
          <a:xfrm>
            <a:off x="8211312" y="4023360"/>
            <a:ext cx="3282696" cy="274320"/>
          </a:xfrm>
          <a:prstGeom prst="rect">
            <a:avLst/>
          </a:prstGeom>
          <a:noFill/>
          <a:ln/>
        </p:spPr>
        <p:txBody>
          <a:bodyPr wrap="square" lIns="0" tIns="0" rIns="0" bIns="0" rtlCol="0" anchor="ctr"/>
          <a:lstStyle/>
          <a:p>
            <a:pPr marL="0" indent="0">
              <a:buNone/>
            </a:pPr>
            <a:r>
              <a:rPr lang="en-US" sz="1300" b="1" dirty="0">
                <a:solidFill>
                  <a:srgbClr val="F2661F"/>
                </a:solidFill>
                <a:latin typeface="Cambria" pitchFamily="34" charset="0"/>
                <a:ea typeface="Cambria" pitchFamily="34" charset="-122"/>
                <a:cs typeface="Cambria" pitchFamily="34" charset="-120"/>
              </a:rPr>
              <a:t>Trackable</a:t>
            </a:r>
            <a:endParaRPr lang="en-US" sz="1300" dirty="0"/>
          </a:p>
        </p:txBody>
      </p:sp>
      <p:sp>
        <p:nvSpPr>
          <p:cNvPr id="51" name="Text 49"/>
          <p:cNvSpPr txBox="1"/>
          <p:nvPr/>
        </p:nvSpPr>
        <p:spPr>
          <a:xfrm>
            <a:off x="8211312" y="4315968"/>
            <a:ext cx="3282696" cy="365760"/>
          </a:xfrm>
          <a:prstGeom prst="rect">
            <a:avLst/>
          </a:prstGeom>
          <a:noFill/>
          <a:ln/>
        </p:spPr>
        <p:txBody>
          <a:bodyPr wrap="square" lIns="0" tIns="0" rIns="0" bIns="0" rtlCol="0" anchor="ctr"/>
          <a:lstStyle/>
          <a:p>
            <a:pPr marL="0" indent="0">
              <a:buNone/>
            </a:pPr>
            <a:r>
              <a:rPr lang="en-US" sz="1000" dirty="0">
                <a:solidFill>
                  <a:srgbClr val="E7E6E1"/>
                </a:solidFill>
                <a:latin typeface="Calibri" pitchFamily="34" charset="0"/>
                <a:ea typeface="Calibri" pitchFamily="34" charset="-122"/>
                <a:cs typeface="Calibri" pitchFamily="34" charset="-120"/>
              </a:rPr>
              <a:t>Future inspections can be compared</a:t>
            </a:r>
            <a:endParaRPr lang="en-US" sz="1000" dirty="0"/>
          </a:p>
        </p:txBody>
      </p:sp>
      <p:sp>
        <p:nvSpPr>
          <p:cNvPr id="52" name="Text 50"/>
          <p:cNvSpPr txBox="1"/>
          <p:nvPr/>
        </p:nvSpPr>
        <p:spPr>
          <a:xfrm>
            <a:off x="548640" y="5029200"/>
            <a:ext cx="548640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Future: Crack Growth Analysis</a:t>
            </a:r>
            <a:endParaRPr lang="en-US" sz="1200" dirty="0"/>
          </a:p>
        </p:txBody>
      </p:sp>
      <p:sp>
        <p:nvSpPr>
          <p:cNvPr id="53" name="Shape 51"/>
          <p:cNvSpPr/>
          <p:nvPr/>
        </p:nvSpPr>
        <p:spPr>
          <a:xfrm>
            <a:off x="548640" y="5394960"/>
            <a:ext cx="1828800" cy="365760"/>
          </a:xfrm>
          <a:prstGeom prst="roundRect">
            <a:avLst>
              <a:gd name="adj" fmla="val 20000"/>
            </a:avLst>
          </a:prstGeom>
          <a:solidFill>
            <a:srgbClr val="2E3336"/>
          </a:solidFill>
          <a:ln/>
        </p:spPr>
      </p:sp>
      <p:sp>
        <p:nvSpPr>
          <p:cNvPr id="54" name="Text 52"/>
          <p:cNvSpPr txBox="1"/>
          <p:nvPr/>
        </p:nvSpPr>
        <p:spPr>
          <a:xfrm>
            <a:off x="548640" y="5394960"/>
            <a:ext cx="182880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Insp. 1 – 0.40mm</a:t>
            </a:r>
            <a:endParaRPr lang="en-US" sz="1100" dirty="0"/>
          </a:p>
        </p:txBody>
      </p:sp>
      <p:sp>
        <p:nvSpPr>
          <p:cNvPr id="55" name="Shape 53"/>
          <p:cNvSpPr/>
          <p:nvPr/>
        </p:nvSpPr>
        <p:spPr>
          <a:xfrm>
            <a:off x="2404872" y="5577840"/>
            <a:ext cx="164592" cy="0"/>
          </a:xfrm>
          <a:prstGeom prst="line">
            <a:avLst/>
          </a:prstGeom>
          <a:noFill/>
          <a:ln w="25400">
            <a:solidFill>
              <a:srgbClr val="8C8C86"/>
            </a:solidFill>
            <a:prstDash val="solid"/>
            <a:tailEnd type="triangle"/>
          </a:ln>
        </p:spPr>
      </p:sp>
      <p:sp>
        <p:nvSpPr>
          <p:cNvPr id="56" name="Shape 54"/>
          <p:cNvSpPr/>
          <p:nvPr/>
        </p:nvSpPr>
        <p:spPr>
          <a:xfrm>
            <a:off x="2560320" y="5394960"/>
            <a:ext cx="1828800" cy="365760"/>
          </a:xfrm>
          <a:prstGeom prst="roundRect">
            <a:avLst>
              <a:gd name="adj" fmla="val 20000"/>
            </a:avLst>
          </a:prstGeom>
          <a:solidFill>
            <a:srgbClr val="2E3336"/>
          </a:solidFill>
          <a:ln/>
        </p:spPr>
      </p:sp>
      <p:sp>
        <p:nvSpPr>
          <p:cNvPr id="57" name="Text 55"/>
          <p:cNvSpPr txBox="1"/>
          <p:nvPr/>
        </p:nvSpPr>
        <p:spPr>
          <a:xfrm>
            <a:off x="2560320" y="5394960"/>
            <a:ext cx="182880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Insp. 2 – 0.52mm</a:t>
            </a:r>
            <a:endParaRPr lang="en-US" sz="1100" dirty="0"/>
          </a:p>
        </p:txBody>
      </p:sp>
      <p:sp>
        <p:nvSpPr>
          <p:cNvPr id="58" name="Shape 56"/>
          <p:cNvSpPr/>
          <p:nvPr/>
        </p:nvSpPr>
        <p:spPr>
          <a:xfrm>
            <a:off x="4416552" y="5577840"/>
            <a:ext cx="164592" cy="0"/>
          </a:xfrm>
          <a:prstGeom prst="line">
            <a:avLst/>
          </a:prstGeom>
          <a:noFill/>
          <a:ln w="25400">
            <a:solidFill>
              <a:srgbClr val="8C8C86"/>
            </a:solidFill>
            <a:prstDash val="solid"/>
            <a:tailEnd type="triangle"/>
          </a:ln>
        </p:spPr>
      </p:sp>
      <p:sp>
        <p:nvSpPr>
          <p:cNvPr id="59" name="Shape 57"/>
          <p:cNvSpPr/>
          <p:nvPr/>
        </p:nvSpPr>
        <p:spPr>
          <a:xfrm>
            <a:off x="4572000" y="5394960"/>
            <a:ext cx="1828800" cy="365760"/>
          </a:xfrm>
          <a:prstGeom prst="roundRect">
            <a:avLst>
              <a:gd name="adj" fmla="val 20000"/>
            </a:avLst>
          </a:prstGeom>
          <a:solidFill>
            <a:srgbClr val="F2661F"/>
          </a:solidFill>
          <a:ln/>
        </p:spPr>
      </p:sp>
      <p:sp>
        <p:nvSpPr>
          <p:cNvPr id="60" name="Text 58"/>
          <p:cNvSpPr txBox="1"/>
          <p:nvPr/>
        </p:nvSpPr>
        <p:spPr>
          <a:xfrm>
            <a:off x="4572000" y="5394960"/>
            <a:ext cx="182880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Insp. 3 – 0.71mm</a:t>
            </a:r>
            <a:endParaRPr lang="en-US" sz="1100" dirty="0"/>
          </a:p>
        </p:txBody>
      </p:sp>
      <p:sp>
        <p:nvSpPr>
          <p:cNvPr id="61" name="Text 59"/>
          <p:cNvSpPr txBox="1"/>
          <p:nvPr/>
        </p:nvSpPr>
        <p:spPr>
          <a:xfrm>
            <a:off x="6720840" y="5166360"/>
            <a:ext cx="4937760" cy="777240"/>
          </a:xfrm>
          <a:prstGeom prst="rect">
            <a:avLst/>
          </a:prstGeom>
          <a:noFill/>
          <a:ln/>
        </p:spPr>
        <p:txBody>
          <a:bodyPr wrap="square" lIns="0" tIns="0" rIns="0" bIns="0" rtlCol="0" anchor="ctr"/>
          <a:lstStyle/>
          <a:p>
            <a:pPr marL="0" indent="0" algn="ctr">
              <a:buNone/>
            </a:pPr>
            <a:r>
              <a:rPr lang="en-US" sz="1200" i="1" dirty="0">
                <a:solidFill>
                  <a:srgbClr val="F2661F"/>
                </a:solidFill>
                <a:latin typeface="Calibri" pitchFamily="34" charset="0"/>
                <a:ea typeface="Calibri" pitchFamily="34" charset="-122"/>
                <a:cs typeface="Calibri" pitchFamily="34" charset="-120"/>
              </a:rPr>
              <a:t>Our goal is to move concrete crack inspection from manual observation to measurable, repeatable and digitally traceable inspection.</a:t>
            </a:r>
            <a:endParaRPr lang="en-US" sz="1200" dirty="0"/>
          </a:p>
        </p:txBody>
      </p:sp>
      <p:sp>
        <p:nvSpPr>
          <p:cNvPr id="62" name="Text 60"/>
          <p:cNvSpPr txBox="1"/>
          <p:nvPr/>
        </p:nvSpPr>
        <p:spPr>
          <a:xfrm>
            <a:off x="548640" y="5989320"/>
            <a:ext cx="11329934" cy="54864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Thank You</a:t>
            </a:r>
            <a:endParaRPr lang="en-US" sz="2600" dirty="0"/>
          </a:p>
        </p:txBody>
      </p:sp>
      <p:sp>
        <p:nvSpPr>
          <p:cNvPr id="63" name="Text 61"/>
          <p:cNvSpPr txBox="1"/>
          <p:nvPr/>
        </p:nvSpPr>
        <p:spPr>
          <a:xfrm>
            <a:off x="11292840" y="6510528"/>
            <a:ext cx="731520" cy="274320"/>
          </a:xfrm>
          <a:prstGeom prst="rect">
            <a:avLst/>
          </a:prstGeom>
          <a:noFill/>
          <a:ln/>
        </p:spPr>
        <p:txBody>
          <a:bodyPr wrap="square" rtlCol="0" anchor="ctr"/>
          <a:lstStyle/>
          <a:p>
            <a:pPr marL="0" indent="0" algn="r">
              <a:buNone/>
            </a:pPr>
            <a:r>
              <a:rPr lang="en-US" sz="900" dirty="0">
                <a:solidFill>
                  <a:srgbClr val="8C8C86"/>
                </a:solidFill>
                <a:latin typeface="Calibri" pitchFamily="34" charset="0"/>
                <a:ea typeface="Calibri" pitchFamily="34" charset="-122"/>
                <a:cs typeface="Calibri" pitchFamily="34" charset="-120"/>
              </a:rPr>
              <a:t>12 / 12</a:t>
            </a:r>
            <a:endParaRPr lang="en-US" sz="900" dirty="0"/>
          </a:p>
        </p:txBody>
      </p:sp>
      <p:sp>
        <p:nvSpPr>
          <p:cNvPr id="65" name="Shape 21">
            <a:extLst>
              <a:ext uri="{FF2B5EF4-FFF2-40B4-BE49-F238E27FC236}">
                <a16:creationId xmlns:a16="http://schemas.microsoft.com/office/drawing/2014/main" id="{66C9C1B1-0506-F862-F031-006186D8F72A}"/>
              </a:ext>
            </a:extLst>
          </p:cNvPr>
          <p:cNvSpPr/>
          <p:nvPr/>
        </p:nvSpPr>
        <p:spPr>
          <a:xfrm>
            <a:off x="9677688" y="1623031"/>
            <a:ext cx="137160" cy="0"/>
          </a:xfrm>
          <a:prstGeom prst="line">
            <a:avLst/>
          </a:prstGeom>
          <a:noFill/>
          <a:ln w="25400">
            <a:solidFill>
              <a:srgbClr val="8C8C86"/>
            </a:solidFill>
            <a:prstDash val="solid"/>
            <a:tailEnd type="triangle"/>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3272A"/>
        </a:solidFill>
        <a:effectLst/>
      </p:bgPr>
    </p:bg>
    <p:spTree>
      <p:nvGrpSpPr>
        <p:cNvPr id="1" name="">
          <a:extLst>
            <a:ext uri="{FF2B5EF4-FFF2-40B4-BE49-F238E27FC236}">
              <a16:creationId xmlns:a16="http://schemas.microsoft.com/office/drawing/2014/main" id="{C2449C07-5082-6D4F-CC62-6A7A1697872B}"/>
            </a:ext>
          </a:extLst>
        </p:cNvPr>
        <p:cNvGrpSpPr/>
        <p:nvPr/>
      </p:nvGrpSpPr>
      <p:grpSpPr>
        <a:xfrm>
          <a:off x="0" y="0"/>
          <a:ext cx="0" cy="0"/>
          <a:chOff x="0" y="0"/>
          <a:chExt cx="0" cy="0"/>
        </a:xfrm>
      </p:grpSpPr>
      <p:pic>
        <p:nvPicPr>
          <p:cNvPr id="66" name="Picture 65">
            <a:extLst>
              <a:ext uri="{FF2B5EF4-FFF2-40B4-BE49-F238E27FC236}">
                <a16:creationId xmlns:a16="http://schemas.microsoft.com/office/drawing/2014/main" id="{6632507F-8705-81D0-4EC1-335E7AC164FD}"/>
              </a:ext>
            </a:extLst>
          </p:cNvPr>
          <p:cNvPicPr>
            <a:picLocks noChangeAspect="1"/>
          </p:cNvPicPr>
          <p:nvPr/>
        </p:nvPicPr>
        <p:blipFill>
          <a:blip r:embed="rId3"/>
          <a:stretch>
            <a:fillRect/>
          </a:stretch>
        </p:blipFill>
        <p:spPr>
          <a:xfrm rot="5400000">
            <a:off x="3009262" y="1328131"/>
            <a:ext cx="6022255" cy="4073362"/>
          </a:xfrm>
          <a:prstGeom prst="rect">
            <a:avLst/>
          </a:prstGeom>
        </p:spPr>
      </p:pic>
    </p:spTree>
    <p:extLst>
      <p:ext uri="{BB962C8B-B14F-4D97-AF65-F5344CB8AC3E}">
        <p14:creationId xmlns:p14="http://schemas.microsoft.com/office/powerpoint/2010/main" val="16370659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1988</Words>
  <Application>Microsoft Office PowerPoint</Application>
  <PresentationFormat>Widescreen</PresentationFormat>
  <Paragraphs>389</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AYUSH GIGRAS</cp:lastModifiedBy>
  <cp:revision>8</cp:revision>
  <dcterms:created xsi:type="dcterms:W3CDTF">2026-09-04T11:48:21Z</dcterms:created>
  <dcterms:modified xsi:type="dcterms:W3CDTF">2026-09-05T09:51:40Z</dcterms:modified>
</cp:coreProperties>
</file>